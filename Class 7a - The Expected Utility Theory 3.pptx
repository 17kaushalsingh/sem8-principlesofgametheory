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7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8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51.xml" ContentType="application/vnd.openxmlformats-officedocument.drawingml.chart+xml"/>
  <Override PartName="/ppt/charts/chart50.xml" ContentType="application/vnd.openxmlformats-officedocument.drawingml.chart+xml"/>
  <Override PartName="/ppt/charts/colors30.xml" ContentType="application/vnd.ms-office.chartcolorstyle+xml"/>
  <Override PartName="/ppt/charts/style30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9"/>
  </p:notesMasterIdLst>
  <p:sldIdLst>
    <p:sldId id="502" r:id="rId3"/>
    <p:sldId id="348" r:id="rId4"/>
    <p:sldId id="367" r:id="rId5"/>
    <p:sldId id="354" r:id="rId6"/>
    <p:sldId id="355" r:id="rId7"/>
    <p:sldId id="372" r:id="rId8"/>
    <p:sldId id="373" r:id="rId9"/>
    <p:sldId id="358" r:id="rId10"/>
    <p:sldId id="359" r:id="rId11"/>
    <p:sldId id="374" r:id="rId12"/>
    <p:sldId id="510" r:id="rId13"/>
    <p:sldId id="376" r:id="rId14"/>
    <p:sldId id="503" r:id="rId15"/>
    <p:sldId id="370" r:id="rId16"/>
    <p:sldId id="504" r:id="rId17"/>
    <p:sldId id="353" r:id="rId18"/>
    <p:sldId id="505" r:id="rId19"/>
    <p:sldId id="506" r:id="rId20"/>
    <p:sldId id="507" r:id="rId21"/>
    <p:sldId id="508" r:id="rId22"/>
    <p:sldId id="377" r:id="rId23"/>
    <p:sldId id="378" r:id="rId24"/>
    <p:sldId id="379" r:id="rId25"/>
    <p:sldId id="509" r:id="rId26"/>
    <p:sldId id="361" r:id="rId27"/>
    <p:sldId id="36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22C8E2-6942-4695-B86B-851B291CF80A}" v="738" dt="2026-02-06T08:41:06.1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92" autoAdjust="0"/>
    <p:restoredTop sz="93325" autoAdjust="0"/>
  </p:normalViewPr>
  <p:slideViewPr>
    <p:cSldViewPr snapToGrid="0">
      <p:cViewPr varScale="1">
        <p:scale>
          <a:sx n="85" d="100"/>
          <a:sy n="85" d="100"/>
        </p:scale>
        <p:origin x="67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 Parag D. Pawar" userId="S::parag@che.iith.ac.in::45f730c0-1703-4ce0-909b-efb17736071d" providerId="AD" clId="Web-{5E3CF18E-00FA-1947-7945-B1C2F252F085}"/>
    <pc:docChg chg="modSld">
      <pc:chgData name="Dr Parag D. Pawar" userId="S::parag@che.iith.ac.in::45f730c0-1703-4ce0-909b-efb17736071d" providerId="AD" clId="Web-{5E3CF18E-00FA-1947-7945-B1C2F252F085}" dt="2026-01-10T21:26:25.851" v="6"/>
      <pc:docMkLst>
        <pc:docMk/>
      </pc:docMkLst>
    </pc:docChg>
  </pc:docChgLst>
  <pc:docChgLst>
    <pc:chgData name="Dr Parag D. Pawar" userId="45f730c0-1703-4ce0-909b-efb17736071d" providerId="ADAL" clId="{629D698C-9F10-422F-9730-D8DB01D503EC}"/>
    <pc:docChg chg="undo custSel addSld delSld modSld sldOrd delMainMaster">
      <pc:chgData name="Dr Parag D. Pawar" userId="45f730c0-1703-4ce0-909b-efb17736071d" providerId="ADAL" clId="{629D698C-9F10-422F-9730-D8DB01D503EC}" dt="2026-02-06T08:41:06.143" v="7000" actId="20577"/>
      <pc:docMkLst>
        <pc:docMk/>
      </pc:docMkLst>
      <pc:sldChg chg="addSp modSp add mod modAnim">
        <pc:chgData name="Dr Parag D. Pawar" userId="45f730c0-1703-4ce0-909b-efb17736071d" providerId="ADAL" clId="{629D698C-9F10-422F-9730-D8DB01D503EC}" dt="2026-01-26T21:01:26.307" v="4896" actId="255"/>
        <pc:sldMkLst>
          <pc:docMk/>
          <pc:sldMk cId="805496168" sldId="348"/>
        </pc:sldMkLst>
        <pc:spChg chg="mod">
          <ac:chgData name="Dr Parag D. Pawar" userId="45f730c0-1703-4ce0-909b-efb17736071d" providerId="ADAL" clId="{629D698C-9F10-422F-9730-D8DB01D503EC}" dt="2026-01-26T20:47:47.293" v="4835" actId="207"/>
          <ac:spMkLst>
            <pc:docMk/>
            <pc:sldMk cId="805496168" sldId="348"/>
            <ac:spMk id="2" creationId="{2C33274D-0953-25EB-9977-C9059E38A4D0}"/>
          </ac:spMkLst>
        </pc:spChg>
        <pc:spChg chg="add mod">
          <ac:chgData name="Dr Parag D. Pawar" userId="45f730c0-1703-4ce0-909b-efb17736071d" providerId="ADAL" clId="{629D698C-9F10-422F-9730-D8DB01D503EC}" dt="2026-01-26T20:59:18.617" v="4887" actId="1076"/>
          <ac:spMkLst>
            <pc:docMk/>
            <pc:sldMk cId="805496168" sldId="348"/>
            <ac:spMk id="5" creationId="{D4AF6B99-6AEF-8127-9A03-977898C65315}"/>
          </ac:spMkLst>
        </pc:spChg>
        <pc:spChg chg="add mod">
          <ac:chgData name="Dr Parag D. Pawar" userId="45f730c0-1703-4ce0-909b-efb17736071d" providerId="ADAL" clId="{629D698C-9F10-422F-9730-D8DB01D503EC}" dt="2026-01-26T21:01:26.307" v="4896" actId="255"/>
          <ac:spMkLst>
            <pc:docMk/>
            <pc:sldMk cId="805496168" sldId="348"/>
            <ac:spMk id="6" creationId="{764CD824-7FCE-0204-F7FF-E392C48D0BA3}"/>
          </ac:spMkLst>
        </pc:spChg>
      </pc:sldChg>
      <pc:sldChg chg="modSp add mod">
        <pc:chgData name="Dr Parag D. Pawar" userId="45f730c0-1703-4ce0-909b-efb17736071d" providerId="ADAL" clId="{629D698C-9F10-422F-9730-D8DB01D503EC}" dt="2026-01-27T10:05:54.316" v="5584" actId="207"/>
        <pc:sldMkLst>
          <pc:docMk/>
          <pc:sldMk cId="1450895457" sldId="353"/>
        </pc:sldMkLst>
        <pc:spChg chg="mod">
          <ac:chgData name="Dr Parag D. Pawar" userId="45f730c0-1703-4ce0-909b-efb17736071d" providerId="ADAL" clId="{629D698C-9F10-422F-9730-D8DB01D503EC}" dt="2026-01-27T10:05:54.316" v="5584" actId="207"/>
          <ac:spMkLst>
            <pc:docMk/>
            <pc:sldMk cId="1450895457" sldId="353"/>
            <ac:spMk id="2" creationId="{38F9997F-6AA3-8190-184B-52F07B6502BC}"/>
          </ac:spMkLst>
        </pc:spChg>
      </pc:sldChg>
      <pc:sldChg chg="addSp modSp add mod addAnim delAnim modAnim">
        <pc:chgData name="Dr Parag D. Pawar" userId="45f730c0-1703-4ce0-909b-efb17736071d" providerId="ADAL" clId="{629D698C-9F10-422F-9730-D8DB01D503EC}" dt="2026-02-05T11:39:06.909" v="5877"/>
        <pc:sldMkLst>
          <pc:docMk/>
          <pc:sldMk cId="1341103859" sldId="354"/>
        </pc:sldMkLst>
        <pc:spChg chg="add mod">
          <ac:chgData name="Dr Parag D. Pawar" userId="45f730c0-1703-4ce0-909b-efb17736071d" providerId="ADAL" clId="{629D698C-9F10-422F-9730-D8DB01D503EC}" dt="2026-01-27T09:26:08.312" v="5504" actId="692"/>
          <ac:spMkLst>
            <pc:docMk/>
            <pc:sldMk cId="1341103859" sldId="354"/>
            <ac:spMk id="3" creationId="{46EB94E4-3C1D-0E19-564D-F922883D21A1}"/>
          </ac:spMkLst>
        </pc:spChg>
        <pc:spChg chg="mod">
          <ac:chgData name="Dr Parag D. Pawar" userId="45f730c0-1703-4ce0-909b-efb17736071d" providerId="ADAL" clId="{629D698C-9F10-422F-9730-D8DB01D503EC}" dt="2026-02-05T10:55:08.321" v="5591" actId="207"/>
          <ac:spMkLst>
            <pc:docMk/>
            <pc:sldMk cId="1341103859" sldId="354"/>
            <ac:spMk id="6" creationId="{191865A1-320E-871E-396E-D35D59F58DAC}"/>
          </ac:spMkLst>
        </pc:spChg>
        <pc:spChg chg="mod">
          <ac:chgData name="Dr Parag D. Pawar" userId="45f730c0-1703-4ce0-909b-efb17736071d" providerId="ADAL" clId="{629D698C-9F10-422F-9730-D8DB01D503EC}" dt="2026-02-05T10:55:02.674" v="5590" actId="207"/>
          <ac:spMkLst>
            <pc:docMk/>
            <pc:sldMk cId="1341103859" sldId="354"/>
            <ac:spMk id="7" creationId="{37C27148-8D36-6EDC-2D1D-6EEB2634A884}"/>
          </ac:spMkLst>
        </pc:spChg>
        <pc:spChg chg="mod">
          <ac:chgData name="Dr Parag D. Pawar" userId="45f730c0-1703-4ce0-909b-efb17736071d" providerId="ADAL" clId="{629D698C-9F10-422F-9730-D8DB01D503EC}" dt="2026-01-27T09:50:02.652" v="5567" actId="207"/>
          <ac:spMkLst>
            <pc:docMk/>
            <pc:sldMk cId="1341103859" sldId="354"/>
            <ac:spMk id="9" creationId="{1552CDFC-03C8-B5F3-801B-F22B0218EEDE}"/>
          </ac:spMkLst>
        </pc:spChg>
        <pc:spChg chg="mod">
          <ac:chgData name="Dr Parag D. Pawar" userId="45f730c0-1703-4ce0-909b-efb17736071d" providerId="ADAL" clId="{629D698C-9F10-422F-9730-D8DB01D503EC}" dt="2026-02-05T10:55:13.553" v="5592" actId="207"/>
          <ac:spMkLst>
            <pc:docMk/>
            <pc:sldMk cId="1341103859" sldId="354"/>
            <ac:spMk id="50" creationId="{DF904752-B9BF-8E62-54EB-FD20E47C2B7D}"/>
          </ac:spMkLst>
        </pc:spChg>
        <pc:spChg chg="mod">
          <ac:chgData name="Dr Parag D. Pawar" userId="45f730c0-1703-4ce0-909b-efb17736071d" providerId="ADAL" clId="{629D698C-9F10-422F-9730-D8DB01D503EC}" dt="2026-02-05T10:55:15.375" v="5593" actId="207"/>
          <ac:spMkLst>
            <pc:docMk/>
            <pc:sldMk cId="1341103859" sldId="354"/>
            <ac:spMk id="51" creationId="{4036E95C-6D1A-9BDB-4CA0-E22E4055D813}"/>
          </ac:spMkLst>
        </pc:spChg>
        <pc:picChg chg="add mod">
          <ac:chgData name="Dr Parag D. Pawar" userId="45f730c0-1703-4ce0-909b-efb17736071d" providerId="ADAL" clId="{629D698C-9F10-422F-9730-D8DB01D503EC}" dt="2026-02-05T11:38:59.151" v="5875" actId="1076"/>
          <ac:picMkLst>
            <pc:docMk/>
            <pc:sldMk cId="1341103859" sldId="354"/>
            <ac:picMk id="5" creationId="{8A60F1F7-162F-82CB-EFB6-6B464BE4C28C}"/>
          </ac:picMkLst>
        </pc:picChg>
      </pc:sldChg>
      <pc:sldChg chg="addSp delSp modSp add mod addAnim delAnim modAnim">
        <pc:chgData name="Dr Parag D. Pawar" userId="45f730c0-1703-4ce0-909b-efb17736071d" providerId="ADAL" clId="{629D698C-9F10-422F-9730-D8DB01D503EC}" dt="2026-02-06T08:21:36.632" v="6981" actId="207"/>
        <pc:sldMkLst>
          <pc:docMk/>
          <pc:sldMk cId="3831798435" sldId="355"/>
        </pc:sldMkLst>
        <pc:spChg chg="mod">
          <ac:chgData name="Dr Parag D. Pawar" userId="45f730c0-1703-4ce0-909b-efb17736071d" providerId="ADAL" clId="{629D698C-9F10-422F-9730-D8DB01D503EC}" dt="2026-02-05T11:10:49.460" v="5746" actId="207"/>
          <ac:spMkLst>
            <pc:docMk/>
            <pc:sldMk cId="3831798435" sldId="355"/>
            <ac:spMk id="3" creationId="{FDB422F4-5D46-AA83-3C6D-841CF5943BE3}"/>
          </ac:spMkLst>
        </pc:spChg>
        <pc:spChg chg="mod">
          <ac:chgData name="Dr Parag D. Pawar" userId="45f730c0-1703-4ce0-909b-efb17736071d" providerId="ADAL" clId="{629D698C-9F10-422F-9730-D8DB01D503EC}" dt="2026-02-05T11:10:37.820" v="5741" actId="207"/>
          <ac:spMkLst>
            <pc:docMk/>
            <pc:sldMk cId="3831798435" sldId="355"/>
            <ac:spMk id="4" creationId="{61EE2A2D-24DD-5C23-2387-C880A70D8706}"/>
          </ac:spMkLst>
        </pc:spChg>
        <pc:spChg chg="mod">
          <ac:chgData name="Dr Parag D. Pawar" userId="45f730c0-1703-4ce0-909b-efb17736071d" providerId="ADAL" clId="{629D698C-9F10-422F-9730-D8DB01D503EC}" dt="2026-02-05T10:56:29.670" v="5594" actId="207"/>
          <ac:spMkLst>
            <pc:docMk/>
            <pc:sldMk cId="3831798435" sldId="355"/>
            <ac:spMk id="7" creationId="{E3E4A15D-F885-2A0A-3E15-FB0A63AEE713}"/>
          </ac:spMkLst>
        </pc:spChg>
        <pc:spChg chg="mod">
          <ac:chgData name="Dr Parag D. Pawar" userId="45f730c0-1703-4ce0-909b-efb17736071d" providerId="ADAL" clId="{629D698C-9F10-422F-9730-D8DB01D503EC}" dt="2026-01-27T09:49:54.457" v="5565" actId="207"/>
          <ac:spMkLst>
            <pc:docMk/>
            <pc:sldMk cId="3831798435" sldId="355"/>
            <ac:spMk id="9" creationId="{2450F614-C416-67E7-D78B-51B4C8959876}"/>
          </ac:spMkLst>
        </pc:spChg>
        <pc:spChg chg="mod">
          <ac:chgData name="Dr Parag D. Pawar" userId="45f730c0-1703-4ce0-909b-efb17736071d" providerId="ADAL" clId="{629D698C-9F10-422F-9730-D8DB01D503EC}" dt="2026-02-05T11:10:39.218" v="5742" actId="207"/>
          <ac:spMkLst>
            <pc:docMk/>
            <pc:sldMk cId="3831798435" sldId="355"/>
            <ac:spMk id="11" creationId="{4D38486A-6FE9-6BC2-064A-C27E48CDBED7}"/>
          </ac:spMkLst>
        </pc:spChg>
        <pc:spChg chg="mod">
          <ac:chgData name="Dr Parag D. Pawar" userId="45f730c0-1703-4ce0-909b-efb17736071d" providerId="ADAL" clId="{629D698C-9F10-422F-9730-D8DB01D503EC}" dt="2026-02-05T11:10:42.455" v="5743" actId="207"/>
          <ac:spMkLst>
            <pc:docMk/>
            <pc:sldMk cId="3831798435" sldId="355"/>
            <ac:spMk id="12" creationId="{5D6899A3-77C8-8BBE-177D-5BFF9FF386F3}"/>
          </ac:spMkLst>
        </pc:spChg>
        <pc:spChg chg="mod">
          <ac:chgData name="Dr Parag D. Pawar" userId="45f730c0-1703-4ce0-909b-efb17736071d" providerId="ADAL" clId="{629D698C-9F10-422F-9730-D8DB01D503EC}" dt="2026-02-05T11:10:44.313" v="5744" actId="207"/>
          <ac:spMkLst>
            <pc:docMk/>
            <pc:sldMk cId="3831798435" sldId="355"/>
            <ac:spMk id="13" creationId="{93C87335-896C-F511-A481-DD94791120F4}"/>
          </ac:spMkLst>
        </pc:spChg>
        <pc:spChg chg="mod">
          <ac:chgData name="Dr Parag D. Pawar" userId="45f730c0-1703-4ce0-909b-efb17736071d" providerId="ADAL" clId="{629D698C-9F10-422F-9730-D8DB01D503EC}" dt="2026-02-05T11:10:46.270" v="5745" actId="207"/>
          <ac:spMkLst>
            <pc:docMk/>
            <pc:sldMk cId="3831798435" sldId="355"/>
            <ac:spMk id="14" creationId="{74D6E35D-6DF4-D449-F09D-6DD1A3AE41A5}"/>
          </ac:spMkLst>
        </pc:spChg>
        <pc:spChg chg="add mod">
          <ac:chgData name="Dr Parag D. Pawar" userId="45f730c0-1703-4ce0-909b-efb17736071d" providerId="ADAL" clId="{629D698C-9F10-422F-9730-D8DB01D503EC}" dt="2026-02-05T11:06:14.219" v="5672" actId="1076"/>
          <ac:spMkLst>
            <pc:docMk/>
            <pc:sldMk cId="3831798435" sldId="355"/>
            <ac:spMk id="20" creationId="{595FB12E-FB71-ED00-B64D-8572884EC4F1}"/>
          </ac:spMkLst>
        </pc:spChg>
        <pc:spChg chg="add mod">
          <ac:chgData name="Dr Parag D. Pawar" userId="45f730c0-1703-4ce0-909b-efb17736071d" providerId="ADAL" clId="{629D698C-9F10-422F-9730-D8DB01D503EC}" dt="2026-02-05T11:11:27.492" v="5753" actId="207"/>
          <ac:spMkLst>
            <pc:docMk/>
            <pc:sldMk cId="3831798435" sldId="355"/>
            <ac:spMk id="21" creationId="{DA2E9127-E322-EA83-932A-8BB8D6C51280}"/>
          </ac:spMkLst>
        </pc:spChg>
        <pc:spChg chg="add mod">
          <ac:chgData name="Dr Parag D. Pawar" userId="45f730c0-1703-4ce0-909b-efb17736071d" providerId="ADAL" clId="{629D698C-9F10-422F-9730-D8DB01D503EC}" dt="2026-02-05T11:08:55.134" v="5730" actId="1076"/>
          <ac:spMkLst>
            <pc:docMk/>
            <pc:sldMk cId="3831798435" sldId="355"/>
            <ac:spMk id="23" creationId="{E10F91B2-572A-33B4-1DF7-4F4BE8F08CCD}"/>
          </ac:spMkLst>
        </pc:spChg>
        <pc:spChg chg="add mod">
          <ac:chgData name="Dr Parag D. Pawar" userId="45f730c0-1703-4ce0-909b-efb17736071d" providerId="ADAL" clId="{629D698C-9F10-422F-9730-D8DB01D503EC}" dt="2026-02-06T08:21:36.632" v="6981" actId="207"/>
          <ac:spMkLst>
            <pc:docMk/>
            <pc:sldMk cId="3831798435" sldId="355"/>
            <ac:spMk id="27" creationId="{B1F5B1EC-DF97-EBEC-E38D-F2855CF687F5}"/>
          </ac:spMkLst>
        </pc:spChg>
        <pc:spChg chg="add mod">
          <ac:chgData name="Dr Parag D. Pawar" userId="45f730c0-1703-4ce0-909b-efb17736071d" providerId="ADAL" clId="{629D698C-9F10-422F-9730-D8DB01D503EC}" dt="2026-01-27T09:38:16.647" v="5546" actId="1076"/>
          <ac:spMkLst>
            <pc:docMk/>
            <pc:sldMk cId="3831798435" sldId="355"/>
            <ac:spMk id="29" creationId="{BD769529-EDF9-0828-BD08-EAAE58A015C9}"/>
          </ac:spMkLst>
        </pc:spChg>
        <pc:spChg chg="add mod">
          <ac:chgData name="Dr Parag D. Pawar" userId="45f730c0-1703-4ce0-909b-efb17736071d" providerId="ADAL" clId="{629D698C-9F10-422F-9730-D8DB01D503EC}" dt="2026-01-27T09:38:11.447" v="5545" actId="1076"/>
          <ac:spMkLst>
            <pc:docMk/>
            <pc:sldMk cId="3831798435" sldId="355"/>
            <ac:spMk id="30" creationId="{90760DA2-86DE-D30B-BBD7-669850F24FD1}"/>
          </ac:spMkLst>
        </pc:spChg>
        <pc:spChg chg="add mod">
          <ac:chgData name="Dr Parag D. Pawar" userId="45f730c0-1703-4ce0-909b-efb17736071d" providerId="ADAL" clId="{629D698C-9F10-422F-9730-D8DB01D503EC}" dt="2026-02-05T11:06:23.427" v="5675" actId="692"/>
          <ac:spMkLst>
            <pc:docMk/>
            <pc:sldMk cId="3831798435" sldId="355"/>
            <ac:spMk id="32" creationId="{73748BF7-62EE-C352-BBF7-4E965E7DB4B7}"/>
          </ac:spMkLst>
        </pc:spChg>
        <pc:spChg chg="add mod">
          <ac:chgData name="Dr Parag D. Pawar" userId="45f730c0-1703-4ce0-909b-efb17736071d" providerId="ADAL" clId="{629D698C-9F10-422F-9730-D8DB01D503EC}" dt="2026-02-05T11:18:34.859" v="5757" actId="1076"/>
          <ac:spMkLst>
            <pc:docMk/>
            <pc:sldMk cId="3831798435" sldId="355"/>
            <ac:spMk id="33" creationId="{25CF770D-1BF2-EA14-FF50-A8D741380DAB}"/>
          </ac:spMkLst>
        </pc:spChg>
        <pc:spChg chg="add mod">
          <ac:chgData name="Dr Parag D. Pawar" userId="45f730c0-1703-4ce0-909b-efb17736071d" providerId="ADAL" clId="{629D698C-9F10-422F-9730-D8DB01D503EC}" dt="2026-02-05T11:18:42.240" v="5759" actId="14100"/>
          <ac:spMkLst>
            <pc:docMk/>
            <pc:sldMk cId="3831798435" sldId="355"/>
            <ac:spMk id="34" creationId="{E037CA6C-7A78-7C22-269C-04B40B7D2479}"/>
          </ac:spMkLst>
        </pc:spChg>
        <pc:spChg chg="mod">
          <ac:chgData name="Dr Parag D. Pawar" userId="45f730c0-1703-4ce0-909b-efb17736071d" providerId="ADAL" clId="{629D698C-9F10-422F-9730-D8DB01D503EC}" dt="2026-02-05T11:10:56.186" v="5747" actId="207"/>
          <ac:spMkLst>
            <pc:docMk/>
            <pc:sldMk cId="3831798435" sldId="355"/>
            <ac:spMk id="36" creationId="{2ACB3314-76B3-E170-B269-FD291009A526}"/>
          </ac:spMkLst>
        </pc:spChg>
        <pc:spChg chg="mod">
          <ac:chgData name="Dr Parag D. Pawar" userId="45f730c0-1703-4ce0-909b-efb17736071d" providerId="ADAL" clId="{629D698C-9F10-422F-9730-D8DB01D503EC}" dt="2026-02-05T11:10:58.006" v="5748" actId="207"/>
          <ac:spMkLst>
            <pc:docMk/>
            <pc:sldMk cId="3831798435" sldId="355"/>
            <ac:spMk id="37" creationId="{4EBD4CFF-DBBC-11C0-BEF5-BB200ECA90B3}"/>
          </ac:spMkLst>
        </pc:spChg>
        <pc:spChg chg="mod">
          <ac:chgData name="Dr Parag D. Pawar" userId="45f730c0-1703-4ce0-909b-efb17736071d" providerId="ADAL" clId="{629D698C-9F10-422F-9730-D8DB01D503EC}" dt="2026-02-05T11:11:00.060" v="5749" actId="207"/>
          <ac:spMkLst>
            <pc:docMk/>
            <pc:sldMk cId="3831798435" sldId="355"/>
            <ac:spMk id="41" creationId="{2A8D13C7-B8EC-14BB-63C9-E420867886DF}"/>
          </ac:spMkLst>
        </pc:spChg>
        <pc:spChg chg="mod">
          <ac:chgData name="Dr Parag D. Pawar" userId="45f730c0-1703-4ce0-909b-efb17736071d" providerId="ADAL" clId="{629D698C-9F10-422F-9730-D8DB01D503EC}" dt="2026-02-05T11:11:01.763" v="5750" actId="207"/>
          <ac:spMkLst>
            <pc:docMk/>
            <pc:sldMk cId="3831798435" sldId="355"/>
            <ac:spMk id="42" creationId="{373E3889-47B6-6336-B472-EC9F4E21E97F}"/>
          </ac:spMkLst>
        </pc:spChg>
        <pc:spChg chg="mod">
          <ac:chgData name="Dr Parag D. Pawar" userId="45f730c0-1703-4ce0-909b-efb17736071d" providerId="ADAL" clId="{629D698C-9F10-422F-9730-D8DB01D503EC}" dt="2026-02-05T11:11:04.501" v="5751" actId="207"/>
          <ac:spMkLst>
            <pc:docMk/>
            <pc:sldMk cId="3831798435" sldId="355"/>
            <ac:spMk id="43" creationId="{0C510E99-30CA-C82D-775B-1136E46DB537}"/>
          </ac:spMkLst>
        </pc:spChg>
        <pc:spChg chg="mod">
          <ac:chgData name="Dr Parag D. Pawar" userId="45f730c0-1703-4ce0-909b-efb17736071d" providerId="ADAL" clId="{629D698C-9F10-422F-9730-D8DB01D503EC}" dt="2026-02-05T11:10:27.388" v="5736" actId="207"/>
          <ac:spMkLst>
            <pc:docMk/>
            <pc:sldMk cId="3831798435" sldId="355"/>
            <ac:spMk id="44" creationId="{005E3E68-308B-3959-BF2B-0FCA801DCB71}"/>
          </ac:spMkLst>
        </pc:spChg>
        <pc:spChg chg="mod">
          <ac:chgData name="Dr Parag D. Pawar" userId="45f730c0-1703-4ce0-909b-efb17736071d" providerId="ADAL" clId="{629D698C-9F10-422F-9730-D8DB01D503EC}" dt="2026-02-05T11:10:29.435" v="5737" actId="207"/>
          <ac:spMkLst>
            <pc:docMk/>
            <pc:sldMk cId="3831798435" sldId="355"/>
            <ac:spMk id="45" creationId="{52ADC615-EA52-1D94-1556-140BE6FAD5C9}"/>
          </ac:spMkLst>
        </pc:spChg>
        <pc:spChg chg="mod">
          <ac:chgData name="Dr Parag D. Pawar" userId="45f730c0-1703-4ce0-909b-efb17736071d" providerId="ADAL" clId="{629D698C-9F10-422F-9730-D8DB01D503EC}" dt="2026-02-05T11:10:31.151" v="5738" actId="207"/>
          <ac:spMkLst>
            <pc:docMk/>
            <pc:sldMk cId="3831798435" sldId="355"/>
            <ac:spMk id="46" creationId="{336055C7-6B4F-7338-3502-94EB0A922177}"/>
          </ac:spMkLst>
        </pc:spChg>
        <pc:spChg chg="mod">
          <ac:chgData name="Dr Parag D. Pawar" userId="45f730c0-1703-4ce0-909b-efb17736071d" providerId="ADAL" clId="{629D698C-9F10-422F-9730-D8DB01D503EC}" dt="2026-02-05T11:10:32.905" v="5739" actId="207"/>
          <ac:spMkLst>
            <pc:docMk/>
            <pc:sldMk cId="3831798435" sldId="355"/>
            <ac:spMk id="47" creationId="{10424C72-7162-98A8-70B9-8CCAEB0F40D4}"/>
          </ac:spMkLst>
        </pc:spChg>
        <pc:spChg chg="mod">
          <ac:chgData name="Dr Parag D. Pawar" userId="45f730c0-1703-4ce0-909b-efb17736071d" providerId="ADAL" clId="{629D698C-9F10-422F-9730-D8DB01D503EC}" dt="2026-02-05T11:10:34.702" v="5740" actId="207"/>
          <ac:spMkLst>
            <pc:docMk/>
            <pc:sldMk cId="3831798435" sldId="355"/>
            <ac:spMk id="48" creationId="{9FB99CC6-5758-DE0E-13C5-9E9FD5467BEC}"/>
          </ac:spMkLst>
        </pc:spChg>
        <pc:spChg chg="add del mod">
          <ac:chgData name="Dr Parag D. Pawar" userId="45f730c0-1703-4ce0-909b-efb17736071d" providerId="ADAL" clId="{629D698C-9F10-422F-9730-D8DB01D503EC}" dt="2026-02-05T11:18:44.764" v="5761" actId="478"/>
          <ac:spMkLst>
            <pc:docMk/>
            <pc:sldMk cId="3831798435" sldId="355"/>
            <ac:spMk id="49" creationId="{5D4ECA75-2A2D-D6A6-F8C0-C14EEA19327D}"/>
          </ac:spMkLst>
        </pc:spChg>
        <pc:spChg chg="add">
          <ac:chgData name="Dr Parag D. Pawar" userId="45f730c0-1703-4ce0-909b-efb17736071d" providerId="ADAL" clId="{629D698C-9F10-422F-9730-D8DB01D503EC}" dt="2026-02-05T11:18:51.942" v="5762" actId="11529"/>
          <ac:spMkLst>
            <pc:docMk/>
            <pc:sldMk cId="3831798435" sldId="355"/>
            <ac:spMk id="50" creationId="{C4688D8F-AED3-2511-6FBB-5FA585993864}"/>
          </ac:spMkLst>
        </pc:spChg>
        <pc:spChg chg="add mod">
          <ac:chgData name="Dr Parag D. Pawar" userId="45f730c0-1703-4ce0-909b-efb17736071d" providerId="ADAL" clId="{629D698C-9F10-422F-9730-D8DB01D503EC}" dt="2026-02-05T11:23:17.190" v="5839" actId="1076"/>
          <ac:spMkLst>
            <pc:docMk/>
            <pc:sldMk cId="3831798435" sldId="355"/>
            <ac:spMk id="51" creationId="{430AE1FA-B3A9-9E72-BD4E-59AA9EC39F4A}"/>
          </ac:spMkLst>
        </pc:spChg>
        <pc:spChg chg="add mod">
          <ac:chgData name="Dr Parag D. Pawar" userId="45f730c0-1703-4ce0-909b-efb17736071d" providerId="ADAL" clId="{629D698C-9F10-422F-9730-D8DB01D503EC}" dt="2026-02-05T11:23:50.749" v="5862" actId="400"/>
          <ac:spMkLst>
            <pc:docMk/>
            <pc:sldMk cId="3831798435" sldId="355"/>
            <ac:spMk id="52" creationId="{484E726D-1795-C169-6E97-A2D299B369B4}"/>
          </ac:spMkLst>
        </pc:spChg>
        <pc:spChg chg="mod">
          <ac:chgData name="Dr Parag D. Pawar" userId="45f730c0-1703-4ce0-909b-efb17736071d" providerId="ADAL" clId="{629D698C-9F10-422F-9730-D8DB01D503EC}" dt="2026-01-27T09:35:58.837" v="5538" actId="1076"/>
          <ac:spMkLst>
            <pc:docMk/>
            <pc:sldMk cId="3831798435" sldId="355"/>
            <ac:spMk id="59" creationId="{7154E35B-0216-522F-AF08-90D2A44781B1}"/>
          </ac:spMkLst>
        </pc:spChg>
        <pc:spChg chg="mod">
          <ac:chgData name="Dr Parag D. Pawar" userId="45f730c0-1703-4ce0-909b-efb17736071d" providerId="ADAL" clId="{629D698C-9F10-422F-9730-D8DB01D503EC}" dt="2026-01-27T09:35:58.837" v="5538" actId="1076"/>
          <ac:spMkLst>
            <pc:docMk/>
            <pc:sldMk cId="3831798435" sldId="355"/>
            <ac:spMk id="62" creationId="{F70E7334-C32D-A9FF-476B-49ADA5244D2B}"/>
          </ac:spMkLst>
        </pc:spChg>
        <pc:spChg chg="mod">
          <ac:chgData name="Dr Parag D. Pawar" userId="45f730c0-1703-4ce0-909b-efb17736071d" providerId="ADAL" clId="{629D698C-9F10-422F-9730-D8DB01D503EC}" dt="2026-01-27T09:35:58.837" v="5538" actId="1076"/>
          <ac:spMkLst>
            <pc:docMk/>
            <pc:sldMk cId="3831798435" sldId="355"/>
            <ac:spMk id="63" creationId="{17B4D445-42ED-DE7E-4681-206C52ED28D2}"/>
          </ac:spMkLst>
        </pc:spChg>
        <pc:spChg chg="mod">
          <ac:chgData name="Dr Parag D. Pawar" userId="45f730c0-1703-4ce0-909b-efb17736071d" providerId="ADAL" clId="{629D698C-9F10-422F-9730-D8DB01D503EC}" dt="2026-01-27T09:35:58.837" v="5538" actId="1076"/>
          <ac:spMkLst>
            <pc:docMk/>
            <pc:sldMk cId="3831798435" sldId="355"/>
            <ac:spMk id="64" creationId="{0B07E5E0-96C3-1B20-E48D-DE602C382125}"/>
          </ac:spMkLst>
        </pc:spChg>
        <pc:picChg chg="mod">
          <ac:chgData name="Dr Parag D. Pawar" userId="45f730c0-1703-4ce0-909b-efb17736071d" providerId="ADAL" clId="{629D698C-9F10-422F-9730-D8DB01D503EC}" dt="2026-01-26T14:16:58.553" v="4708" actId="1076"/>
          <ac:picMkLst>
            <pc:docMk/>
            <pc:sldMk cId="3831798435" sldId="355"/>
            <ac:picMk id="1026" creationId="{D5A883C9-68EF-B3AD-9317-8AFE25C5BDB0}"/>
          </ac:picMkLst>
        </pc:picChg>
      </pc:sldChg>
      <pc:sldChg chg="addSp delSp modSp add mod modAnim">
        <pc:chgData name="Dr Parag D. Pawar" userId="45f730c0-1703-4ce0-909b-efb17736071d" providerId="ADAL" clId="{629D698C-9F10-422F-9730-D8DB01D503EC}" dt="2026-02-06T08:32:40.093" v="6984" actId="207"/>
        <pc:sldMkLst>
          <pc:docMk/>
          <pc:sldMk cId="1130192957" sldId="358"/>
        </pc:sldMkLst>
        <pc:spChg chg="del">
          <ac:chgData name="Dr Parag D. Pawar" userId="45f730c0-1703-4ce0-909b-efb17736071d" providerId="ADAL" clId="{629D698C-9F10-422F-9730-D8DB01D503EC}" dt="2026-02-05T10:57:13.378" v="5600" actId="478"/>
          <ac:spMkLst>
            <pc:docMk/>
            <pc:sldMk cId="1130192957" sldId="358"/>
            <ac:spMk id="7" creationId="{0B3A276A-59C4-EDE6-0E7D-EBC829C9D36B}"/>
          </ac:spMkLst>
        </pc:spChg>
        <pc:spChg chg="add mod">
          <ac:chgData name="Dr Parag D. Pawar" userId="45f730c0-1703-4ce0-909b-efb17736071d" providerId="ADAL" clId="{629D698C-9F10-422F-9730-D8DB01D503EC}" dt="2026-01-27T09:53:15.732" v="5575" actId="20577"/>
          <ac:spMkLst>
            <pc:docMk/>
            <pc:sldMk cId="1130192957" sldId="358"/>
            <ac:spMk id="13" creationId="{93C83F5C-5986-DB8F-0DD3-A24CEB3C5C4E}"/>
          </ac:spMkLst>
        </pc:spChg>
        <pc:spChg chg="add mod">
          <ac:chgData name="Dr Parag D. Pawar" userId="45f730c0-1703-4ce0-909b-efb17736071d" providerId="ADAL" clId="{629D698C-9F10-422F-9730-D8DB01D503EC}" dt="2026-01-27T04:57:55.988" v="5483"/>
          <ac:spMkLst>
            <pc:docMk/>
            <pc:sldMk cId="1130192957" sldId="358"/>
            <ac:spMk id="19" creationId="{2584CED2-5A67-4208-7C50-47FD9BDD441E}"/>
          </ac:spMkLst>
        </pc:spChg>
        <pc:spChg chg="add mod">
          <ac:chgData name="Dr Parag D. Pawar" userId="45f730c0-1703-4ce0-909b-efb17736071d" providerId="ADAL" clId="{629D698C-9F10-422F-9730-D8DB01D503EC}" dt="2026-01-27T04:57:55.988" v="5483"/>
          <ac:spMkLst>
            <pc:docMk/>
            <pc:sldMk cId="1130192957" sldId="358"/>
            <ac:spMk id="20" creationId="{EC4A3C58-309D-E342-69CD-0269398FD1EE}"/>
          </ac:spMkLst>
        </pc:spChg>
        <pc:spChg chg="add mod">
          <ac:chgData name="Dr Parag D. Pawar" userId="45f730c0-1703-4ce0-909b-efb17736071d" providerId="ADAL" clId="{629D698C-9F10-422F-9730-D8DB01D503EC}" dt="2026-02-05T14:22:30.391" v="6124"/>
          <ac:spMkLst>
            <pc:docMk/>
            <pc:sldMk cId="1130192957" sldId="358"/>
            <ac:spMk id="21" creationId="{D597C715-7596-9BF3-2551-0713C1E129D3}"/>
          </ac:spMkLst>
        </pc:spChg>
        <pc:spChg chg="add mod">
          <ac:chgData name="Dr Parag D. Pawar" userId="45f730c0-1703-4ce0-909b-efb17736071d" providerId="ADAL" clId="{629D698C-9F10-422F-9730-D8DB01D503EC}" dt="2026-02-06T08:32:40.093" v="6984" actId="207"/>
          <ac:spMkLst>
            <pc:docMk/>
            <pc:sldMk cId="1130192957" sldId="358"/>
            <ac:spMk id="22" creationId="{69F1692C-ECA7-9AE2-CB88-EF3AD4C31DB5}"/>
          </ac:spMkLst>
        </pc:spChg>
        <pc:graphicFrameChg chg="mod">
          <ac:chgData name="Dr Parag D. Pawar" userId="45f730c0-1703-4ce0-909b-efb17736071d" providerId="ADAL" clId="{629D698C-9F10-422F-9730-D8DB01D503EC}" dt="2026-01-26T21:53:13.644" v="5261"/>
          <ac:graphicFrameMkLst>
            <pc:docMk/>
            <pc:sldMk cId="1130192957" sldId="358"/>
            <ac:graphicFrameMk id="5" creationId="{5245E58B-244F-4C11-BAE5-EBB9B6EEDC79}"/>
          </ac:graphicFrameMkLst>
        </pc:graphicFrameChg>
      </pc:sldChg>
      <pc:sldChg chg="modSp add mod">
        <pc:chgData name="Dr Parag D. Pawar" userId="45f730c0-1703-4ce0-909b-efb17736071d" providerId="ADAL" clId="{629D698C-9F10-422F-9730-D8DB01D503EC}" dt="2026-02-06T08:41:06.143" v="7000" actId="20577"/>
        <pc:sldMkLst>
          <pc:docMk/>
          <pc:sldMk cId="3380550929" sldId="359"/>
        </pc:sldMkLst>
        <pc:spChg chg="mod">
          <ac:chgData name="Dr Parag D. Pawar" userId="45f730c0-1703-4ce0-909b-efb17736071d" providerId="ADAL" clId="{629D698C-9F10-422F-9730-D8DB01D503EC}" dt="2026-01-27T05:06:41.192" v="5491" actId="207"/>
          <ac:spMkLst>
            <pc:docMk/>
            <pc:sldMk cId="3380550929" sldId="359"/>
            <ac:spMk id="3" creationId="{69400F91-2DDD-B14B-D22D-DA7E16AE436C}"/>
          </ac:spMkLst>
        </pc:spChg>
        <pc:spChg chg="mod">
          <ac:chgData name="Dr Parag D. Pawar" userId="45f730c0-1703-4ce0-909b-efb17736071d" providerId="ADAL" clId="{629D698C-9F10-422F-9730-D8DB01D503EC}" dt="2026-02-05T11:48:39.649" v="5889" actId="20577"/>
          <ac:spMkLst>
            <pc:docMk/>
            <pc:sldMk cId="3380550929" sldId="359"/>
            <ac:spMk id="7" creationId="{5FA75741-8ABF-79E1-E5CD-2D3038628C56}"/>
          </ac:spMkLst>
        </pc:spChg>
        <pc:spChg chg="mod">
          <ac:chgData name="Dr Parag D. Pawar" userId="45f730c0-1703-4ce0-909b-efb17736071d" providerId="ADAL" clId="{629D698C-9F10-422F-9730-D8DB01D503EC}" dt="2026-01-27T05:06:54.009" v="5494" actId="207"/>
          <ac:spMkLst>
            <pc:docMk/>
            <pc:sldMk cId="3380550929" sldId="359"/>
            <ac:spMk id="9" creationId="{6D6269BB-4E29-6B86-E60A-7FA7FE2A98F6}"/>
          </ac:spMkLst>
        </pc:spChg>
        <pc:spChg chg="mod">
          <ac:chgData name="Dr Parag D. Pawar" userId="45f730c0-1703-4ce0-909b-efb17736071d" providerId="ADAL" clId="{629D698C-9F10-422F-9730-D8DB01D503EC}" dt="2026-01-27T05:07:01.237" v="5495" actId="207"/>
          <ac:spMkLst>
            <pc:docMk/>
            <pc:sldMk cId="3380550929" sldId="359"/>
            <ac:spMk id="14" creationId="{625A9122-81A4-4174-B73C-E8481EE45B5E}"/>
          </ac:spMkLst>
        </pc:spChg>
        <pc:spChg chg="mod">
          <ac:chgData name="Dr Parag D. Pawar" userId="45f730c0-1703-4ce0-909b-efb17736071d" providerId="ADAL" clId="{629D698C-9F10-422F-9730-D8DB01D503EC}" dt="2026-01-27T05:07:03.292" v="5496" actId="207"/>
          <ac:spMkLst>
            <pc:docMk/>
            <pc:sldMk cId="3380550929" sldId="359"/>
            <ac:spMk id="15" creationId="{0EFFBC16-67C7-0F06-2F95-C546315A61CD}"/>
          </ac:spMkLst>
        </pc:spChg>
        <pc:spChg chg="mod">
          <ac:chgData name="Dr Parag D. Pawar" userId="45f730c0-1703-4ce0-909b-efb17736071d" providerId="ADAL" clId="{629D698C-9F10-422F-9730-D8DB01D503EC}" dt="2026-01-27T05:07:09.614" v="5497" actId="113"/>
          <ac:spMkLst>
            <pc:docMk/>
            <pc:sldMk cId="3380550929" sldId="359"/>
            <ac:spMk id="18" creationId="{E29FF069-2CC1-9F38-5AF1-60BBA206F154}"/>
          </ac:spMkLst>
        </pc:spChg>
        <pc:spChg chg="mod">
          <ac:chgData name="Dr Parag D. Pawar" userId="45f730c0-1703-4ce0-909b-efb17736071d" providerId="ADAL" clId="{629D698C-9F10-422F-9730-D8DB01D503EC}" dt="2026-01-27T05:07:11.700" v="5498" actId="113"/>
          <ac:spMkLst>
            <pc:docMk/>
            <pc:sldMk cId="3380550929" sldId="359"/>
            <ac:spMk id="19" creationId="{E132D113-9ECA-0265-4D0E-F9C2783B64E8}"/>
          </ac:spMkLst>
        </pc:spChg>
        <pc:spChg chg="mod">
          <ac:chgData name="Dr Parag D. Pawar" userId="45f730c0-1703-4ce0-909b-efb17736071d" providerId="ADAL" clId="{629D698C-9F10-422F-9730-D8DB01D503EC}" dt="2026-02-06T08:40:54.613" v="6990" actId="14100"/>
          <ac:spMkLst>
            <pc:docMk/>
            <pc:sldMk cId="3380550929" sldId="359"/>
            <ac:spMk id="21" creationId="{6DE399E1-ED67-8B23-E9D6-0192334159EC}"/>
          </ac:spMkLst>
        </pc:spChg>
        <pc:spChg chg="mod">
          <ac:chgData name="Dr Parag D. Pawar" userId="45f730c0-1703-4ce0-909b-efb17736071d" providerId="ADAL" clId="{629D698C-9F10-422F-9730-D8DB01D503EC}" dt="2026-02-06T08:41:02.344" v="6997" actId="20577"/>
          <ac:spMkLst>
            <pc:docMk/>
            <pc:sldMk cId="3380550929" sldId="359"/>
            <ac:spMk id="23" creationId="{E3FD523A-A03B-01F7-CFE1-FC82468C59BC}"/>
          </ac:spMkLst>
        </pc:spChg>
        <pc:spChg chg="mod">
          <ac:chgData name="Dr Parag D. Pawar" userId="45f730c0-1703-4ce0-909b-efb17736071d" providerId="ADAL" clId="{629D698C-9F10-422F-9730-D8DB01D503EC}" dt="2026-02-06T08:41:06.143" v="7000" actId="20577"/>
          <ac:spMkLst>
            <pc:docMk/>
            <pc:sldMk cId="3380550929" sldId="359"/>
            <ac:spMk id="24" creationId="{31E3B08C-63C1-6C95-E2A1-0AA9659D0B72}"/>
          </ac:spMkLst>
        </pc:spChg>
      </pc:sldChg>
      <pc:sldChg chg="add">
        <pc:chgData name="Dr Parag D. Pawar" userId="45f730c0-1703-4ce0-909b-efb17736071d" providerId="ADAL" clId="{629D698C-9F10-422F-9730-D8DB01D503EC}" dt="2026-01-26T13:51:02.486" v="4699"/>
        <pc:sldMkLst>
          <pc:docMk/>
          <pc:sldMk cId="2289845823" sldId="360"/>
        </pc:sldMkLst>
      </pc:sldChg>
      <pc:sldChg chg="add">
        <pc:chgData name="Dr Parag D. Pawar" userId="45f730c0-1703-4ce0-909b-efb17736071d" providerId="ADAL" clId="{629D698C-9F10-422F-9730-D8DB01D503EC}" dt="2026-01-26T13:51:02.486" v="4699"/>
        <pc:sldMkLst>
          <pc:docMk/>
          <pc:sldMk cId="406941791" sldId="361"/>
        </pc:sldMkLst>
      </pc:sldChg>
      <pc:sldChg chg="add">
        <pc:chgData name="Dr Parag D. Pawar" userId="45f730c0-1703-4ce0-909b-efb17736071d" providerId="ADAL" clId="{629D698C-9F10-422F-9730-D8DB01D503EC}" dt="2026-01-20T01:50:45.166" v="2471"/>
        <pc:sldMkLst>
          <pc:docMk/>
          <pc:sldMk cId="1049634138" sldId="367"/>
        </pc:sldMkLst>
      </pc:sldChg>
      <pc:sldChg chg="modSp add del mod">
        <pc:chgData name="Dr Parag D. Pawar" userId="45f730c0-1703-4ce0-909b-efb17736071d" providerId="ADAL" clId="{629D698C-9F10-422F-9730-D8DB01D503EC}" dt="2026-02-05T11:30:21.580" v="5873" actId="47"/>
        <pc:sldMkLst>
          <pc:docMk/>
          <pc:sldMk cId="2026226802" sldId="369"/>
        </pc:sldMkLst>
        <pc:spChg chg="mod">
          <ac:chgData name="Dr Parag D. Pawar" userId="45f730c0-1703-4ce0-909b-efb17736071d" providerId="ADAL" clId="{629D698C-9F10-422F-9730-D8DB01D503EC}" dt="2026-02-05T11:29:58.637" v="5872" actId="207"/>
          <ac:spMkLst>
            <pc:docMk/>
            <pc:sldMk cId="2026226802" sldId="369"/>
            <ac:spMk id="29" creationId="{C07B10A1-3470-ED0B-85E1-ED839473C244}"/>
          </ac:spMkLst>
        </pc:spChg>
        <pc:spChg chg="mod">
          <ac:chgData name="Dr Parag D. Pawar" userId="45f730c0-1703-4ce0-909b-efb17736071d" providerId="ADAL" clId="{629D698C-9F10-422F-9730-D8DB01D503EC}" dt="2026-02-05T11:29:56.156" v="5871" actId="207"/>
          <ac:spMkLst>
            <pc:docMk/>
            <pc:sldMk cId="2026226802" sldId="369"/>
            <ac:spMk id="30" creationId="{E802560E-E101-D95B-1B98-DE63AA98EFAF}"/>
          </ac:spMkLst>
        </pc:spChg>
        <pc:spChg chg="mod">
          <ac:chgData name="Dr Parag D. Pawar" userId="45f730c0-1703-4ce0-909b-efb17736071d" providerId="ADAL" clId="{629D698C-9F10-422F-9730-D8DB01D503EC}" dt="2026-02-05T11:29:41.019" v="5869" actId="207"/>
          <ac:spMkLst>
            <pc:docMk/>
            <pc:sldMk cId="2026226802" sldId="369"/>
            <ac:spMk id="31" creationId="{CABB27E4-B326-B668-D4B3-A77A67820965}"/>
          </ac:spMkLst>
        </pc:spChg>
      </pc:sldChg>
      <pc:sldChg chg="addSp modSp add mod addAnim delAnim modAnim">
        <pc:chgData name="Dr Parag D. Pawar" userId="45f730c0-1703-4ce0-909b-efb17736071d" providerId="ADAL" clId="{629D698C-9F10-422F-9730-D8DB01D503EC}" dt="2026-02-05T12:36:42.457" v="5929"/>
        <pc:sldMkLst>
          <pc:docMk/>
          <pc:sldMk cId="3934539632" sldId="370"/>
        </pc:sldMkLst>
        <pc:spChg chg="mod">
          <ac:chgData name="Dr Parag D. Pawar" userId="45f730c0-1703-4ce0-909b-efb17736071d" providerId="ADAL" clId="{629D698C-9F10-422F-9730-D8DB01D503EC}" dt="2026-01-27T10:05:59.332" v="5586" actId="207"/>
          <ac:spMkLst>
            <pc:docMk/>
            <pc:sldMk cId="3934539632" sldId="370"/>
            <ac:spMk id="2" creationId="{F05C394A-855D-847D-653A-7DD0031CA818}"/>
          </ac:spMkLst>
        </pc:spChg>
        <pc:spChg chg="mod">
          <ac:chgData name="Dr Parag D. Pawar" userId="45f730c0-1703-4ce0-909b-efb17736071d" providerId="ADAL" clId="{629D698C-9F10-422F-9730-D8DB01D503EC}" dt="2026-02-05T12:35:45.959" v="5914" actId="20577"/>
          <ac:spMkLst>
            <pc:docMk/>
            <pc:sldMk cId="3934539632" sldId="370"/>
            <ac:spMk id="3" creationId="{AC922C15-9B89-AFBF-74B3-01407AA4AA29}"/>
          </ac:spMkLst>
        </pc:spChg>
        <pc:spChg chg="add mod">
          <ac:chgData name="Dr Parag D. Pawar" userId="45f730c0-1703-4ce0-909b-efb17736071d" providerId="ADAL" clId="{629D698C-9F10-422F-9730-D8DB01D503EC}" dt="2026-02-05T12:36:31.357" v="5926"/>
          <ac:spMkLst>
            <pc:docMk/>
            <pc:sldMk cId="3934539632" sldId="370"/>
            <ac:spMk id="8" creationId="{C7387E4A-EB10-3C7B-1111-9CEC10028B87}"/>
          </ac:spMkLst>
        </pc:spChg>
        <pc:spChg chg="mod">
          <ac:chgData name="Dr Parag D. Pawar" userId="45f730c0-1703-4ce0-909b-efb17736071d" providerId="ADAL" clId="{629D698C-9F10-422F-9730-D8DB01D503EC}" dt="2026-02-05T12:35:46.303" v="5915" actId="20577"/>
          <ac:spMkLst>
            <pc:docMk/>
            <pc:sldMk cId="3934539632" sldId="370"/>
            <ac:spMk id="42" creationId="{E3073C93-BFA6-BE3F-E3ED-F69CFD46EF8D}"/>
          </ac:spMkLst>
        </pc:spChg>
        <pc:spChg chg="mod">
          <ac:chgData name="Dr Parag D. Pawar" userId="45f730c0-1703-4ce0-909b-efb17736071d" providerId="ADAL" clId="{629D698C-9F10-422F-9730-D8DB01D503EC}" dt="2026-02-05T12:35:45.140" v="5913" actId="20577"/>
          <ac:spMkLst>
            <pc:docMk/>
            <pc:sldMk cId="3934539632" sldId="370"/>
            <ac:spMk id="47" creationId="{890AC414-3AE3-B18F-E2B5-4E0554C99794}"/>
          </ac:spMkLst>
        </pc:spChg>
      </pc:sldChg>
      <pc:sldChg chg="addSp modSp add mod addAnim delAnim modAnim">
        <pc:chgData name="Dr Parag D. Pawar" userId="45f730c0-1703-4ce0-909b-efb17736071d" providerId="ADAL" clId="{629D698C-9F10-422F-9730-D8DB01D503EC}" dt="2026-02-06T08:32:52.631" v="6986" actId="207"/>
        <pc:sldMkLst>
          <pc:docMk/>
          <pc:sldMk cId="2564479647" sldId="372"/>
        </pc:sldMkLst>
        <pc:spChg chg="mod">
          <ac:chgData name="Dr Parag D. Pawar" userId="45f730c0-1703-4ce0-909b-efb17736071d" providerId="ADAL" clId="{629D698C-9F10-422F-9730-D8DB01D503EC}" dt="2026-02-05T10:56:33.768" v="5595" actId="207"/>
          <ac:spMkLst>
            <pc:docMk/>
            <pc:sldMk cId="2564479647" sldId="372"/>
            <ac:spMk id="7" creationId="{5BC0D9EE-C9CA-58A9-0D96-40B40AA4A9E8}"/>
          </ac:spMkLst>
        </pc:spChg>
        <pc:spChg chg="mod">
          <ac:chgData name="Dr Parag D. Pawar" userId="45f730c0-1703-4ce0-909b-efb17736071d" providerId="ADAL" clId="{629D698C-9F10-422F-9730-D8DB01D503EC}" dt="2026-01-27T09:50:11.726" v="5568" actId="207"/>
          <ac:spMkLst>
            <pc:docMk/>
            <pc:sldMk cId="2564479647" sldId="372"/>
            <ac:spMk id="9" creationId="{EB5A5607-86AC-C714-22C5-6CD8E41E5674}"/>
          </ac:spMkLst>
        </pc:spChg>
        <pc:spChg chg="mod">
          <ac:chgData name="Dr Parag D. Pawar" userId="45f730c0-1703-4ce0-909b-efb17736071d" providerId="ADAL" clId="{629D698C-9F10-422F-9730-D8DB01D503EC}" dt="2026-02-05T11:43:46.220" v="5885" actId="1076"/>
          <ac:spMkLst>
            <pc:docMk/>
            <pc:sldMk cId="2564479647" sldId="372"/>
            <ac:spMk id="11" creationId="{EBAAEEE6-BF89-5133-3F85-E4DBFBE9BECA}"/>
          </ac:spMkLst>
        </pc:spChg>
        <pc:spChg chg="mod">
          <ac:chgData name="Dr Parag D. Pawar" userId="45f730c0-1703-4ce0-909b-efb17736071d" providerId="ADAL" clId="{629D698C-9F10-422F-9730-D8DB01D503EC}" dt="2026-02-05T11:43:33.734" v="5880" actId="1076"/>
          <ac:spMkLst>
            <pc:docMk/>
            <pc:sldMk cId="2564479647" sldId="372"/>
            <ac:spMk id="12" creationId="{F1124C64-04EB-019E-9A9F-239B202BD514}"/>
          </ac:spMkLst>
        </pc:spChg>
        <pc:spChg chg="mod">
          <ac:chgData name="Dr Parag D. Pawar" userId="45f730c0-1703-4ce0-909b-efb17736071d" providerId="ADAL" clId="{629D698C-9F10-422F-9730-D8DB01D503EC}" dt="2026-02-06T05:27:22.700" v="6929" actId="14100"/>
          <ac:spMkLst>
            <pc:docMk/>
            <pc:sldMk cId="2564479647" sldId="372"/>
            <ac:spMk id="22" creationId="{AF3FE977-732F-8C34-B556-67CCC0F1E10D}"/>
          </ac:spMkLst>
        </pc:spChg>
        <pc:spChg chg="add mod">
          <ac:chgData name="Dr Parag D. Pawar" userId="45f730c0-1703-4ce0-909b-efb17736071d" providerId="ADAL" clId="{629D698C-9F10-422F-9730-D8DB01D503EC}" dt="2026-01-27T04:56:30.134" v="5479" actId="14100"/>
          <ac:spMkLst>
            <pc:docMk/>
            <pc:sldMk cId="2564479647" sldId="372"/>
            <ac:spMk id="27" creationId="{D886A86D-DC7E-E101-6448-713955761A7F}"/>
          </ac:spMkLst>
        </pc:spChg>
        <pc:spChg chg="add mod">
          <ac:chgData name="Dr Parag D. Pawar" userId="45f730c0-1703-4ce0-909b-efb17736071d" providerId="ADAL" clId="{629D698C-9F10-422F-9730-D8DB01D503EC}" dt="2026-01-27T04:55:47.981" v="5470" actId="1076"/>
          <ac:spMkLst>
            <pc:docMk/>
            <pc:sldMk cId="2564479647" sldId="372"/>
            <ac:spMk id="28" creationId="{D8DFEDA9-EF10-7A67-A5B3-66B5567A96B6}"/>
          </ac:spMkLst>
        </pc:spChg>
        <pc:spChg chg="add mod">
          <ac:chgData name="Dr Parag D. Pawar" userId="45f730c0-1703-4ce0-909b-efb17736071d" providerId="ADAL" clId="{629D698C-9F10-422F-9730-D8DB01D503EC}" dt="2026-02-05T14:21:10.319" v="6118" actId="207"/>
          <ac:spMkLst>
            <pc:docMk/>
            <pc:sldMk cId="2564479647" sldId="372"/>
            <ac:spMk id="31" creationId="{0BA8EB60-84AA-08DF-DFDC-B41E37BACF35}"/>
          </ac:spMkLst>
        </pc:spChg>
        <pc:spChg chg="add mod">
          <ac:chgData name="Dr Parag D. Pawar" userId="45f730c0-1703-4ce0-909b-efb17736071d" providerId="ADAL" clId="{629D698C-9F10-422F-9730-D8DB01D503EC}" dt="2026-02-06T08:32:52.631" v="6986" actId="207"/>
          <ac:spMkLst>
            <pc:docMk/>
            <pc:sldMk cId="2564479647" sldId="372"/>
            <ac:spMk id="33" creationId="{968DC29C-B0CA-AC1B-9B74-24DF83DFC955}"/>
          </ac:spMkLst>
        </pc:spChg>
        <pc:spChg chg="add mod">
          <ac:chgData name="Dr Parag D. Pawar" userId="45f730c0-1703-4ce0-909b-efb17736071d" providerId="ADAL" clId="{629D698C-9F10-422F-9730-D8DB01D503EC}" dt="2026-02-06T05:29:12.821" v="6947" actId="1076"/>
          <ac:spMkLst>
            <pc:docMk/>
            <pc:sldMk cId="2564479647" sldId="372"/>
            <ac:spMk id="34" creationId="{4098941A-0765-D8F3-B957-E2ECEAAB14A4}"/>
          </ac:spMkLst>
        </pc:spChg>
        <pc:spChg chg="add mod">
          <ac:chgData name="Dr Parag D. Pawar" userId="45f730c0-1703-4ce0-909b-efb17736071d" providerId="ADAL" clId="{629D698C-9F10-422F-9730-D8DB01D503EC}" dt="2026-02-06T05:29:26.728" v="6950" actId="692"/>
          <ac:spMkLst>
            <pc:docMk/>
            <pc:sldMk cId="2564479647" sldId="372"/>
            <ac:spMk id="36" creationId="{1AB68A1E-C0FD-FDD9-987F-221F532EE896}"/>
          </ac:spMkLst>
        </pc:spChg>
      </pc:sldChg>
      <pc:sldChg chg="addSp delSp modSp add mod modAnim">
        <pc:chgData name="Dr Parag D. Pawar" userId="45f730c0-1703-4ce0-909b-efb17736071d" providerId="ADAL" clId="{629D698C-9F10-422F-9730-D8DB01D503EC}" dt="2026-02-06T08:32:46.407" v="6985" actId="207"/>
        <pc:sldMkLst>
          <pc:docMk/>
          <pc:sldMk cId="2169172515" sldId="373"/>
        </pc:sldMkLst>
        <pc:spChg chg="del">
          <ac:chgData name="Dr Parag D. Pawar" userId="45f730c0-1703-4ce0-909b-efb17736071d" providerId="ADAL" clId="{629D698C-9F10-422F-9730-D8DB01D503EC}" dt="2026-02-05T10:57:06.932" v="5599" actId="478"/>
          <ac:spMkLst>
            <pc:docMk/>
            <pc:sldMk cId="2169172515" sldId="373"/>
            <ac:spMk id="7" creationId="{A325B188-B9F0-36AA-80AB-4B3133BCA407}"/>
          </ac:spMkLst>
        </pc:spChg>
        <pc:spChg chg="mod">
          <ac:chgData name="Dr Parag D. Pawar" userId="45f730c0-1703-4ce0-909b-efb17736071d" providerId="ADAL" clId="{629D698C-9F10-422F-9730-D8DB01D503EC}" dt="2026-01-27T09:50:19.765" v="5570" actId="207"/>
          <ac:spMkLst>
            <pc:docMk/>
            <pc:sldMk cId="2169172515" sldId="373"/>
            <ac:spMk id="9" creationId="{4EA35927-81E5-99F2-D493-3C07E2771A4D}"/>
          </ac:spMkLst>
        </pc:spChg>
        <pc:spChg chg="add mod">
          <ac:chgData name="Dr Parag D. Pawar" userId="45f730c0-1703-4ce0-909b-efb17736071d" providerId="ADAL" clId="{629D698C-9F10-422F-9730-D8DB01D503EC}" dt="2026-01-27T04:57:46.717" v="5480"/>
          <ac:spMkLst>
            <pc:docMk/>
            <pc:sldMk cId="2169172515" sldId="373"/>
            <ac:spMk id="11" creationId="{88BB4325-09B0-164C-D591-4A19BC211722}"/>
          </ac:spMkLst>
        </pc:spChg>
        <pc:spChg chg="add mod">
          <ac:chgData name="Dr Parag D. Pawar" userId="45f730c0-1703-4ce0-909b-efb17736071d" providerId="ADAL" clId="{629D698C-9F10-422F-9730-D8DB01D503EC}" dt="2026-01-27T04:57:46.717" v="5480"/>
          <ac:spMkLst>
            <pc:docMk/>
            <pc:sldMk cId="2169172515" sldId="373"/>
            <ac:spMk id="15" creationId="{51802244-7EDD-B790-3CB7-23A9F3B432E3}"/>
          </ac:spMkLst>
        </pc:spChg>
        <pc:spChg chg="add mod">
          <ac:chgData name="Dr Parag D. Pawar" userId="45f730c0-1703-4ce0-909b-efb17736071d" providerId="ADAL" clId="{629D698C-9F10-422F-9730-D8DB01D503EC}" dt="2026-02-05T14:21:43.916" v="6119"/>
          <ac:spMkLst>
            <pc:docMk/>
            <pc:sldMk cId="2169172515" sldId="373"/>
            <ac:spMk id="18" creationId="{CAB7CC28-5E8B-DC4A-6C8F-1509A4B947EE}"/>
          </ac:spMkLst>
        </pc:spChg>
        <pc:spChg chg="add mod">
          <ac:chgData name="Dr Parag D. Pawar" userId="45f730c0-1703-4ce0-909b-efb17736071d" providerId="ADAL" clId="{629D698C-9F10-422F-9730-D8DB01D503EC}" dt="2026-02-06T08:32:46.407" v="6985" actId="207"/>
          <ac:spMkLst>
            <pc:docMk/>
            <pc:sldMk cId="2169172515" sldId="373"/>
            <ac:spMk id="19" creationId="{DB957C21-A9CD-4FBA-83F6-7754951DB7FC}"/>
          </ac:spMkLst>
        </pc:spChg>
      </pc:sldChg>
      <pc:sldChg chg="addSp modSp add mod addAnim delAnim modAnim">
        <pc:chgData name="Dr Parag D. Pawar" userId="45f730c0-1703-4ce0-909b-efb17736071d" providerId="ADAL" clId="{629D698C-9F10-422F-9730-D8DB01D503EC}" dt="2026-02-06T08:07:28.344" v="6978" actId="20577"/>
        <pc:sldMkLst>
          <pc:docMk/>
          <pc:sldMk cId="3566167810" sldId="374"/>
        </pc:sldMkLst>
        <pc:spChg chg="mod">
          <ac:chgData name="Dr Parag D. Pawar" userId="45f730c0-1703-4ce0-909b-efb17736071d" providerId="ADAL" clId="{629D698C-9F10-422F-9730-D8DB01D503EC}" dt="2026-01-27T09:58:34.705" v="5579" actId="14100"/>
          <ac:spMkLst>
            <pc:docMk/>
            <pc:sldMk cId="3566167810" sldId="374"/>
            <ac:spMk id="6" creationId="{4322F114-5978-ADBD-FC09-E23691444F10}"/>
          </ac:spMkLst>
        </pc:spChg>
        <pc:spChg chg="add mod">
          <ac:chgData name="Dr Parag D. Pawar" userId="45f730c0-1703-4ce0-909b-efb17736071d" providerId="ADAL" clId="{629D698C-9F10-422F-9730-D8DB01D503EC}" dt="2026-01-26T22:06:35.770" v="5277" actId="1076"/>
          <ac:spMkLst>
            <pc:docMk/>
            <pc:sldMk cId="3566167810" sldId="374"/>
            <ac:spMk id="11" creationId="{DECE254F-AB62-2A6E-FC4B-B856CF41DA66}"/>
          </ac:spMkLst>
        </pc:spChg>
        <pc:spChg chg="add mod">
          <ac:chgData name="Dr Parag D. Pawar" userId="45f730c0-1703-4ce0-909b-efb17736071d" providerId="ADAL" clId="{629D698C-9F10-422F-9730-D8DB01D503EC}" dt="2026-02-06T02:41:46.458" v="6228" actId="207"/>
          <ac:spMkLst>
            <pc:docMk/>
            <pc:sldMk cId="3566167810" sldId="374"/>
            <ac:spMk id="37" creationId="{D03289A3-B5C2-E992-1527-000258748508}"/>
          </ac:spMkLst>
        </pc:spChg>
        <pc:spChg chg="add mod">
          <ac:chgData name="Dr Parag D. Pawar" userId="45f730c0-1703-4ce0-909b-efb17736071d" providerId="ADAL" clId="{629D698C-9F10-422F-9730-D8DB01D503EC}" dt="2026-02-06T03:17:13.013" v="6294" actId="20577"/>
          <ac:spMkLst>
            <pc:docMk/>
            <pc:sldMk cId="3566167810" sldId="374"/>
            <ac:spMk id="38" creationId="{5EA0F1B1-79CA-1C13-AA30-1A00061CF5FC}"/>
          </ac:spMkLst>
        </pc:spChg>
        <pc:spChg chg="add mod">
          <ac:chgData name="Dr Parag D. Pawar" userId="45f730c0-1703-4ce0-909b-efb17736071d" providerId="ADAL" clId="{629D698C-9F10-422F-9730-D8DB01D503EC}" dt="2026-02-06T02:48:33.910" v="6268" actId="207"/>
          <ac:spMkLst>
            <pc:docMk/>
            <pc:sldMk cId="3566167810" sldId="374"/>
            <ac:spMk id="43" creationId="{8A51BB1A-9DF4-2508-FCDF-40F8A60235D1}"/>
          </ac:spMkLst>
        </pc:spChg>
        <pc:spChg chg="add mod">
          <ac:chgData name="Dr Parag D. Pawar" userId="45f730c0-1703-4ce0-909b-efb17736071d" providerId="ADAL" clId="{629D698C-9F10-422F-9730-D8DB01D503EC}" dt="2026-02-06T08:07:28.344" v="6978" actId="20577"/>
          <ac:spMkLst>
            <pc:docMk/>
            <pc:sldMk cId="3566167810" sldId="374"/>
            <ac:spMk id="45" creationId="{84C54786-B532-4B03-E2FD-06F7A5523D91}"/>
          </ac:spMkLst>
        </pc:spChg>
        <pc:picChg chg="add mod">
          <ac:chgData name="Dr Parag D. Pawar" userId="45f730c0-1703-4ce0-909b-efb17736071d" providerId="ADAL" clId="{629D698C-9F10-422F-9730-D8DB01D503EC}" dt="2026-02-06T02:40:47.867" v="6222" actId="1076"/>
          <ac:picMkLst>
            <pc:docMk/>
            <pc:sldMk cId="3566167810" sldId="374"/>
            <ac:picMk id="20" creationId="{4F8A1BAE-C8B9-8064-5FB0-B4CA4BA167CF}"/>
          </ac:picMkLst>
        </pc:picChg>
      </pc:sldChg>
      <pc:sldChg chg="add">
        <pc:chgData name="Dr Parag D. Pawar" userId="45f730c0-1703-4ce0-909b-efb17736071d" providerId="ADAL" clId="{629D698C-9F10-422F-9730-D8DB01D503EC}" dt="2026-01-20T01:50:45.166" v="2471"/>
        <pc:sldMkLst>
          <pc:docMk/>
          <pc:sldMk cId="781210740" sldId="376"/>
        </pc:sldMkLst>
      </pc:sldChg>
      <pc:sldChg chg="add">
        <pc:chgData name="Dr Parag D. Pawar" userId="45f730c0-1703-4ce0-909b-efb17736071d" providerId="ADAL" clId="{629D698C-9F10-422F-9730-D8DB01D503EC}" dt="2026-01-26T13:51:02.486" v="4699"/>
        <pc:sldMkLst>
          <pc:docMk/>
          <pc:sldMk cId="3303020569" sldId="377"/>
        </pc:sldMkLst>
      </pc:sldChg>
      <pc:sldChg chg="add">
        <pc:chgData name="Dr Parag D. Pawar" userId="45f730c0-1703-4ce0-909b-efb17736071d" providerId="ADAL" clId="{629D698C-9F10-422F-9730-D8DB01D503EC}" dt="2026-01-26T13:51:02.486" v="4699"/>
        <pc:sldMkLst>
          <pc:docMk/>
          <pc:sldMk cId="1633539968" sldId="378"/>
        </pc:sldMkLst>
      </pc:sldChg>
      <pc:sldChg chg="add">
        <pc:chgData name="Dr Parag D. Pawar" userId="45f730c0-1703-4ce0-909b-efb17736071d" providerId="ADAL" clId="{629D698C-9F10-422F-9730-D8DB01D503EC}" dt="2026-01-26T13:51:02.486" v="4699"/>
        <pc:sldMkLst>
          <pc:docMk/>
          <pc:sldMk cId="1406718459" sldId="379"/>
        </pc:sldMkLst>
      </pc:sldChg>
      <pc:sldChg chg="delSp modSp add del mod ord addAnim delAnim modAnim">
        <pc:chgData name="Dr Parag D. Pawar" userId="45f730c0-1703-4ce0-909b-efb17736071d" providerId="ADAL" clId="{629D698C-9F10-422F-9730-D8DB01D503EC}" dt="2026-02-05T10:45:46.336" v="5589" actId="47"/>
        <pc:sldMkLst>
          <pc:docMk/>
          <pc:sldMk cId="3239103780" sldId="433"/>
        </pc:sldMkLst>
      </pc:sldChg>
      <pc:sldChg chg="addSp modSp mod addAnim delAnim modAnim">
        <pc:chgData name="Dr Parag D. Pawar" userId="45f730c0-1703-4ce0-909b-efb17736071d" providerId="ADAL" clId="{629D698C-9F10-422F-9730-D8DB01D503EC}" dt="2026-02-05T10:33:01.647" v="5588" actId="20577"/>
        <pc:sldMkLst>
          <pc:docMk/>
          <pc:sldMk cId="2182265387" sldId="502"/>
        </pc:sldMkLst>
        <pc:spChg chg="mod">
          <ac:chgData name="Dr Parag D. Pawar" userId="45f730c0-1703-4ce0-909b-efb17736071d" providerId="ADAL" clId="{629D698C-9F10-422F-9730-D8DB01D503EC}" dt="2026-02-05T10:33:01.647" v="5588" actId="20577"/>
          <ac:spMkLst>
            <pc:docMk/>
            <pc:sldMk cId="2182265387" sldId="502"/>
            <ac:spMk id="3" creationId="{55CC13D2-4D07-7055-96C7-6ED5D32E4DB5}"/>
          </ac:spMkLst>
        </pc:spChg>
        <pc:spChg chg="mod">
          <ac:chgData name="Dr Parag D. Pawar" userId="45f730c0-1703-4ce0-909b-efb17736071d" providerId="ADAL" clId="{629D698C-9F10-422F-9730-D8DB01D503EC}" dt="2026-01-26T13:39:38.864" v="4687" actId="1038"/>
          <ac:spMkLst>
            <pc:docMk/>
            <pc:sldMk cId="2182265387" sldId="502"/>
            <ac:spMk id="23" creationId="{446EB997-7863-DDE3-F408-B26CE911539A}"/>
          </ac:spMkLst>
        </pc:spChg>
        <pc:spChg chg="add mod">
          <ac:chgData name="Dr Parag D. Pawar" userId="45f730c0-1703-4ce0-909b-efb17736071d" providerId="ADAL" clId="{629D698C-9F10-422F-9730-D8DB01D503EC}" dt="2026-01-22T13:29:14.043" v="3637" actId="207"/>
          <ac:spMkLst>
            <pc:docMk/>
            <pc:sldMk cId="2182265387" sldId="502"/>
            <ac:spMk id="24" creationId="{9EA3A999-0C50-CDEE-9B45-2E5AE1698B38}"/>
          </ac:spMkLst>
        </pc:spChg>
        <pc:spChg chg="mod">
          <ac:chgData name="Dr Parag D. Pawar" userId="45f730c0-1703-4ce0-909b-efb17736071d" providerId="ADAL" clId="{629D698C-9F10-422F-9730-D8DB01D503EC}" dt="2026-01-26T13:39:38.864" v="4687" actId="1038"/>
          <ac:spMkLst>
            <pc:docMk/>
            <pc:sldMk cId="2182265387" sldId="502"/>
            <ac:spMk id="26" creationId="{1598CBB3-A98D-B598-07A6-754D3C99CDE8}"/>
          </ac:spMkLst>
        </pc:spChg>
        <pc:spChg chg="mod">
          <ac:chgData name="Dr Parag D. Pawar" userId="45f730c0-1703-4ce0-909b-efb17736071d" providerId="ADAL" clId="{629D698C-9F10-422F-9730-D8DB01D503EC}" dt="2026-01-26T13:39:38.864" v="4687" actId="1038"/>
          <ac:spMkLst>
            <pc:docMk/>
            <pc:sldMk cId="2182265387" sldId="502"/>
            <ac:spMk id="33" creationId="{630B5443-63BC-9FEE-F1E7-9CBDB56CAFDF}"/>
          </ac:spMkLst>
        </pc:spChg>
        <pc:spChg chg="mod">
          <ac:chgData name="Dr Parag D. Pawar" userId="45f730c0-1703-4ce0-909b-efb17736071d" providerId="ADAL" clId="{629D698C-9F10-422F-9730-D8DB01D503EC}" dt="2026-01-26T13:39:38.864" v="4687" actId="1038"/>
          <ac:spMkLst>
            <pc:docMk/>
            <pc:sldMk cId="2182265387" sldId="502"/>
            <ac:spMk id="35" creationId="{3BC36124-5D06-0933-D9A6-D5310506C2C4}"/>
          </ac:spMkLst>
        </pc:spChg>
        <pc:picChg chg="add mod">
          <ac:chgData name="Dr Parag D. Pawar" userId="45f730c0-1703-4ce0-909b-efb17736071d" providerId="ADAL" clId="{629D698C-9F10-422F-9730-D8DB01D503EC}" dt="2026-01-23T04:01:14.954" v="4640" actId="1076"/>
          <ac:picMkLst>
            <pc:docMk/>
            <pc:sldMk cId="2182265387" sldId="502"/>
            <ac:picMk id="18" creationId="{F38F0AF2-9F60-4755-A9B4-7A178F56579B}"/>
          </ac:picMkLst>
        </pc:picChg>
        <pc:cxnChg chg="mod">
          <ac:chgData name="Dr Parag D. Pawar" userId="45f730c0-1703-4ce0-909b-efb17736071d" providerId="ADAL" clId="{629D698C-9F10-422F-9730-D8DB01D503EC}" dt="2026-01-26T13:39:56.500" v="4690" actId="1076"/>
          <ac:cxnSpMkLst>
            <pc:docMk/>
            <pc:sldMk cId="2182265387" sldId="502"/>
            <ac:cxnSpMk id="29" creationId="{D9129E78-6AC9-30B9-C403-8FBA86F6E7D8}"/>
          </ac:cxnSpMkLst>
        </pc:cxnChg>
        <pc:cxnChg chg="mod">
          <ac:chgData name="Dr Parag D. Pawar" userId="45f730c0-1703-4ce0-909b-efb17736071d" providerId="ADAL" clId="{629D698C-9F10-422F-9730-D8DB01D503EC}" dt="2026-01-26T13:40:10.180" v="4694" actId="1036"/>
          <ac:cxnSpMkLst>
            <pc:docMk/>
            <pc:sldMk cId="2182265387" sldId="502"/>
            <ac:cxnSpMk id="31" creationId="{7495211D-CACA-4966-5F30-C8887AE33971}"/>
          </ac:cxnSpMkLst>
        </pc:cxnChg>
      </pc:sldChg>
      <pc:sldChg chg="modSp add mod">
        <pc:chgData name="Dr Parag D. Pawar" userId="45f730c0-1703-4ce0-909b-efb17736071d" providerId="ADAL" clId="{629D698C-9F10-422F-9730-D8DB01D503EC}" dt="2026-01-27T10:06:02.490" v="5587" actId="207"/>
        <pc:sldMkLst>
          <pc:docMk/>
          <pc:sldMk cId="3527469997" sldId="503"/>
        </pc:sldMkLst>
        <pc:spChg chg="mod">
          <ac:chgData name="Dr Parag D. Pawar" userId="45f730c0-1703-4ce0-909b-efb17736071d" providerId="ADAL" clId="{629D698C-9F10-422F-9730-D8DB01D503EC}" dt="2026-01-27T10:06:02.490" v="5587" actId="207"/>
          <ac:spMkLst>
            <pc:docMk/>
            <pc:sldMk cId="3527469997" sldId="503"/>
            <ac:spMk id="2" creationId="{2C33274D-0953-25EB-9977-C9059E38A4D0}"/>
          </ac:spMkLst>
        </pc:spChg>
      </pc:sldChg>
      <pc:sldChg chg="addSp modSp add mod addAnim delAnim modAnim">
        <pc:chgData name="Dr Parag D. Pawar" userId="45f730c0-1703-4ce0-909b-efb17736071d" providerId="ADAL" clId="{629D698C-9F10-422F-9730-D8DB01D503EC}" dt="2026-02-05T12:37:18.146" v="5934"/>
        <pc:sldMkLst>
          <pc:docMk/>
          <pc:sldMk cId="1239103230" sldId="504"/>
        </pc:sldMkLst>
        <pc:spChg chg="mod">
          <ac:chgData name="Dr Parag D. Pawar" userId="45f730c0-1703-4ce0-909b-efb17736071d" providerId="ADAL" clId="{629D698C-9F10-422F-9730-D8DB01D503EC}" dt="2026-01-27T10:05:57.086" v="5585" actId="207"/>
          <ac:spMkLst>
            <pc:docMk/>
            <pc:sldMk cId="1239103230" sldId="504"/>
            <ac:spMk id="2" creationId="{C8DA4CBA-F3BF-7E4F-2393-1EFD90C56CB0}"/>
          </ac:spMkLst>
        </pc:spChg>
        <pc:spChg chg="add mod">
          <ac:chgData name="Dr Parag D. Pawar" userId="45f730c0-1703-4ce0-909b-efb17736071d" providerId="ADAL" clId="{629D698C-9F10-422F-9730-D8DB01D503EC}" dt="2026-02-05T12:36:20.923" v="5925" actId="1076"/>
          <ac:spMkLst>
            <pc:docMk/>
            <pc:sldMk cId="1239103230" sldId="504"/>
            <ac:spMk id="3" creationId="{53EE684C-9FA7-8430-4944-26BF6AACF5FB}"/>
          </ac:spMkLst>
        </pc:spChg>
        <pc:spChg chg="mod">
          <ac:chgData name="Dr Parag D. Pawar" userId="45f730c0-1703-4ce0-909b-efb17736071d" providerId="ADAL" clId="{629D698C-9F10-422F-9730-D8DB01D503EC}" dt="2026-02-05T12:35:43.141" v="5909" actId="20577"/>
          <ac:spMkLst>
            <pc:docMk/>
            <pc:sldMk cId="1239103230" sldId="504"/>
            <ac:spMk id="8" creationId="{C92F589C-E46A-63D4-260D-A9DA3DCB1EF9}"/>
          </ac:spMkLst>
        </pc:spChg>
        <pc:spChg chg="mod">
          <ac:chgData name="Dr Parag D. Pawar" userId="45f730c0-1703-4ce0-909b-efb17736071d" providerId="ADAL" clId="{629D698C-9F10-422F-9730-D8DB01D503EC}" dt="2026-02-05T12:35:42.692" v="5908" actId="20577"/>
          <ac:spMkLst>
            <pc:docMk/>
            <pc:sldMk cId="1239103230" sldId="504"/>
            <ac:spMk id="9" creationId="{0F0AD3DB-4470-3BD1-6C75-A0D5E112E3CB}"/>
          </ac:spMkLst>
        </pc:spChg>
        <pc:spChg chg="mod">
          <ac:chgData name="Dr Parag D. Pawar" userId="45f730c0-1703-4ce0-909b-efb17736071d" providerId="ADAL" clId="{629D698C-9F10-422F-9730-D8DB01D503EC}" dt="2026-02-05T12:37:06.736" v="5930" actId="1076"/>
          <ac:spMkLst>
            <pc:docMk/>
            <pc:sldMk cId="1239103230" sldId="504"/>
            <ac:spMk id="11" creationId="{549E6593-ACE4-28F5-833B-DEF8E88CFAF3}"/>
          </ac:spMkLst>
        </pc:spChg>
        <pc:spChg chg="add mod">
          <ac:chgData name="Dr Parag D. Pawar" userId="45f730c0-1703-4ce0-909b-efb17736071d" providerId="ADAL" clId="{629D698C-9F10-422F-9730-D8DB01D503EC}" dt="2026-02-05T12:37:12.120" v="5932" actId="1076"/>
          <ac:spMkLst>
            <pc:docMk/>
            <pc:sldMk cId="1239103230" sldId="504"/>
            <ac:spMk id="12" creationId="{F8992D8B-718D-EFF8-3906-D9F8227ADA31}"/>
          </ac:spMkLst>
        </pc:spChg>
        <pc:spChg chg="mod">
          <ac:chgData name="Dr Parag D. Pawar" userId="45f730c0-1703-4ce0-909b-efb17736071d" providerId="ADAL" clId="{629D698C-9F10-422F-9730-D8DB01D503EC}" dt="2026-02-05T12:35:44.302" v="5911" actId="20577"/>
          <ac:spMkLst>
            <pc:docMk/>
            <pc:sldMk cId="1239103230" sldId="504"/>
            <ac:spMk id="18" creationId="{257E783C-3792-6D2B-000E-5C2D9D96CC50}"/>
          </ac:spMkLst>
        </pc:spChg>
        <pc:spChg chg="mod">
          <ac:chgData name="Dr Parag D. Pawar" userId="45f730c0-1703-4ce0-909b-efb17736071d" providerId="ADAL" clId="{629D698C-9F10-422F-9730-D8DB01D503EC}" dt="2026-02-05T12:35:44.676" v="5912" actId="20577"/>
          <ac:spMkLst>
            <pc:docMk/>
            <pc:sldMk cId="1239103230" sldId="504"/>
            <ac:spMk id="19" creationId="{DC0E320A-73CA-C6A0-6869-A713D205AC97}"/>
          </ac:spMkLst>
        </pc:spChg>
        <pc:spChg chg="mod">
          <ac:chgData name="Dr Parag D. Pawar" userId="45f730c0-1703-4ce0-909b-efb17736071d" providerId="ADAL" clId="{629D698C-9F10-422F-9730-D8DB01D503EC}" dt="2026-02-05T12:35:43.844" v="5910" actId="20577"/>
          <ac:spMkLst>
            <pc:docMk/>
            <pc:sldMk cId="1239103230" sldId="504"/>
            <ac:spMk id="20" creationId="{8C3DC64F-91A3-A199-CAB1-6C023C49D908}"/>
          </ac:spMkLst>
        </pc:spChg>
      </pc:sldChg>
      <pc:sldChg chg="add">
        <pc:chgData name="Dr Parag D. Pawar" userId="45f730c0-1703-4ce0-909b-efb17736071d" providerId="ADAL" clId="{629D698C-9F10-422F-9730-D8DB01D503EC}" dt="2026-01-26T13:51:02.486" v="4699"/>
        <pc:sldMkLst>
          <pc:docMk/>
          <pc:sldMk cId="2411340388" sldId="505"/>
        </pc:sldMkLst>
      </pc:sldChg>
      <pc:sldChg chg="add">
        <pc:chgData name="Dr Parag D. Pawar" userId="45f730c0-1703-4ce0-909b-efb17736071d" providerId="ADAL" clId="{629D698C-9F10-422F-9730-D8DB01D503EC}" dt="2026-01-26T13:51:02.486" v="4699"/>
        <pc:sldMkLst>
          <pc:docMk/>
          <pc:sldMk cId="3480859703" sldId="506"/>
        </pc:sldMkLst>
      </pc:sldChg>
      <pc:sldChg chg="add">
        <pc:chgData name="Dr Parag D. Pawar" userId="45f730c0-1703-4ce0-909b-efb17736071d" providerId="ADAL" clId="{629D698C-9F10-422F-9730-D8DB01D503EC}" dt="2026-01-26T13:51:02.486" v="4699"/>
        <pc:sldMkLst>
          <pc:docMk/>
          <pc:sldMk cId="2237457411" sldId="507"/>
        </pc:sldMkLst>
      </pc:sldChg>
      <pc:sldChg chg="add">
        <pc:chgData name="Dr Parag D. Pawar" userId="45f730c0-1703-4ce0-909b-efb17736071d" providerId="ADAL" clId="{629D698C-9F10-422F-9730-D8DB01D503EC}" dt="2026-01-26T13:51:02.486" v="4699"/>
        <pc:sldMkLst>
          <pc:docMk/>
          <pc:sldMk cId="2167852346" sldId="508"/>
        </pc:sldMkLst>
      </pc:sldChg>
      <pc:sldChg chg="add">
        <pc:chgData name="Dr Parag D. Pawar" userId="45f730c0-1703-4ce0-909b-efb17736071d" providerId="ADAL" clId="{629D698C-9F10-422F-9730-D8DB01D503EC}" dt="2026-01-26T13:51:02.486" v="4699"/>
        <pc:sldMkLst>
          <pc:docMk/>
          <pc:sldMk cId="831997887" sldId="509"/>
        </pc:sldMkLst>
      </pc:sldChg>
      <pc:sldChg chg="delSp mod delAnim">
        <pc:chgData name="Dr Parag D. Pawar" userId="45f730c0-1703-4ce0-909b-efb17736071d" providerId="ADAL" clId="{629D698C-9F10-422F-9730-D8DB01D503EC}" dt="2026-02-06T02:39:38.502" v="6171" actId="21"/>
        <pc:sldMkLst>
          <pc:docMk/>
          <pc:sldMk cId="3852828328" sldId="510"/>
        </pc:sldMkLst>
        <pc:picChg chg="del">
          <ac:chgData name="Dr Parag D. Pawar" userId="45f730c0-1703-4ce0-909b-efb17736071d" providerId="ADAL" clId="{629D698C-9F10-422F-9730-D8DB01D503EC}" dt="2026-02-06T02:39:38.502" v="6171" actId="21"/>
          <ac:picMkLst>
            <pc:docMk/>
            <pc:sldMk cId="3852828328" sldId="510"/>
            <ac:picMk id="23" creationId="{4F8A1BAE-C8B9-8064-5FB0-B4CA4BA167CF}"/>
          </ac:picMkLst>
        </pc:picChg>
      </pc:sldChg>
      <pc:sldMasterChg chg="del delSldLayout">
        <pc:chgData name="Dr Parag D. Pawar" userId="45f730c0-1703-4ce0-909b-efb17736071d" providerId="ADAL" clId="{629D698C-9F10-422F-9730-D8DB01D503EC}" dt="2026-02-05T10:45:46.336" v="5589" actId="47"/>
        <pc:sldMasterMkLst>
          <pc:docMk/>
          <pc:sldMasterMk cId="2255930870" sldId="2147483672"/>
        </pc:sldMasterMkLst>
        <pc:sldLayoutChg chg="del">
          <pc:chgData name="Dr Parag D. Pawar" userId="45f730c0-1703-4ce0-909b-efb17736071d" providerId="ADAL" clId="{629D698C-9F10-422F-9730-D8DB01D503EC}" dt="2026-02-05T10:45:46.336" v="5589" actId="47"/>
          <pc:sldLayoutMkLst>
            <pc:docMk/>
            <pc:sldMasterMk cId="2255930870" sldId="2147483672"/>
            <pc:sldLayoutMk cId="3403637703" sldId="2147483673"/>
          </pc:sldLayoutMkLst>
        </pc:sldLayoutChg>
        <pc:sldLayoutChg chg="del">
          <pc:chgData name="Dr Parag D. Pawar" userId="45f730c0-1703-4ce0-909b-efb17736071d" providerId="ADAL" clId="{629D698C-9F10-422F-9730-D8DB01D503EC}" dt="2026-02-05T10:45:46.336" v="5589" actId="47"/>
          <pc:sldLayoutMkLst>
            <pc:docMk/>
            <pc:sldMasterMk cId="2255930870" sldId="2147483672"/>
            <pc:sldLayoutMk cId="2335965307" sldId="2147483674"/>
          </pc:sldLayoutMkLst>
        </pc:sldLayoutChg>
        <pc:sldLayoutChg chg="del">
          <pc:chgData name="Dr Parag D. Pawar" userId="45f730c0-1703-4ce0-909b-efb17736071d" providerId="ADAL" clId="{629D698C-9F10-422F-9730-D8DB01D503EC}" dt="2026-02-05T10:45:46.336" v="5589" actId="47"/>
          <pc:sldLayoutMkLst>
            <pc:docMk/>
            <pc:sldMasterMk cId="2255930870" sldId="2147483672"/>
            <pc:sldLayoutMk cId="2104249889" sldId="2147483675"/>
          </pc:sldLayoutMkLst>
        </pc:sldLayoutChg>
        <pc:sldLayoutChg chg="del">
          <pc:chgData name="Dr Parag D. Pawar" userId="45f730c0-1703-4ce0-909b-efb17736071d" providerId="ADAL" clId="{629D698C-9F10-422F-9730-D8DB01D503EC}" dt="2026-02-05T10:45:46.336" v="5589" actId="47"/>
          <pc:sldLayoutMkLst>
            <pc:docMk/>
            <pc:sldMasterMk cId="2255930870" sldId="2147483672"/>
            <pc:sldLayoutMk cId="2860948943" sldId="2147483676"/>
          </pc:sldLayoutMkLst>
        </pc:sldLayoutChg>
        <pc:sldLayoutChg chg="del">
          <pc:chgData name="Dr Parag D. Pawar" userId="45f730c0-1703-4ce0-909b-efb17736071d" providerId="ADAL" clId="{629D698C-9F10-422F-9730-D8DB01D503EC}" dt="2026-02-05T10:45:46.336" v="5589" actId="47"/>
          <pc:sldLayoutMkLst>
            <pc:docMk/>
            <pc:sldMasterMk cId="2255930870" sldId="2147483672"/>
            <pc:sldLayoutMk cId="3883729028" sldId="2147483677"/>
          </pc:sldLayoutMkLst>
        </pc:sldLayoutChg>
        <pc:sldLayoutChg chg="del">
          <pc:chgData name="Dr Parag D. Pawar" userId="45f730c0-1703-4ce0-909b-efb17736071d" providerId="ADAL" clId="{629D698C-9F10-422F-9730-D8DB01D503EC}" dt="2026-02-05T10:45:46.336" v="5589" actId="47"/>
          <pc:sldLayoutMkLst>
            <pc:docMk/>
            <pc:sldMasterMk cId="2255930870" sldId="2147483672"/>
            <pc:sldLayoutMk cId="3015577305" sldId="2147483678"/>
          </pc:sldLayoutMkLst>
        </pc:sldLayoutChg>
        <pc:sldLayoutChg chg="del">
          <pc:chgData name="Dr Parag D. Pawar" userId="45f730c0-1703-4ce0-909b-efb17736071d" providerId="ADAL" clId="{629D698C-9F10-422F-9730-D8DB01D503EC}" dt="2026-02-05T10:45:46.336" v="5589" actId="47"/>
          <pc:sldLayoutMkLst>
            <pc:docMk/>
            <pc:sldMasterMk cId="2255930870" sldId="2147483672"/>
            <pc:sldLayoutMk cId="1587577564" sldId="2147483679"/>
          </pc:sldLayoutMkLst>
        </pc:sldLayoutChg>
        <pc:sldLayoutChg chg="del">
          <pc:chgData name="Dr Parag D. Pawar" userId="45f730c0-1703-4ce0-909b-efb17736071d" providerId="ADAL" clId="{629D698C-9F10-422F-9730-D8DB01D503EC}" dt="2026-02-05T10:45:46.336" v="5589" actId="47"/>
          <pc:sldLayoutMkLst>
            <pc:docMk/>
            <pc:sldMasterMk cId="2255930870" sldId="2147483672"/>
            <pc:sldLayoutMk cId="4156566692" sldId="2147483680"/>
          </pc:sldLayoutMkLst>
        </pc:sldLayoutChg>
        <pc:sldLayoutChg chg="del">
          <pc:chgData name="Dr Parag D. Pawar" userId="45f730c0-1703-4ce0-909b-efb17736071d" providerId="ADAL" clId="{629D698C-9F10-422F-9730-D8DB01D503EC}" dt="2026-02-05T10:45:46.336" v="5589" actId="47"/>
          <pc:sldLayoutMkLst>
            <pc:docMk/>
            <pc:sldMasterMk cId="2255930870" sldId="2147483672"/>
            <pc:sldLayoutMk cId="2027250009" sldId="2147483681"/>
          </pc:sldLayoutMkLst>
        </pc:sldLayoutChg>
        <pc:sldLayoutChg chg="del">
          <pc:chgData name="Dr Parag D. Pawar" userId="45f730c0-1703-4ce0-909b-efb17736071d" providerId="ADAL" clId="{629D698C-9F10-422F-9730-D8DB01D503EC}" dt="2026-02-05T10:45:46.336" v="5589" actId="47"/>
          <pc:sldLayoutMkLst>
            <pc:docMk/>
            <pc:sldMasterMk cId="2255930870" sldId="2147483672"/>
            <pc:sldLayoutMk cId="2166910887" sldId="2147483682"/>
          </pc:sldLayoutMkLst>
        </pc:sldLayoutChg>
        <pc:sldLayoutChg chg="del">
          <pc:chgData name="Dr Parag D. Pawar" userId="45f730c0-1703-4ce0-909b-efb17736071d" providerId="ADAL" clId="{629D698C-9F10-422F-9730-D8DB01D503EC}" dt="2026-02-05T10:45:46.336" v="5589" actId="47"/>
          <pc:sldLayoutMkLst>
            <pc:docMk/>
            <pc:sldMasterMk cId="2255930870" sldId="2147483672"/>
            <pc:sldLayoutMk cId="300068403" sldId="2147483683"/>
          </pc:sldLayoutMkLst>
        </pc:sldLayoutChg>
      </pc:sldMasterChg>
    </pc:docChg>
  </pc:docChgLst>
  <pc:docChgLst>
    <pc:chgData name="Dr Parag D. Pawar" userId="45f730c0-1703-4ce0-909b-efb17736071d" providerId="ADAL" clId="{CD4D9D87-25C2-47DB-AE56-A86177B2B98E}"/>
    <pc:docChg chg="undo redo custSel addSld delSld modSld sldOrd delMainMaster">
      <pc:chgData name="Dr Parag D. Pawar" userId="45f730c0-1703-4ce0-909b-efb17736071d" providerId="ADAL" clId="{CD4D9D87-25C2-47DB-AE56-A86177B2B98E}" dt="2026-02-05T00:39:43.931" v="3581" actId="47"/>
      <pc:docMkLst>
        <pc:docMk/>
      </pc:docMkLst>
      <pc:sldChg chg="addSp modSp mod addAnim delAnim modAnim">
        <pc:chgData name="Dr Parag D. Pawar" userId="45f730c0-1703-4ce0-909b-efb17736071d" providerId="ADAL" clId="{CD4D9D87-25C2-47DB-AE56-A86177B2B98E}" dt="2026-01-29T06:37:06.557" v="3525" actId="14100"/>
        <pc:sldMkLst>
          <pc:docMk/>
          <pc:sldMk cId="805496168" sldId="348"/>
        </pc:sldMkLst>
        <pc:spChg chg="mod">
          <ac:chgData name="Dr Parag D. Pawar" userId="45f730c0-1703-4ce0-909b-efb17736071d" providerId="ADAL" clId="{CD4D9D87-25C2-47DB-AE56-A86177B2B98E}" dt="2026-01-29T06:33:42.566" v="3430" actId="1076"/>
          <ac:spMkLst>
            <pc:docMk/>
            <pc:sldMk cId="805496168" sldId="348"/>
            <ac:spMk id="4" creationId="{0100A074-AC22-9683-BB5F-39DB9BF1FB11}"/>
          </ac:spMkLst>
        </pc:spChg>
        <pc:spChg chg="add mod">
          <ac:chgData name="Dr Parag D. Pawar" userId="45f730c0-1703-4ce0-909b-efb17736071d" providerId="ADAL" clId="{CD4D9D87-25C2-47DB-AE56-A86177B2B98E}" dt="2026-01-28T14:09:57.100" v="3270"/>
          <ac:spMkLst>
            <pc:docMk/>
            <pc:sldMk cId="805496168" sldId="348"/>
            <ac:spMk id="7" creationId="{FA8E4497-6672-0A71-C324-B83831B9FFE8}"/>
          </ac:spMkLst>
        </pc:spChg>
        <pc:spChg chg="add mod">
          <ac:chgData name="Dr Parag D. Pawar" userId="45f730c0-1703-4ce0-909b-efb17736071d" providerId="ADAL" clId="{CD4D9D87-25C2-47DB-AE56-A86177B2B98E}" dt="2026-01-29T06:33:46.863" v="3431" actId="1076"/>
          <ac:spMkLst>
            <pc:docMk/>
            <pc:sldMk cId="805496168" sldId="348"/>
            <ac:spMk id="8" creationId="{38F403B6-3C4E-37F0-BC22-1F3615674312}"/>
          </ac:spMkLst>
        </pc:spChg>
        <pc:spChg chg="add mod">
          <ac:chgData name="Dr Parag D. Pawar" userId="45f730c0-1703-4ce0-909b-efb17736071d" providerId="ADAL" clId="{CD4D9D87-25C2-47DB-AE56-A86177B2B98E}" dt="2026-01-29T06:33:46.863" v="3431" actId="1076"/>
          <ac:spMkLst>
            <pc:docMk/>
            <pc:sldMk cId="805496168" sldId="348"/>
            <ac:spMk id="9" creationId="{C7073F7E-AA1A-795F-4161-3EE1B3A72D9B}"/>
          </ac:spMkLst>
        </pc:spChg>
        <pc:spChg chg="add mod">
          <ac:chgData name="Dr Parag D. Pawar" userId="45f730c0-1703-4ce0-909b-efb17736071d" providerId="ADAL" clId="{CD4D9D87-25C2-47DB-AE56-A86177B2B98E}" dt="2026-01-29T06:33:46.863" v="3431" actId="1076"/>
          <ac:spMkLst>
            <pc:docMk/>
            <pc:sldMk cId="805496168" sldId="348"/>
            <ac:spMk id="10" creationId="{48565498-1485-1E33-FAAE-7E7D6A710B32}"/>
          </ac:spMkLst>
        </pc:spChg>
        <pc:spChg chg="add mod">
          <ac:chgData name="Dr Parag D. Pawar" userId="45f730c0-1703-4ce0-909b-efb17736071d" providerId="ADAL" clId="{CD4D9D87-25C2-47DB-AE56-A86177B2B98E}" dt="2026-01-29T06:33:46.863" v="3431" actId="1076"/>
          <ac:spMkLst>
            <pc:docMk/>
            <pc:sldMk cId="805496168" sldId="348"/>
            <ac:spMk id="11" creationId="{7616A385-C644-7565-C504-FA3EEEC696D4}"/>
          </ac:spMkLst>
        </pc:spChg>
        <pc:spChg chg="add mod">
          <ac:chgData name="Dr Parag D. Pawar" userId="45f730c0-1703-4ce0-909b-efb17736071d" providerId="ADAL" clId="{CD4D9D87-25C2-47DB-AE56-A86177B2B98E}" dt="2026-01-29T06:34:03.926" v="3435" actId="13822"/>
          <ac:spMkLst>
            <pc:docMk/>
            <pc:sldMk cId="805496168" sldId="348"/>
            <ac:spMk id="12" creationId="{8FC059CB-C5D7-2067-917D-2FA07FC8B5CD}"/>
          </ac:spMkLst>
        </pc:spChg>
        <pc:spChg chg="add mod">
          <ac:chgData name="Dr Parag D. Pawar" userId="45f730c0-1703-4ce0-909b-efb17736071d" providerId="ADAL" clId="{CD4D9D87-25C2-47DB-AE56-A86177B2B98E}" dt="2026-01-29T06:35:44.773" v="3502" actId="1076"/>
          <ac:spMkLst>
            <pc:docMk/>
            <pc:sldMk cId="805496168" sldId="348"/>
            <ac:spMk id="13" creationId="{8F73E3D5-1183-DE41-D657-703671DB4298}"/>
          </ac:spMkLst>
        </pc:spChg>
        <pc:spChg chg="add mod">
          <ac:chgData name="Dr Parag D. Pawar" userId="45f730c0-1703-4ce0-909b-efb17736071d" providerId="ADAL" clId="{CD4D9D87-25C2-47DB-AE56-A86177B2B98E}" dt="2026-01-29T06:37:06.557" v="3525" actId="14100"/>
          <ac:spMkLst>
            <pc:docMk/>
            <pc:sldMk cId="805496168" sldId="348"/>
            <ac:spMk id="14" creationId="{B4C08BC7-C75B-8261-45BC-2E3FAAA84E89}"/>
          </ac:spMkLst>
        </pc:spChg>
      </pc:sldChg>
      <pc:sldChg chg="addSp delSp modSp mod addAnim delAnim modAnim">
        <pc:chgData name="Dr Parag D. Pawar" userId="45f730c0-1703-4ce0-909b-efb17736071d" providerId="ADAL" clId="{CD4D9D87-25C2-47DB-AE56-A86177B2B98E}" dt="2026-01-29T06:46:28.366" v="3568"/>
        <pc:sldMkLst>
          <pc:docMk/>
          <pc:sldMk cId="1341103859" sldId="354"/>
        </pc:sldMkLst>
        <pc:spChg chg="add mod">
          <ac:chgData name="Dr Parag D. Pawar" userId="45f730c0-1703-4ce0-909b-efb17736071d" providerId="ADAL" clId="{CD4D9D87-25C2-47DB-AE56-A86177B2B98E}" dt="2026-01-28T14:10:33.955" v="3274"/>
          <ac:spMkLst>
            <pc:docMk/>
            <pc:sldMk cId="1341103859" sldId="354"/>
            <ac:spMk id="4" creationId="{529F190E-673C-D562-DA96-85A431B17B04}"/>
          </ac:spMkLst>
        </pc:spChg>
        <pc:spChg chg="mod">
          <ac:chgData name="Dr Parag D. Pawar" userId="45f730c0-1703-4ce0-909b-efb17736071d" providerId="ADAL" clId="{CD4D9D87-25C2-47DB-AE56-A86177B2B98E}" dt="2026-01-29T06:44:38.290" v="3562" actId="20577"/>
          <ac:spMkLst>
            <pc:docMk/>
            <pc:sldMk cId="1341103859" sldId="354"/>
            <ac:spMk id="45" creationId="{85D50FA0-8DAD-B366-CF7D-09B49FF66449}"/>
          </ac:spMkLst>
        </pc:spChg>
        <pc:spChg chg="mod">
          <ac:chgData name="Dr Parag D. Pawar" userId="45f730c0-1703-4ce0-909b-efb17736071d" providerId="ADAL" clId="{CD4D9D87-25C2-47DB-AE56-A86177B2B98E}" dt="2026-01-29T06:44:35.225" v="3560" actId="1076"/>
          <ac:spMkLst>
            <pc:docMk/>
            <pc:sldMk cId="1341103859" sldId="354"/>
            <ac:spMk id="46" creationId="{95BF9EC5-4F37-4952-DE4D-8E2178E1D6C3}"/>
          </ac:spMkLst>
        </pc:spChg>
      </pc:sldChg>
      <pc:sldChg chg="addSp modSp">
        <pc:chgData name="Dr Parag D. Pawar" userId="45f730c0-1703-4ce0-909b-efb17736071d" providerId="ADAL" clId="{CD4D9D87-25C2-47DB-AE56-A86177B2B98E}" dt="2026-01-28T14:10:38.139" v="3276"/>
        <pc:sldMkLst>
          <pc:docMk/>
          <pc:sldMk cId="3831798435" sldId="355"/>
        </pc:sldMkLst>
        <pc:spChg chg="add mod">
          <ac:chgData name="Dr Parag D. Pawar" userId="45f730c0-1703-4ce0-909b-efb17736071d" providerId="ADAL" clId="{CD4D9D87-25C2-47DB-AE56-A86177B2B98E}" dt="2026-01-28T14:10:38.139" v="3276"/>
          <ac:spMkLst>
            <pc:docMk/>
            <pc:sldMk cId="3831798435" sldId="355"/>
            <ac:spMk id="15" creationId="{D8552A7A-CB86-5944-8DE8-3CD3FD3BABE9}"/>
          </ac:spMkLst>
        </pc:spChg>
      </pc:sldChg>
      <pc:sldChg chg="modSp mod ord modAnim">
        <pc:chgData name="Dr Parag D. Pawar" userId="45f730c0-1703-4ce0-909b-efb17736071d" providerId="ADAL" clId="{CD4D9D87-25C2-47DB-AE56-A86177B2B98E}" dt="2026-01-29T06:37:15.218" v="3530"/>
        <pc:sldMkLst>
          <pc:docMk/>
          <pc:sldMk cId="1049634138" sldId="367"/>
        </pc:sldMkLst>
        <pc:spChg chg="mod">
          <ac:chgData name="Dr Parag D. Pawar" userId="45f730c0-1703-4ce0-909b-efb17736071d" providerId="ADAL" clId="{CD4D9D87-25C2-47DB-AE56-A86177B2B98E}" dt="2026-01-25T12:43:50.670" v="3071" actId="207"/>
          <ac:spMkLst>
            <pc:docMk/>
            <pc:sldMk cId="1049634138" sldId="367"/>
            <ac:spMk id="2" creationId="{17A7C143-D24B-2579-EAE4-77E256383DC5}"/>
          </ac:spMkLst>
        </pc:spChg>
      </pc:sldChg>
      <pc:sldChg chg="addSp delSp modSp del mod">
        <pc:chgData name="Dr Parag D. Pawar" userId="45f730c0-1703-4ce0-909b-efb17736071d" providerId="ADAL" clId="{CD4D9D87-25C2-47DB-AE56-A86177B2B98E}" dt="2026-02-05T00:39:43.931" v="3581" actId="47"/>
        <pc:sldMkLst>
          <pc:docMk/>
          <pc:sldMk cId="839425313" sldId="375"/>
        </pc:sldMkLst>
        <pc:spChg chg="mod">
          <ac:chgData name="Dr Parag D. Pawar" userId="45f730c0-1703-4ce0-909b-efb17736071d" providerId="ADAL" clId="{CD4D9D87-25C2-47DB-AE56-A86177B2B98E}" dt="2026-02-05T00:38:53.375" v="3576" actId="207"/>
          <ac:spMkLst>
            <pc:docMk/>
            <pc:sldMk cId="839425313" sldId="375"/>
            <ac:spMk id="27" creationId="{37C2F1AA-EA5B-4F5E-4970-D29B3F1392B5}"/>
          </ac:spMkLst>
        </pc:spChg>
        <pc:spChg chg="mod">
          <ac:chgData name="Dr Parag D. Pawar" userId="45f730c0-1703-4ce0-909b-efb17736071d" providerId="ADAL" clId="{CD4D9D87-25C2-47DB-AE56-A86177B2B98E}" dt="2026-02-05T00:38:57.172" v="3578" actId="207"/>
          <ac:spMkLst>
            <pc:docMk/>
            <pc:sldMk cId="839425313" sldId="375"/>
            <ac:spMk id="28" creationId="{1B3534C7-93B4-650E-8283-4B3C2F10C646}"/>
          </ac:spMkLst>
        </pc:spChg>
        <pc:grpChg chg="add del mod">
          <ac:chgData name="Dr Parag D. Pawar" userId="45f730c0-1703-4ce0-909b-efb17736071d" providerId="ADAL" clId="{CD4D9D87-25C2-47DB-AE56-A86177B2B98E}" dt="2026-02-05T00:39:25.490" v="3580" actId="478"/>
          <ac:grpSpMkLst>
            <pc:docMk/>
            <pc:sldMk cId="839425313" sldId="375"/>
            <ac:grpSpMk id="24" creationId="{7ACDD2F2-C87F-8331-486E-97AC27F6BFA4}"/>
          </ac:grpSpMkLst>
        </pc:grpChg>
        <pc:graphicFrameChg chg="mod">
          <ac:chgData name="Dr Parag D. Pawar" userId="45f730c0-1703-4ce0-909b-efb17736071d" providerId="ADAL" clId="{CD4D9D87-25C2-47DB-AE56-A86177B2B98E}" dt="2026-02-05T00:38:37.155" v="3574"/>
          <ac:graphicFrameMkLst>
            <pc:docMk/>
            <pc:sldMk cId="839425313" sldId="375"/>
            <ac:graphicFrameMk id="25" creationId="{B0F75778-6C9E-E18C-5A19-9EAACD5DC567}"/>
          </ac:graphicFrameMkLst>
        </pc:graphicFrameChg>
      </pc:sldChg>
      <pc:sldChg chg="addSp delSp modSp add mod ord addAnim delAnim modAnim">
        <pc:chgData name="Dr Parag D. Pawar" userId="45f730c0-1703-4ce0-909b-efb17736071d" providerId="ADAL" clId="{CD4D9D87-25C2-47DB-AE56-A86177B2B98E}" dt="2026-01-29T06:26:54.010" v="3375"/>
        <pc:sldMkLst>
          <pc:docMk/>
          <pc:sldMk cId="2182265387" sldId="502"/>
        </pc:sldMkLst>
        <pc:spChg chg="mod">
          <ac:chgData name="Dr Parag D. Pawar" userId="45f730c0-1703-4ce0-909b-efb17736071d" providerId="ADAL" clId="{CD4D9D87-25C2-47DB-AE56-A86177B2B98E}" dt="2026-01-28T14:07:46.011" v="3240" actId="20577"/>
          <ac:spMkLst>
            <pc:docMk/>
            <pc:sldMk cId="2182265387" sldId="502"/>
            <ac:spMk id="3" creationId="{55CC13D2-4D07-7055-96C7-6ED5D32E4DB5}"/>
          </ac:spMkLst>
        </pc:spChg>
        <pc:spChg chg="add mod">
          <ac:chgData name="Dr Parag D. Pawar" userId="45f730c0-1703-4ce0-909b-efb17736071d" providerId="ADAL" clId="{CD4D9D87-25C2-47DB-AE56-A86177B2B98E}" dt="2026-01-29T06:22:05.381" v="3335" actId="14100"/>
          <ac:spMkLst>
            <pc:docMk/>
            <pc:sldMk cId="2182265387" sldId="502"/>
            <ac:spMk id="6" creationId="{01A272D5-F944-7423-BA53-89B3E8FF4BC8}"/>
          </ac:spMkLst>
        </pc:spChg>
        <pc:spChg chg="add mod">
          <ac:chgData name="Dr Parag D. Pawar" userId="45f730c0-1703-4ce0-909b-efb17736071d" providerId="ADAL" clId="{CD4D9D87-25C2-47DB-AE56-A86177B2B98E}" dt="2026-01-29T06:21:52.216" v="3334" actId="1076"/>
          <ac:spMkLst>
            <pc:docMk/>
            <pc:sldMk cId="2182265387" sldId="502"/>
            <ac:spMk id="12" creationId="{27533743-F3AC-7E08-DB0E-492320E5612D}"/>
          </ac:spMkLst>
        </pc:spChg>
        <pc:spChg chg="add mod">
          <ac:chgData name="Dr Parag D. Pawar" userId="45f730c0-1703-4ce0-909b-efb17736071d" providerId="ADAL" clId="{CD4D9D87-25C2-47DB-AE56-A86177B2B98E}" dt="2026-01-29T06:26:46.472" v="3373" actId="13822"/>
          <ac:spMkLst>
            <pc:docMk/>
            <pc:sldMk cId="2182265387" sldId="502"/>
            <ac:spMk id="13" creationId="{2F576229-6204-FE22-784A-2F366648DEA3}"/>
          </ac:spMkLst>
        </pc:spChg>
        <pc:spChg chg="add mod">
          <ac:chgData name="Dr Parag D. Pawar" userId="45f730c0-1703-4ce0-909b-efb17736071d" providerId="ADAL" clId="{CD4D9D87-25C2-47DB-AE56-A86177B2B98E}" dt="2026-01-25T12:42:53.637" v="3037" actId="20577"/>
          <ac:spMkLst>
            <pc:docMk/>
            <pc:sldMk cId="2182265387" sldId="502"/>
            <ac:spMk id="21" creationId="{2D4C3117-1A5E-532E-1BD6-2BE065C98D9C}"/>
          </ac:spMkLst>
        </pc:spChg>
        <pc:spChg chg="add mod">
          <ac:chgData name="Dr Parag D. Pawar" userId="45f730c0-1703-4ce0-909b-efb17736071d" providerId="ADAL" clId="{CD4D9D87-25C2-47DB-AE56-A86177B2B98E}" dt="2026-01-26T04:43:07.505" v="3199" actId="114"/>
          <ac:spMkLst>
            <pc:docMk/>
            <pc:sldMk cId="2182265387" sldId="502"/>
            <ac:spMk id="22" creationId="{192D1E3A-EBE2-AE99-600B-C4F642F8C4BC}"/>
          </ac:spMkLst>
        </pc:spChg>
        <pc:spChg chg="add mod">
          <ac:chgData name="Dr Parag D. Pawar" userId="45f730c0-1703-4ce0-909b-efb17736071d" providerId="ADAL" clId="{CD4D9D87-25C2-47DB-AE56-A86177B2B98E}" dt="2026-01-25T12:48:49.223" v="3099" actId="1076"/>
          <ac:spMkLst>
            <pc:docMk/>
            <pc:sldMk cId="2182265387" sldId="502"/>
            <ac:spMk id="23" creationId="{446EB997-7863-DDE3-F408-B26CE911539A}"/>
          </ac:spMkLst>
        </pc:spChg>
        <pc:spChg chg="mod">
          <ac:chgData name="Dr Parag D. Pawar" userId="45f730c0-1703-4ce0-909b-efb17736071d" providerId="ADAL" clId="{CD4D9D87-25C2-47DB-AE56-A86177B2B98E}" dt="2026-01-25T12:48:49.223" v="3099" actId="1076"/>
          <ac:spMkLst>
            <pc:docMk/>
            <pc:sldMk cId="2182265387" sldId="502"/>
            <ac:spMk id="24" creationId="{9EA3A999-0C50-CDEE-9B45-2E5AE1698B38}"/>
          </ac:spMkLst>
        </pc:spChg>
        <pc:spChg chg="add mod">
          <ac:chgData name="Dr Parag D. Pawar" userId="45f730c0-1703-4ce0-909b-efb17736071d" providerId="ADAL" clId="{CD4D9D87-25C2-47DB-AE56-A86177B2B98E}" dt="2026-01-25T12:49:23.934" v="3105" actId="20577"/>
          <ac:spMkLst>
            <pc:docMk/>
            <pc:sldMk cId="2182265387" sldId="502"/>
            <ac:spMk id="26" creationId="{1598CBB3-A98D-B598-07A6-754D3C99CDE8}"/>
          </ac:spMkLst>
        </pc:spChg>
        <pc:spChg chg="add mod">
          <ac:chgData name="Dr Parag D. Pawar" userId="45f730c0-1703-4ce0-909b-efb17736071d" providerId="ADAL" clId="{CD4D9D87-25C2-47DB-AE56-A86177B2B98E}" dt="2026-01-29T06:21:17.679" v="3316" actId="1076"/>
          <ac:spMkLst>
            <pc:docMk/>
            <pc:sldMk cId="2182265387" sldId="502"/>
            <ac:spMk id="33" creationId="{630B5443-63BC-9FEE-F1E7-9CBDB56CAFDF}"/>
          </ac:spMkLst>
        </pc:spChg>
        <pc:spChg chg="add">
          <ac:chgData name="Dr Parag D. Pawar" userId="45f730c0-1703-4ce0-909b-efb17736071d" providerId="ADAL" clId="{CD4D9D87-25C2-47DB-AE56-A86177B2B98E}" dt="2026-01-25T12:49:18.065" v="3104" actId="11529"/>
          <ac:spMkLst>
            <pc:docMk/>
            <pc:sldMk cId="2182265387" sldId="502"/>
            <ac:spMk id="35" creationId="{3BC36124-5D06-0933-D9A6-D5310506C2C4}"/>
          </ac:spMkLst>
        </pc:spChg>
        <pc:picChg chg="mod">
          <ac:chgData name="Dr Parag D. Pawar" userId="45f730c0-1703-4ce0-909b-efb17736071d" providerId="ADAL" clId="{CD4D9D87-25C2-47DB-AE56-A86177B2B98E}" dt="2026-01-25T12:33:20.330" v="2746" actId="1076"/>
          <ac:picMkLst>
            <pc:docMk/>
            <pc:sldMk cId="2182265387" sldId="502"/>
            <ac:picMk id="18" creationId="{F38F0AF2-9F60-4755-A9B4-7A178F56579B}"/>
          </ac:picMkLst>
        </pc:picChg>
        <pc:cxnChg chg="add mod">
          <ac:chgData name="Dr Parag D. Pawar" userId="45f730c0-1703-4ce0-909b-efb17736071d" providerId="ADAL" clId="{CD4D9D87-25C2-47DB-AE56-A86177B2B98E}" dt="2026-01-29T06:21:24.997" v="3318" actId="1076"/>
          <ac:cxnSpMkLst>
            <pc:docMk/>
            <pc:sldMk cId="2182265387" sldId="502"/>
            <ac:cxnSpMk id="5" creationId="{449116EA-7753-4602-0391-B34E9C5400EF}"/>
          </ac:cxnSpMkLst>
        </pc:cxnChg>
        <pc:cxnChg chg="add mod">
          <ac:chgData name="Dr Parag D. Pawar" userId="45f730c0-1703-4ce0-909b-efb17736071d" providerId="ADAL" clId="{CD4D9D87-25C2-47DB-AE56-A86177B2B98E}" dt="2026-01-25T12:48:49.223" v="3099" actId="1076"/>
          <ac:cxnSpMkLst>
            <pc:docMk/>
            <pc:sldMk cId="2182265387" sldId="502"/>
            <ac:cxnSpMk id="29" creationId="{D9129E78-6AC9-30B9-C403-8FBA86F6E7D8}"/>
          </ac:cxnSpMkLst>
        </pc:cxnChg>
        <pc:cxnChg chg="add mod">
          <ac:chgData name="Dr Parag D. Pawar" userId="45f730c0-1703-4ce0-909b-efb17736071d" providerId="ADAL" clId="{CD4D9D87-25C2-47DB-AE56-A86177B2B98E}" dt="2026-01-25T12:48:49.223" v="3099" actId="1076"/>
          <ac:cxnSpMkLst>
            <pc:docMk/>
            <pc:sldMk cId="2182265387" sldId="502"/>
            <ac:cxnSpMk id="31" creationId="{7495211D-CACA-4966-5F30-C8887AE33971}"/>
          </ac:cxnSpMkLst>
        </pc:cxnChg>
      </pc:sldChg>
      <pc:sldChg chg="add">
        <pc:chgData name="Dr Parag D. Pawar" userId="45f730c0-1703-4ce0-909b-efb17736071d" providerId="ADAL" clId="{CD4D9D87-25C2-47DB-AE56-A86177B2B98E}" dt="2026-02-05T00:38:19.259" v="3569" actId="2890"/>
        <pc:sldMkLst>
          <pc:docMk/>
          <pc:sldMk cId="3852828328" sldId="51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https://iith-my.sharepoint.com/personal/parag_che_iith_ac_in/Documents/Teaching/Game%20Theory/2025/2025%20Class%20Notes/Section%201%20The%20Single%20Person%20Decision%20Problem/Topic%202%20The%20Expected%20Utility%20Theory/Class%2010%20-%20The%20Expected%20Ut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https://iith-my.sharepoint.com/personal/parag_che_iith_ac_in/Documents/Teaching/Game%20Theory/2025/2025%20Class%20Notes/Section%201%20The%20Single%20Person%20Decision%20Problem/Topic%202%20The%20Expected%20Utility%20Theory/Class%2010%20-%20The%20Expected%20Ut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iith-my.sharepoint.com/personal/parag_che_iith_ac_in/Documents/Teaching/Game%20Theory/2025/2025%20Class%20Notes/Section%201%20The%20Single%20Person%20Decision%20Problem/Topic%202%20The%20Expected%20Utility%20Theory/Class%2010%20-%20The%20Expected%20Ut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https://iith-my.sharepoint.com/personal/parag_che_iith_ac_in/Documents/Teaching/Game%20Theory/2025/2025%20Notes/Section%201%20The%20Single%20Person%20Decision%20Problem/Topic%202%20The%20Expected%20Utility%20Theory/Module%202%20Expected%20Payoff/Payoffs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https://iith-my.sharepoint.com/personal/parag_che_iith_ac_in/Documents/Teaching/Game%20Theory/2025/2025%20Notes/Section%201%20The%20Single%20Person%20Decision%20Problem/Topic%202%20The%20Expected%20Utility%20Theory/Module%202%20Expected%20Payoff/Payoffs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iith-my.sharepoint.com/personal/parag_che_iith_ac_in/Documents/Teaching/Game%20Theory/2025/2025%20Class%20Notes/Section%201%20The%20Single%20Person%20Decision%20Problem/Topic%202%20The%20Expected%20Utility%20Theory/Class%2010%20-%20The%20Expected%20Ut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iith-my.sharepoint.com/personal/parag_che_iith_ac_in/Documents/Teaching/Game%20Theory/2025/2025%20Class%20Notes/Section%201%20The%20Single%20Person%20Decision%20Problem/Topic%202%20The%20Expected%20Utility%20Theory/Class%2010%20-%20The%20Expected%20Ut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iith-my.sharepoint.com/personal/parag_che_iith_ac_in/Documents/Teaching/Game%20Theory/2025/2025%20Class%20Notes/Section%201%20The%20Single%20Person%20Decision%20Problem/Topic%202%20The%20Expected%20Utility%20Theory/Class%2011%20-%20The%20Expected%20Ut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oleObject" Target="https://iith-my.sharepoint.com/personal/parag_che_iith_ac_in/Documents/Teaching/Game%20Theory/2025/2025%20Class%20Notes/Section%201%20The%20Single%20Person%20Decision%20Problem/Topic%202%20The%20Expected%20Utility%20Theory/Class%2011%20-%20The%20Expected%20Ut" TargetMode="External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51.xml.rels><?xml version="1.0" encoding="UTF-8" standalone="yes"?>
<Relationships xmlns="http://schemas.openxmlformats.org/package/2006/relationships"><Relationship Id="rId1" Type="http://schemas.openxmlformats.org/officeDocument/2006/relationships/oleObject" Target="https://iith-my.sharepoint.com/personal/parag_che_iith_ac_in/Documents/Teaching/Game%20Theory/2025/2025%20Notes/Section%201%20The%20Single%20Person%20Decision%20Problem/Topic%202%20The%20Expected%20Utility%20Theory/Module%202%20Expected%20Payoff/Payoff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delete val="1"/>
          </c:dLbls>
          <c:cat>
            <c:numRef>
              <c:f>'[Continuous Outcome Spaces.xlsx]Sheet1'!$C$4:$C$13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cat>
          <c:val>
            <c:numRef>
              <c:f>'[Continuous Outcome Spaces.xlsx]Sheet1'!$E$4:$E$13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0.02</c:v>
                </c:pt>
                <c:pt idx="7">
                  <c:v>0.05</c:v>
                </c:pt>
                <c:pt idx="8">
                  <c:v>0.03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57-4617-A917-D94C8C568D9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789935455"/>
        <c:axId val="789932095"/>
      </c:barChart>
      <c:catAx>
        <c:axId val="78993545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400" dirty="0"/>
                  <a:t>Marks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9932095"/>
        <c:crosses val="autoZero"/>
        <c:auto val="1"/>
        <c:lblAlgn val="ctr"/>
        <c:lblOffset val="100"/>
        <c:noMultiLvlLbl val="0"/>
      </c:catAx>
      <c:valAx>
        <c:axId val="78993209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400" b="1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Probability Per Unit Range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99354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delete val="1"/>
          </c:dLbls>
          <c:cat>
            <c:numRef>
              <c:f>'[Continuous Outcome Spaces.xlsx]Sheet1'!$C$16:$C$35</c:f>
              <c:numCache>
                <c:formatCode>General</c:formatCode>
                <c:ptCount val="20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55</c:v>
                </c:pt>
                <c:pt idx="11">
                  <c:v>60</c:v>
                </c:pt>
                <c:pt idx="12">
                  <c:v>65</c:v>
                </c:pt>
                <c:pt idx="13">
                  <c:v>70</c:v>
                </c:pt>
                <c:pt idx="14">
                  <c:v>75</c:v>
                </c:pt>
                <c:pt idx="15">
                  <c:v>80</c:v>
                </c:pt>
                <c:pt idx="16">
                  <c:v>85</c:v>
                </c:pt>
                <c:pt idx="17">
                  <c:v>90</c:v>
                </c:pt>
                <c:pt idx="18">
                  <c:v>95</c:v>
                </c:pt>
                <c:pt idx="19">
                  <c:v>100</c:v>
                </c:pt>
              </c:numCache>
            </c:numRef>
          </c:cat>
          <c:val>
            <c:numRef>
              <c:f>'[Continuous Outcome Spaces.xlsx]Sheet1'!$E$16:$E$35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1.7999999999999999E-2</c:v>
                </c:pt>
                <c:pt idx="13">
                  <c:v>2.1999999999999999E-2</c:v>
                </c:pt>
                <c:pt idx="14">
                  <c:v>4.3999999999999997E-2</c:v>
                </c:pt>
                <c:pt idx="15">
                  <c:v>5.6000000000000008E-2</c:v>
                </c:pt>
                <c:pt idx="16">
                  <c:v>3.4000000000000002E-2</c:v>
                </c:pt>
                <c:pt idx="17">
                  <c:v>2.6000000000000002E-2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23-495C-A3A5-CA414D1E14F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789935455"/>
        <c:axId val="789932095"/>
      </c:barChart>
      <c:catAx>
        <c:axId val="78993545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400"/>
                  <a:t>Marks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9932095"/>
        <c:crosses val="autoZero"/>
        <c:auto val="1"/>
        <c:lblAlgn val="ctr"/>
        <c:lblOffset val="100"/>
        <c:noMultiLvlLbl val="0"/>
      </c:catAx>
      <c:valAx>
        <c:axId val="78993209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400"/>
                  <a:t>Probability Per Unit</a:t>
                </a:r>
                <a:r>
                  <a:rPr lang="en-IN" sz="1400" baseline="0"/>
                  <a:t> Range</a:t>
                </a:r>
                <a:endParaRPr lang="en-IN" sz="14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99354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delete val="1"/>
          </c:dLbls>
          <c:trendline>
            <c:spPr>
              <a:ln w="25400" cap="rnd">
                <a:solidFill>
                  <a:srgbClr val="7030A0"/>
                </a:solidFill>
                <a:prstDash val="solid"/>
              </a:ln>
              <a:effectLst/>
            </c:spPr>
            <c:trendlineType val="movingAvg"/>
            <c:period val="2"/>
            <c:dispRSqr val="0"/>
            <c:dispEq val="0"/>
          </c:trendline>
          <c:cat>
            <c:numRef>
              <c:f>'[Continuous Outcome Spaces.xlsx]Sheet1'!$C$16:$C$35</c:f>
              <c:numCache>
                <c:formatCode>General</c:formatCode>
                <c:ptCount val="20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55</c:v>
                </c:pt>
                <c:pt idx="11">
                  <c:v>60</c:v>
                </c:pt>
                <c:pt idx="12">
                  <c:v>65</c:v>
                </c:pt>
                <c:pt idx="13">
                  <c:v>70</c:v>
                </c:pt>
                <c:pt idx="14">
                  <c:v>75</c:v>
                </c:pt>
                <c:pt idx="15">
                  <c:v>80</c:v>
                </c:pt>
                <c:pt idx="16">
                  <c:v>85</c:v>
                </c:pt>
                <c:pt idx="17">
                  <c:v>90</c:v>
                </c:pt>
                <c:pt idx="18">
                  <c:v>95</c:v>
                </c:pt>
                <c:pt idx="19">
                  <c:v>100</c:v>
                </c:pt>
              </c:numCache>
            </c:numRef>
          </c:cat>
          <c:val>
            <c:numRef>
              <c:f>'[Continuous Outcome Spaces.xlsx]Sheet1'!$E$16:$E$35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1.7999999999999999E-2</c:v>
                </c:pt>
                <c:pt idx="13">
                  <c:v>2.1999999999999999E-2</c:v>
                </c:pt>
                <c:pt idx="14">
                  <c:v>4.3999999999999997E-2</c:v>
                </c:pt>
                <c:pt idx="15">
                  <c:v>5.6000000000000008E-2</c:v>
                </c:pt>
                <c:pt idx="16">
                  <c:v>3.4000000000000002E-2</c:v>
                </c:pt>
                <c:pt idx="17">
                  <c:v>2.6000000000000002E-2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1F7-40FA-83EA-A4684D8478F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789935455"/>
        <c:axId val="789932095"/>
      </c:barChart>
      <c:catAx>
        <c:axId val="78993545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400"/>
                  <a:t>Marks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9932095"/>
        <c:crosses val="autoZero"/>
        <c:auto val="1"/>
        <c:lblAlgn val="ctr"/>
        <c:lblOffset val="100"/>
        <c:noMultiLvlLbl val="0"/>
      </c:catAx>
      <c:valAx>
        <c:axId val="78993209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400" b="1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Probability Per Unit Range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99354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2"/>
          <c:order val="0"/>
          <c:marker>
            <c:symbol val="none"/>
          </c:marker>
          <c:xVal>
            <c:numRef>
              <c:f>'[Expected Payoffs.xlsx]CDF'!$D$4:$D$64</c:f>
              <c:numCache>
                <c:formatCode>General</c:formatCode>
                <c:ptCount val="61"/>
                <c:pt idx="0">
                  <c:v>-3</c:v>
                </c:pt>
                <c:pt idx="1">
                  <c:v>-2.9</c:v>
                </c:pt>
                <c:pt idx="2">
                  <c:v>-2.8</c:v>
                </c:pt>
                <c:pt idx="3">
                  <c:v>-2.6999999999999997</c:v>
                </c:pt>
                <c:pt idx="4">
                  <c:v>-2.5999999999999996</c:v>
                </c:pt>
                <c:pt idx="5">
                  <c:v>-2.4999999999999996</c:v>
                </c:pt>
                <c:pt idx="6">
                  <c:v>-2.3999999999999995</c:v>
                </c:pt>
                <c:pt idx="7">
                  <c:v>-2.2999999999999994</c:v>
                </c:pt>
                <c:pt idx="8">
                  <c:v>-2.1999999999999993</c:v>
                </c:pt>
                <c:pt idx="9">
                  <c:v>-2.0999999999999992</c:v>
                </c:pt>
                <c:pt idx="10">
                  <c:v>-1.9999999999999991</c:v>
                </c:pt>
                <c:pt idx="11">
                  <c:v>-1.899999999999999</c:v>
                </c:pt>
                <c:pt idx="12">
                  <c:v>-1.7999999999999989</c:v>
                </c:pt>
                <c:pt idx="13">
                  <c:v>-1.6999999999999988</c:v>
                </c:pt>
                <c:pt idx="14">
                  <c:v>-1.5999999999999988</c:v>
                </c:pt>
                <c:pt idx="15">
                  <c:v>-1.4999999999999987</c:v>
                </c:pt>
                <c:pt idx="16">
                  <c:v>-1.3999999999999986</c:v>
                </c:pt>
                <c:pt idx="17">
                  <c:v>-1.2999999999999985</c:v>
                </c:pt>
                <c:pt idx="18">
                  <c:v>-1.1999999999999984</c:v>
                </c:pt>
                <c:pt idx="19">
                  <c:v>-1.0999999999999983</c:v>
                </c:pt>
                <c:pt idx="20">
                  <c:v>-0.99999999999999833</c:v>
                </c:pt>
                <c:pt idx="21">
                  <c:v>-0.89999999999999836</c:v>
                </c:pt>
                <c:pt idx="22">
                  <c:v>-0.79999999999999838</c:v>
                </c:pt>
                <c:pt idx="23">
                  <c:v>-0.6999999999999984</c:v>
                </c:pt>
                <c:pt idx="24">
                  <c:v>-0.59999999999999842</c:v>
                </c:pt>
                <c:pt idx="25">
                  <c:v>-0.49999999999999845</c:v>
                </c:pt>
                <c:pt idx="26">
                  <c:v>-0.39999999999999847</c:v>
                </c:pt>
                <c:pt idx="27">
                  <c:v>-0.29999999999999849</c:v>
                </c:pt>
                <c:pt idx="28">
                  <c:v>-0.19999999999999848</c:v>
                </c:pt>
                <c:pt idx="29">
                  <c:v>-9.9999999999998479E-2</c:v>
                </c:pt>
                <c:pt idx="30">
                  <c:v>1.5265566588595902E-15</c:v>
                </c:pt>
                <c:pt idx="31">
                  <c:v>0.10000000000000153</c:v>
                </c:pt>
                <c:pt idx="32">
                  <c:v>0.20000000000000154</c:v>
                </c:pt>
                <c:pt idx="33">
                  <c:v>0.30000000000000154</c:v>
                </c:pt>
                <c:pt idx="34">
                  <c:v>0.40000000000000158</c:v>
                </c:pt>
                <c:pt idx="35">
                  <c:v>0.50000000000000155</c:v>
                </c:pt>
                <c:pt idx="36">
                  <c:v>0.60000000000000153</c:v>
                </c:pt>
                <c:pt idx="37">
                  <c:v>0.70000000000000151</c:v>
                </c:pt>
                <c:pt idx="38">
                  <c:v>0.80000000000000149</c:v>
                </c:pt>
                <c:pt idx="39">
                  <c:v>0.90000000000000147</c:v>
                </c:pt>
                <c:pt idx="40">
                  <c:v>1.0000000000000016</c:v>
                </c:pt>
                <c:pt idx="41">
                  <c:v>1.1000000000000016</c:v>
                </c:pt>
                <c:pt idx="42">
                  <c:v>1.2000000000000017</c:v>
                </c:pt>
                <c:pt idx="43">
                  <c:v>1.3000000000000018</c:v>
                </c:pt>
                <c:pt idx="44">
                  <c:v>1.4000000000000019</c:v>
                </c:pt>
                <c:pt idx="45">
                  <c:v>1.500000000000002</c:v>
                </c:pt>
                <c:pt idx="46">
                  <c:v>1.6000000000000021</c:v>
                </c:pt>
                <c:pt idx="47">
                  <c:v>1.7000000000000022</c:v>
                </c:pt>
                <c:pt idx="48">
                  <c:v>1.8000000000000023</c:v>
                </c:pt>
                <c:pt idx="49">
                  <c:v>1.9000000000000024</c:v>
                </c:pt>
                <c:pt idx="50">
                  <c:v>2.0000000000000022</c:v>
                </c:pt>
                <c:pt idx="51">
                  <c:v>2.1000000000000023</c:v>
                </c:pt>
                <c:pt idx="52">
                  <c:v>2.2000000000000024</c:v>
                </c:pt>
                <c:pt idx="53">
                  <c:v>2.3000000000000025</c:v>
                </c:pt>
                <c:pt idx="54">
                  <c:v>2.4000000000000026</c:v>
                </c:pt>
                <c:pt idx="55">
                  <c:v>2.5000000000000027</c:v>
                </c:pt>
                <c:pt idx="56">
                  <c:v>2.6000000000000028</c:v>
                </c:pt>
                <c:pt idx="57">
                  <c:v>2.7000000000000028</c:v>
                </c:pt>
                <c:pt idx="58">
                  <c:v>2.8000000000000029</c:v>
                </c:pt>
                <c:pt idx="59">
                  <c:v>2.900000000000003</c:v>
                </c:pt>
                <c:pt idx="60">
                  <c:v>3.0000000000000031</c:v>
                </c:pt>
              </c:numCache>
            </c:numRef>
          </c:xVal>
          <c:yVal>
            <c:numRef>
              <c:f>'[Expected Payoffs.xlsx]CDF'!$E$4:$E$64</c:f>
              <c:numCache>
                <c:formatCode>General</c:formatCode>
                <c:ptCount val="61"/>
                <c:pt idx="0">
                  <c:v>1.3498980316300933E-3</c:v>
                </c:pt>
                <c:pt idx="1">
                  <c:v>1.8658133003840378E-3</c:v>
                </c:pt>
                <c:pt idx="2">
                  <c:v>2.5551303304279312E-3</c:v>
                </c:pt>
                <c:pt idx="3">
                  <c:v>3.4669738030406677E-3</c:v>
                </c:pt>
                <c:pt idx="4">
                  <c:v>4.6611880237187493E-3</c:v>
                </c:pt>
                <c:pt idx="5">
                  <c:v>6.2096653257761383E-3</c:v>
                </c:pt>
                <c:pt idx="6">
                  <c:v>8.1975359245961381E-3</c:v>
                </c:pt>
                <c:pt idx="7">
                  <c:v>1.0724110021675814E-2</c:v>
                </c:pt>
                <c:pt idx="8">
                  <c:v>1.3903447513498632E-2</c:v>
                </c:pt>
                <c:pt idx="9">
                  <c:v>1.786442056281658E-2</c:v>
                </c:pt>
                <c:pt idx="10">
                  <c:v>2.2750131948179247E-2</c:v>
                </c:pt>
                <c:pt idx="11">
                  <c:v>2.8716559816001866E-2</c:v>
                </c:pt>
                <c:pt idx="12">
                  <c:v>3.5930319112925886E-2</c:v>
                </c:pt>
                <c:pt idx="13">
                  <c:v>4.4565462758543145E-2</c:v>
                </c:pt>
                <c:pt idx="14">
                  <c:v>5.4799291699558127E-2</c:v>
                </c:pt>
                <c:pt idx="15">
                  <c:v>6.6807201268858196E-2</c:v>
                </c:pt>
                <c:pt idx="16">
                  <c:v>8.0756659233771233E-2</c:v>
                </c:pt>
                <c:pt idx="17">
                  <c:v>9.680048458561058E-2</c:v>
                </c:pt>
                <c:pt idx="18">
                  <c:v>0.11506967022170858</c:v>
                </c:pt>
                <c:pt idx="19">
                  <c:v>0.13566606094638298</c:v>
                </c:pt>
                <c:pt idx="20">
                  <c:v>0.15865525393145746</c:v>
                </c:pt>
                <c:pt idx="21">
                  <c:v>0.18406012534675992</c:v>
                </c:pt>
                <c:pt idx="22">
                  <c:v>0.21185539858339716</c:v>
                </c:pt>
                <c:pt idx="23">
                  <c:v>0.24196365222307348</c:v>
                </c:pt>
                <c:pt idx="24">
                  <c:v>0.2742531177500741</c:v>
                </c:pt>
                <c:pt idx="25">
                  <c:v>0.30853753872598744</c:v>
                </c:pt>
                <c:pt idx="26">
                  <c:v>0.34457825838967637</c:v>
                </c:pt>
                <c:pt idx="27">
                  <c:v>0.38208857781104794</c:v>
                </c:pt>
                <c:pt idx="28">
                  <c:v>0.42074029056089757</c:v>
                </c:pt>
                <c:pt idx="29">
                  <c:v>0.46017216272297162</c:v>
                </c:pt>
                <c:pt idx="30">
                  <c:v>0.50000000000000067</c:v>
                </c:pt>
                <c:pt idx="31">
                  <c:v>0.53982783727702954</c:v>
                </c:pt>
                <c:pt idx="32">
                  <c:v>0.57925970943910365</c:v>
                </c:pt>
                <c:pt idx="33">
                  <c:v>0.61791142218895323</c:v>
                </c:pt>
                <c:pt idx="34">
                  <c:v>0.65542174161032474</c:v>
                </c:pt>
                <c:pt idx="35">
                  <c:v>0.69146246127401367</c:v>
                </c:pt>
                <c:pt idx="36">
                  <c:v>0.72574688224992701</c:v>
                </c:pt>
                <c:pt idx="37">
                  <c:v>0.75803634777692741</c:v>
                </c:pt>
                <c:pt idx="38">
                  <c:v>0.78814460141660381</c:v>
                </c:pt>
                <c:pt idx="39">
                  <c:v>0.81593987465324092</c:v>
                </c:pt>
                <c:pt idx="40">
                  <c:v>0.84134474606854337</c:v>
                </c:pt>
                <c:pt idx="41">
                  <c:v>0.86433393905361777</c:v>
                </c:pt>
                <c:pt idx="42">
                  <c:v>0.88493032977829211</c:v>
                </c:pt>
                <c:pt idx="43">
                  <c:v>0.90319951541439003</c:v>
                </c:pt>
                <c:pt idx="44">
                  <c:v>0.91924334076622927</c:v>
                </c:pt>
                <c:pt idx="45">
                  <c:v>0.93319279873114225</c:v>
                </c:pt>
                <c:pt idx="46">
                  <c:v>0.94520070830044223</c:v>
                </c:pt>
                <c:pt idx="47">
                  <c:v>0.95543453724145722</c:v>
                </c:pt>
                <c:pt idx="48">
                  <c:v>0.96406968088707434</c:v>
                </c:pt>
                <c:pt idx="49">
                  <c:v>0.97128344018399837</c:v>
                </c:pt>
                <c:pt idx="50">
                  <c:v>0.9772498680518209</c:v>
                </c:pt>
                <c:pt idx="51">
                  <c:v>0.98213557943718355</c:v>
                </c:pt>
                <c:pt idx="52">
                  <c:v>0.98609655248650152</c:v>
                </c:pt>
                <c:pt idx="53">
                  <c:v>0.98927588997832427</c:v>
                </c:pt>
                <c:pt idx="54">
                  <c:v>0.99180246407540396</c:v>
                </c:pt>
                <c:pt idx="55">
                  <c:v>0.99379033467422395</c:v>
                </c:pt>
                <c:pt idx="56">
                  <c:v>0.99533881197628127</c:v>
                </c:pt>
                <c:pt idx="57">
                  <c:v>0.99653302619695938</c:v>
                </c:pt>
                <c:pt idx="58">
                  <c:v>0.99744486966957213</c:v>
                </c:pt>
                <c:pt idx="59">
                  <c:v>0.99813418669961596</c:v>
                </c:pt>
                <c:pt idx="60">
                  <c:v>0.9986501019683699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BB8-41FD-B09C-9691658D749B}"/>
            </c:ext>
          </c:extLst>
        </c:ser>
        <c:ser>
          <c:idx val="3"/>
          <c:order val="1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'[Expected Payoffs.xlsx]CDF'!$D$4:$D$64</c:f>
              <c:numCache>
                <c:formatCode>General</c:formatCode>
                <c:ptCount val="61"/>
                <c:pt idx="0">
                  <c:v>-3</c:v>
                </c:pt>
                <c:pt idx="1">
                  <c:v>-2.9</c:v>
                </c:pt>
                <c:pt idx="2">
                  <c:v>-2.8</c:v>
                </c:pt>
                <c:pt idx="3">
                  <c:v>-2.6999999999999997</c:v>
                </c:pt>
                <c:pt idx="4">
                  <c:v>-2.5999999999999996</c:v>
                </c:pt>
                <c:pt idx="5">
                  <c:v>-2.4999999999999996</c:v>
                </c:pt>
                <c:pt idx="6">
                  <c:v>-2.3999999999999995</c:v>
                </c:pt>
                <c:pt idx="7">
                  <c:v>-2.2999999999999994</c:v>
                </c:pt>
                <c:pt idx="8">
                  <c:v>-2.1999999999999993</c:v>
                </c:pt>
                <c:pt idx="9">
                  <c:v>-2.0999999999999992</c:v>
                </c:pt>
                <c:pt idx="10">
                  <c:v>-1.9999999999999991</c:v>
                </c:pt>
                <c:pt idx="11">
                  <c:v>-1.899999999999999</c:v>
                </c:pt>
                <c:pt idx="12">
                  <c:v>-1.7999999999999989</c:v>
                </c:pt>
                <c:pt idx="13">
                  <c:v>-1.6999999999999988</c:v>
                </c:pt>
                <c:pt idx="14">
                  <c:v>-1.5999999999999988</c:v>
                </c:pt>
                <c:pt idx="15">
                  <c:v>-1.4999999999999987</c:v>
                </c:pt>
                <c:pt idx="16">
                  <c:v>-1.3999999999999986</c:v>
                </c:pt>
                <c:pt idx="17">
                  <c:v>-1.2999999999999985</c:v>
                </c:pt>
                <c:pt idx="18">
                  <c:v>-1.1999999999999984</c:v>
                </c:pt>
                <c:pt idx="19">
                  <c:v>-1.0999999999999983</c:v>
                </c:pt>
                <c:pt idx="20">
                  <c:v>-0.99999999999999833</c:v>
                </c:pt>
                <c:pt idx="21">
                  <c:v>-0.89999999999999836</c:v>
                </c:pt>
                <c:pt idx="22">
                  <c:v>-0.79999999999999838</c:v>
                </c:pt>
                <c:pt idx="23">
                  <c:v>-0.6999999999999984</c:v>
                </c:pt>
                <c:pt idx="24">
                  <c:v>-0.59999999999999842</c:v>
                </c:pt>
                <c:pt idx="25">
                  <c:v>-0.49999999999999845</c:v>
                </c:pt>
                <c:pt idx="26">
                  <c:v>-0.39999999999999847</c:v>
                </c:pt>
                <c:pt idx="27">
                  <c:v>-0.29999999999999849</c:v>
                </c:pt>
                <c:pt idx="28">
                  <c:v>-0.19999999999999848</c:v>
                </c:pt>
                <c:pt idx="29">
                  <c:v>-9.9999999999998479E-2</c:v>
                </c:pt>
                <c:pt idx="30">
                  <c:v>1.5265566588595902E-15</c:v>
                </c:pt>
                <c:pt idx="31">
                  <c:v>0.10000000000000153</c:v>
                </c:pt>
                <c:pt idx="32">
                  <c:v>0.20000000000000154</c:v>
                </c:pt>
                <c:pt idx="33">
                  <c:v>0.30000000000000154</c:v>
                </c:pt>
                <c:pt idx="34">
                  <c:v>0.40000000000000158</c:v>
                </c:pt>
                <c:pt idx="35">
                  <c:v>0.50000000000000155</c:v>
                </c:pt>
                <c:pt idx="36">
                  <c:v>0.60000000000000153</c:v>
                </c:pt>
                <c:pt idx="37">
                  <c:v>0.70000000000000151</c:v>
                </c:pt>
                <c:pt idx="38">
                  <c:v>0.80000000000000149</c:v>
                </c:pt>
                <c:pt idx="39">
                  <c:v>0.90000000000000147</c:v>
                </c:pt>
                <c:pt idx="40">
                  <c:v>1.0000000000000016</c:v>
                </c:pt>
                <c:pt idx="41">
                  <c:v>1.1000000000000016</c:v>
                </c:pt>
                <c:pt idx="42">
                  <c:v>1.2000000000000017</c:v>
                </c:pt>
                <c:pt idx="43">
                  <c:v>1.3000000000000018</c:v>
                </c:pt>
                <c:pt idx="44">
                  <c:v>1.4000000000000019</c:v>
                </c:pt>
                <c:pt idx="45">
                  <c:v>1.500000000000002</c:v>
                </c:pt>
                <c:pt idx="46">
                  <c:v>1.6000000000000021</c:v>
                </c:pt>
                <c:pt idx="47">
                  <c:v>1.7000000000000022</c:v>
                </c:pt>
                <c:pt idx="48">
                  <c:v>1.8000000000000023</c:v>
                </c:pt>
                <c:pt idx="49">
                  <c:v>1.9000000000000024</c:v>
                </c:pt>
                <c:pt idx="50">
                  <c:v>2.0000000000000022</c:v>
                </c:pt>
                <c:pt idx="51">
                  <c:v>2.1000000000000023</c:v>
                </c:pt>
                <c:pt idx="52">
                  <c:v>2.2000000000000024</c:v>
                </c:pt>
                <c:pt idx="53">
                  <c:v>2.3000000000000025</c:v>
                </c:pt>
                <c:pt idx="54">
                  <c:v>2.4000000000000026</c:v>
                </c:pt>
                <c:pt idx="55">
                  <c:v>2.5000000000000027</c:v>
                </c:pt>
                <c:pt idx="56">
                  <c:v>2.6000000000000028</c:v>
                </c:pt>
                <c:pt idx="57">
                  <c:v>2.7000000000000028</c:v>
                </c:pt>
                <c:pt idx="58">
                  <c:v>2.8000000000000029</c:v>
                </c:pt>
                <c:pt idx="59">
                  <c:v>2.900000000000003</c:v>
                </c:pt>
                <c:pt idx="60">
                  <c:v>3.0000000000000031</c:v>
                </c:pt>
              </c:numCache>
            </c:numRef>
          </c:xVal>
          <c:yVal>
            <c:numRef>
              <c:f>'[Expected Payoffs.xlsx]CDF'!$E$4:$E$64</c:f>
              <c:numCache>
                <c:formatCode>General</c:formatCode>
                <c:ptCount val="61"/>
                <c:pt idx="0">
                  <c:v>1.3498980316300933E-3</c:v>
                </c:pt>
                <c:pt idx="1">
                  <c:v>1.8658133003840378E-3</c:v>
                </c:pt>
                <c:pt idx="2">
                  <c:v>2.5551303304279312E-3</c:v>
                </c:pt>
                <c:pt idx="3">
                  <c:v>3.4669738030406677E-3</c:v>
                </c:pt>
                <c:pt idx="4">
                  <c:v>4.6611880237187493E-3</c:v>
                </c:pt>
                <c:pt idx="5">
                  <c:v>6.2096653257761383E-3</c:v>
                </c:pt>
                <c:pt idx="6">
                  <c:v>8.1975359245961381E-3</c:v>
                </c:pt>
                <c:pt idx="7">
                  <c:v>1.0724110021675814E-2</c:v>
                </c:pt>
                <c:pt idx="8">
                  <c:v>1.3903447513498632E-2</c:v>
                </c:pt>
                <c:pt idx="9">
                  <c:v>1.786442056281658E-2</c:v>
                </c:pt>
                <c:pt idx="10">
                  <c:v>2.2750131948179247E-2</c:v>
                </c:pt>
                <c:pt idx="11">
                  <c:v>2.8716559816001866E-2</c:v>
                </c:pt>
                <c:pt idx="12">
                  <c:v>3.5930319112925886E-2</c:v>
                </c:pt>
                <c:pt idx="13">
                  <c:v>4.4565462758543145E-2</c:v>
                </c:pt>
                <c:pt idx="14">
                  <c:v>5.4799291699558127E-2</c:v>
                </c:pt>
                <c:pt idx="15">
                  <c:v>6.6807201268858196E-2</c:v>
                </c:pt>
                <c:pt idx="16">
                  <c:v>8.0756659233771233E-2</c:v>
                </c:pt>
                <c:pt idx="17">
                  <c:v>9.680048458561058E-2</c:v>
                </c:pt>
                <c:pt idx="18">
                  <c:v>0.11506967022170858</c:v>
                </c:pt>
                <c:pt idx="19">
                  <c:v>0.13566606094638298</c:v>
                </c:pt>
                <c:pt idx="20">
                  <c:v>0.15865525393145746</c:v>
                </c:pt>
                <c:pt idx="21">
                  <c:v>0.18406012534675992</c:v>
                </c:pt>
                <c:pt idx="22">
                  <c:v>0.21185539858339716</c:v>
                </c:pt>
                <c:pt idx="23">
                  <c:v>0.24196365222307348</c:v>
                </c:pt>
                <c:pt idx="24">
                  <c:v>0.2742531177500741</c:v>
                </c:pt>
                <c:pt idx="25">
                  <c:v>0.30853753872598744</c:v>
                </c:pt>
                <c:pt idx="26">
                  <c:v>0.34457825838967637</c:v>
                </c:pt>
                <c:pt idx="27">
                  <c:v>0.38208857781104794</c:v>
                </c:pt>
                <c:pt idx="28">
                  <c:v>0.42074029056089757</c:v>
                </c:pt>
                <c:pt idx="29">
                  <c:v>0.46017216272297162</c:v>
                </c:pt>
                <c:pt idx="30">
                  <c:v>0.50000000000000067</c:v>
                </c:pt>
                <c:pt idx="31">
                  <c:v>0.53982783727702954</c:v>
                </c:pt>
                <c:pt idx="32">
                  <c:v>0.57925970943910365</c:v>
                </c:pt>
                <c:pt idx="33">
                  <c:v>0.61791142218895323</c:v>
                </c:pt>
                <c:pt idx="34">
                  <c:v>0.65542174161032474</c:v>
                </c:pt>
                <c:pt idx="35">
                  <c:v>0.69146246127401367</c:v>
                </c:pt>
                <c:pt idx="36">
                  <c:v>0.72574688224992701</c:v>
                </c:pt>
                <c:pt idx="37">
                  <c:v>0.75803634777692741</c:v>
                </c:pt>
                <c:pt idx="38">
                  <c:v>0.78814460141660381</c:v>
                </c:pt>
                <c:pt idx="39">
                  <c:v>0.81593987465324092</c:v>
                </c:pt>
                <c:pt idx="40">
                  <c:v>0.84134474606854337</c:v>
                </c:pt>
                <c:pt idx="41">
                  <c:v>0.86433393905361777</c:v>
                </c:pt>
                <c:pt idx="42">
                  <c:v>0.88493032977829211</c:v>
                </c:pt>
                <c:pt idx="43">
                  <c:v>0.90319951541439003</c:v>
                </c:pt>
                <c:pt idx="44">
                  <c:v>0.91924334076622927</c:v>
                </c:pt>
                <c:pt idx="45">
                  <c:v>0.93319279873114225</c:v>
                </c:pt>
                <c:pt idx="46">
                  <c:v>0.94520070830044223</c:v>
                </c:pt>
                <c:pt idx="47">
                  <c:v>0.95543453724145722</c:v>
                </c:pt>
                <c:pt idx="48">
                  <c:v>0.96406968088707434</c:v>
                </c:pt>
                <c:pt idx="49">
                  <c:v>0.97128344018399837</c:v>
                </c:pt>
                <c:pt idx="50">
                  <c:v>0.9772498680518209</c:v>
                </c:pt>
                <c:pt idx="51">
                  <c:v>0.98213557943718355</c:v>
                </c:pt>
                <c:pt idx="52">
                  <c:v>0.98609655248650152</c:v>
                </c:pt>
                <c:pt idx="53">
                  <c:v>0.98927588997832427</c:v>
                </c:pt>
                <c:pt idx="54">
                  <c:v>0.99180246407540396</c:v>
                </c:pt>
                <c:pt idx="55">
                  <c:v>0.99379033467422395</c:v>
                </c:pt>
                <c:pt idx="56">
                  <c:v>0.99533881197628127</c:v>
                </c:pt>
                <c:pt idx="57">
                  <c:v>0.99653302619695938</c:v>
                </c:pt>
                <c:pt idx="58">
                  <c:v>0.99744486966957213</c:v>
                </c:pt>
                <c:pt idx="59">
                  <c:v>0.99813418669961596</c:v>
                </c:pt>
                <c:pt idx="60">
                  <c:v>0.9986501019683699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BB8-41FD-B09C-9691658D74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92668079"/>
        <c:axId val="592666639"/>
      </c:scatterChart>
      <c:valAx>
        <c:axId val="592668079"/>
        <c:scaling>
          <c:orientation val="minMax"/>
          <c:max val="3"/>
          <c:min val="-3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2666639"/>
        <c:crosses val="autoZero"/>
        <c:crossBetween val="midCat"/>
      </c:valAx>
      <c:valAx>
        <c:axId val="592666639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2668079"/>
        <c:crosses val="autoZero"/>
        <c:crossBetween val="midCat"/>
        <c:majorUnit val="0.2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marker>
            <c:symbol val="none"/>
          </c:marker>
          <c:xVal>
            <c:numRef>
              <c:f>'[Expected Payoffs.xlsx]CDF'!$D$4:$D$64</c:f>
              <c:numCache>
                <c:formatCode>General</c:formatCode>
                <c:ptCount val="61"/>
                <c:pt idx="0">
                  <c:v>-3</c:v>
                </c:pt>
                <c:pt idx="1">
                  <c:v>-2.9</c:v>
                </c:pt>
                <c:pt idx="2">
                  <c:v>-2.8</c:v>
                </c:pt>
                <c:pt idx="3">
                  <c:v>-2.6999999999999997</c:v>
                </c:pt>
                <c:pt idx="4">
                  <c:v>-2.5999999999999996</c:v>
                </c:pt>
                <c:pt idx="5">
                  <c:v>-2.4999999999999996</c:v>
                </c:pt>
                <c:pt idx="6">
                  <c:v>-2.3999999999999995</c:v>
                </c:pt>
                <c:pt idx="7">
                  <c:v>-2.2999999999999994</c:v>
                </c:pt>
                <c:pt idx="8">
                  <c:v>-2.1999999999999993</c:v>
                </c:pt>
                <c:pt idx="9">
                  <c:v>-2.0999999999999992</c:v>
                </c:pt>
                <c:pt idx="10">
                  <c:v>-1.9999999999999991</c:v>
                </c:pt>
                <c:pt idx="11">
                  <c:v>-1.899999999999999</c:v>
                </c:pt>
                <c:pt idx="12">
                  <c:v>-1.7999999999999989</c:v>
                </c:pt>
                <c:pt idx="13">
                  <c:v>-1.6999999999999988</c:v>
                </c:pt>
                <c:pt idx="14">
                  <c:v>-1.5999999999999988</c:v>
                </c:pt>
                <c:pt idx="15">
                  <c:v>-1.4999999999999987</c:v>
                </c:pt>
                <c:pt idx="16">
                  <c:v>-1.3999999999999986</c:v>
                </c:pt>
                <c:pt idx="17">
                  <c:v>-1.2999999999999985</c:v>
                </c:pt>
                <c:pt idx="18">
                  <c:v>-1.1999999999999984</c:v>
                </c:pt>
                <c:pt idx="19">
                  <c:v>-1.0999999999999983</c:v>
                </c:pt>
                <c:pt idx="20">
                  <c:v>-0.99999999999999833</c:v>
                </c:pt>
                <c:pt idx="21">
                  <c:v>-0.89999999999999836</c:v>
                </c:pt>
                <c:pt idx="22">
                  <c:v>-0.79999999999999838</c:v>
                </c:pt>
                <c:pt idx="23">
                  <c:v>-0.6999999999999984</c:v>
                </c:pt>
                <c:pt idx="24">
                  <c:v>-0.59999999999999842</c:v>
                </c:pt>
                <c:pt idx="25">
                  <c:v>-0.49999999999999845</c:v>
                </c:pt>
                <c:pt idx="26">
                  <c:v>-0.39999999999999847</c:v>
                </c:pt>
                <c:pt idx="27">
                  <c:v>-0.29999999999999849</c:v>
                </c:pt>
                <c:pt idx="28">
                  <c:v>-0.19999999999999848</c:v>
                </c:pt>
                <c:pt idx="29">
                  <c:v>-9.9999999999998479E-2</c:v>
                </c:pt>
                <c:pt idx="30">
                  <c:v>1.5265566588595902E-15</c:v>
                </c:pt>
                <c:pt idx="31">
                  <c:v>0.10000000000000153</c:v>
                </c:pt>
                <c:pt idx="32">
                  <c:v>0.20000000000000154</c:v>
                </c:pt>
                <c:pt idx="33">
                  <c:v>0.30000000000000154</c:v>
                </c:pt>
                <c:pt idx="34">
                  <c:v>0.40000000000000158</c:v>
                </c:pt>
                <c:pt idx="35">
                  <c:v>0.50000000000000155</c:v>
                </c:pt>
                <c:pt idx="36">
                  <c:v>0.60000000000000153</c:v>
                </c:pt>
                <c:pt idx="37">
                  <c:v>0.70000000000000151</c:v>
                </c:pt>
                <c:pt idx="38">
                  <c:v>0.80000000000000149</c:v>
                </c:pt>
                <c:pt idx="39">
                  <c:v>0.90000000000000147</c:v>
                </c:pt>
                <c:pt idx="40">
                  <c:v>1.0000000000000016</c:v>
                </c:pt>
                <c:pt idx="41">
                  <c:v>1.1000000000000016</c:v>
                </c:pt>
                <c:pt idx="42">
                  <c:v>1.2000000000000017</c:v>
                </c:pt>
                <c:pt idx="43">
                  <c:v>1.3000000000000018</c:v>
                </c:pt>
                <c:pt idx="44">
                  <c:v>1.4000000000000019</c:v>
                </c:pt>
                <c:pt idx="45">
                  <c:v>1.500000000000002</c:v>
                </c:pt>
                <c:pt idx="46">
                  <c:v>1.6000000000000021</c:v>
                </c:pt>
                <c:pt idx="47">
                  <c:v>1.7000000000000022</c:v>
                </c:pt>
                <c:pt idx="48">
                  <c:v>1.8000000000000023</c:v>
                </c:pt>
                <c:pt idx="49">
                  <c:v>1.9000000000000024</c:v>
                </c:pt>
                <c:pt idx="50">
                  <c:v>2.0000000000000022</c:v>
                </c:pt>
                <c:pt idx="51">
                  <c:v>2.1000000000000023</c:v>
                </c:pt>
                <c:pt idx="52">
                  <c:v>2.2000000000000024</c:v>
                </c:pt>
                <c:pt idx="53">
                  <c:v>2.3000000000000025</c:v>
                </c:pt>
                <c:pt idx="54">
                  <c:v>2.4000000000000026</c:v>
                </c:pt>
                <c:pt idx="55">
                  <c:v>2.5000000000000027</c:v>
                </c:pt>
                <c:pt idx="56">
                  <c:v>2.6000000000000028</c:v>
                </c:pt>
                <c:pt idx="57">
                  <c:v>2.7000000000000028</c:v>
                </c:pt>
                <c:pt idx="58">
                  <c:v>2.8000000000000029</c:v>
                </c:pt>
                <c:pt idx="59">
                  <c:v>2.900000000000003</c:v>
                </c:pt>
                <c:pt idx="60">
                  <c:v>3.0000000000000031</c:v>
                </c:pt>
              </c:numCache>
            </c:numRef>
          </c:xVal>
          <c:yVal>
            <c:numRef>
              <c:f>'[Expected Payoffs.xlsx]CDF'!$F$4:$F$64</c:f>
              <c:numCache>
                <c:formatCode>General</c:formatCode>
                <c:ptCount val="61"/>
                <c:pt idx="0">
                  <c:v>4.4318484119380075E-3</c:v>
                </c:pt>
                <c:pt idx="1">
                  <c:v>5.9525324197758538E-3</c:v>
                </c:pt>
                <c:pt idx="2">
                  <c:v>7.9154515829799686E-3</c:v>
                </c:pt>
                <c:pt idx="3">
                  <c:v>1.0420934814422605E-2</c:v>
                </c:pt>
                <c:pt idx="4">
                  <c:v>1.3582969233685634E-2</c:v>
                </c:pt>
                <c:pt idx="5">
                  <c:v>1.7528300493568554E-2</c:v>
                </c:pt>
                <c:pt idx="6">
                  <c:v>2.2394530294842931E-2</c:v>
                </c:pt>
                <c:pt idx="7">
                  <c:v>2.832703774160121E-2</c:v>
                </c:pt>
                <c:pt idx="8">
                  <c:v>3.5474592846231487E-2</c:v>
                </c:pt>
                <c:pt idx="9">
                  <c:v>4.3983595980427267E-2</c:v>
                </c:pt>
                <c:pt idx="10">
                  <c:v>5.3990966513188146E-2</c:v>
                </c:pt>
                <c:pt idx="11">
                  <c:v>6.561581477467672E-2</c:v>
                </c:pt>
                <c:pt idx="12">
                  <c:v>7.8950158300894302E-2</c:v>
                </c:pt>
                <c:pt idx="13">
                  <c:v>9.4049077376887114E-2</c:v>
                </c:pt>
                <c:pt idx="14">
                  <c:v>0.11092083467945579</c:v>
                </c:pt>
                <c:pt idx="15">
                  <c:v>0.12951759566589199</c:v>
                </c:pt>
                <c:pt idx="16">
                  <c:v>0.14972746563574515</c:v>
                </c:pt>
                <c:pt idx="17">
                  <c:v>0.17136859204780769</c:v>
                </c:pt>
                <c:pt idx="18">
                  <c:v>0.19418605498321331</c:v>
                </c:pt>
                <c:pt idx="19">
                  <c:v>0.21785217703255097</c:v>
                </c:pt>
                <c:pt idx="20">
                  <c:v>0.24197072451914375</c:v>
                </c:pt>
                <c:pt idx="21">
                  <c:v>0.26608524989875521</c:v>
                </c:pt>
                <c:pt idx="22">
                  <c:v>0.28969155276148312</c:v>
                </c:pt>
                <c:pt idx="23">
                  <c:v>0.3122539333667616</c:v>
                </c:pt>
                <c:pt idx="24">
                  <c:v>0.33322460289179995</c:v>
                </c:pt>
                <c:pt idx="25">
                  <c:v>0.3520653267642998</c:v>
                </c:pt>
                <c:pt idx="26">
                  <c:v>0.36827014030332356</c:v>
                </c:pt>
                <c:pt idx="27">
                  <c:v>0.38138781546052425</c:v>
                </c:pt>
                <c:pt idx="28">
                  <c:v>0.39104269397545599</c:v>
                </c:pt>
                <c:pt idx="29">
                  <c:v>0.39695254747701186</c:v>
                </c:pt>
                <c:pt idx="30">
                  <c:v>0.3989422804014327</c:v>
                </c:pt>
                <c:pt idx="31">
                  <c:v>0.39695254747701175</c:v>
                </c:pt>
                <c:pt idx="32">
                  <c:v>0.39104269397545577</c:v>
                </c:pt>
                <c:pt idx="33">
                  <c:v>0.38138781546052397</c:v>
                </c:pt>
                <c:pt idx="34">
                  <c:v>0.36827014030332311</c:v>
                </c:pt>
                <c:pt idx="35">
                  <c:v>0.35206532676429919</c:v>
                </c:pt>
                <c:pt idx="36">
                  <c:v>0.33322460289179934</c:v>
                </c:pt>
                <c:pt idx="37">
                  <c:v>0.31225393336676094</c:v>
                </c:pt>
                <c:pt idx="38">
                  <c:v>0.2896915527614824</c:v>
                </c:pt>
                <c:pt idx="39">
                  <c:v>0.26608524989875448</c:v>
                </c:pt>
                <c:pt idx="40">
                  <c:v>0.241970724519143</c:v>
                </c:pt>
                <c:pt idx="41">
                  <c:v>0.21785217703255014</c:v>
                </c:pt>
                <c:pt idx="42">
                  <c:v>0.19418605498321254</c:v>
                </c:pt>
                <c:pt idx="43">
                  <c:v>0.17136859204780694</c:v>
                </c:pt>
                <c:pt idx="44">
                  <c:v>0.14972746563574449</c:v>
                </c:pt>
                <c:pt idx="45">
                  <c:v>0.12951759566589133</c:v>
                </c:pt>
                <c:pt idx="46">
                  <c:v>0.1109208346794552</c:v>
                </c:pt>
                <c:pt idx="47">
                  <c:v>9.4049077376886586E-2</c:v>
                </c:pt>
                <c:pt idx="48">
                  <c:v>7.8950158300893844E-2</c:v>
                </c:pt>
                <c:pt idx="49">
                  <c:v>6.5615814774676304E-2</c:v>
                </c:pt>
                <c:pt idx="50">
                  <c:v>5.3990966513187813E-2</c:v>
                </c:pt>
                <c:pt idx="51">
                  <c:v>4.3983595980426976E-2</c:v>
                </c:pt>
                <c:pt idx="52">
                  <c:v>3.5474592846231251E-2</c:v>
                </c:pt>
                <c:pt idx="53">
                  <c:v>2.8327037741601009E-2</c:v>
                </c:pt>
                <c:pt idx="54">
                  <c:v>2.2394530294842761E-2</c:v>
                </c:pt>
                <c:pt idx="55">
                  <c:v>1.7528300493568419E-2</c:v>
                </c:pt>
                <c:pt idx="56">
                  <c:v>1.3582969233685523E-2</c:v>
                </c:pt>
                <c:pt idx="57">
                  <c:v>1.0420934814422515E-2</c:v>
                </c:pt>
                <c:pt idx="58">
                  <c:v>7.9154515829798974E-3</c:v>
                </c:pt>
                <c:pt idx="59">
                  <c:v>5.9525324197758009E-3</c:v>
                </c:pt>
                <c:pt idx="60">
                  <c:v>4.4318484119379676E-3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7AA-4D03-99D2-200322D23B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92668079"/>
        <c:axId val="592666639"/>
      </c:scatterChart>
      <c:valAx>
        <c:axId val="592668079"/>
        <c:scaling>
          <c:orientation val="minMax"/>
          <c:max val="3"/>
          <c:min val="-3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2666639"/>
        <c:crosses val="autoZero"/>
        <c:crossBetween val="midCat"/>
      </c:valAx>
      <c:valAx>
        <c:axId val="592666639"/>
        <c:scaling>
          <c:orientation val="minMax"/>
          <c:max val="0.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2668079"/>
        <c:crosses val="autoZero"/>
        <c:crossBetween val="midCat"/>
        <c:majorUnit val="0.1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'[Figures.xlsx]Exponential CDF'!$D$4:$D$104</c:f>
              <c:numCache>
                <c:formatCode>General</c:formatCode>
                <c:ptCount val="10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0.30000000000000004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0.79999999999999993</c:v>
                </c:pt>
                <c:pt idx="9">
                  <c:v>0.89999999999999991</c:v>
                </c:pt>
                <c:pt idx="10">
                  <c:v>0.99999999999999989</c:v>
                </c:pt>
                <c:pt idx="11">
                  <c:v>1.0999999999999999</c:v>
                </c:pt>
                <c:pt idx="12">
                  <c:v>1.2</c:v>
                </c:pt>
                <c:pt idx="13">
                  <c:v>1.3</c:v>
                </c:pt>
                <c:pt idx="14">
                  <c:v>1.4000000000000001</c:v>
                </c:pt>
                <c:pt idx="15">
                  <c:v>1.5000000000000002</c:v>
                </c:pt>
                <c:pt idx="16">
                  <c:v>1.6000000000000003</c:v>
                </c:pt>
                <c:pt idx="17">
                  <c:v>1.7000000000000004</c:v>
                </c:pt>
                <c:pt idx="18">
                  <c:v>1.8000000000000005</c:v>
                </c:pt>
                <c:pt idx="19">
                  <c:v>1.9000000000000006</c:v>
                </c:pt>
                <c:pt idx="20">
                  <c:v>2.0000000000000004</c:v>
                </c:pt>
                <c:pt idx="21">
                  <c:v>2.1000000000000005</c:v>
                </c:pt>
                <c:pt idx="22">
                  <c:v>2.2000000000000006</c:v>
                </c:pt>
                <c:pt idx="23">
                  <c:v>2.3000000000000007</c:v>
                </c:pt>
                <c:pt idx="24">
                  <c:v>2.4000000000000008</c:v>
                </c:pt>
                <c:pt idx="25">
                  <c:v>2.5000000000000009</c:v>
                </c:pt>
                <c:pt idx="26">
                  <c:v>2.600000000000001</c:v>
                </c:pt>
                <c:pt idx="27">
                  <c:v>2.7000000000000011</c:v>
                </c:pt>
                <c:pt idx="28">
                  <c:v>2.8000000000000012</c:v>
                </c:pt>
                <c:pt idx="29">
                  <c:v>2.9000000000000012</c:v>
                </c:pt>
                <c:pt idx="30">
                  <c:v>3.0000000000000013</c:v>
                </c:pt>
                <c:pt idx="31">
                  <c:v>3.1000000000000014</c:v>
                </c:pt>
                <c:pt idx="32">
                  <c:v>3.2000000000000015</c:v>
                </c:pt>
                <c:pt idx="33">
                  <c:v>3.3000000000000016</c:v>
                </c:pt>
                <c:pt idx="34">
                  <c:v>3.4000000000000017</c:v>
                </c:pt>
                <c:pt idx="35">
                  <c:v>3.5000000000000018</c:v>
                </c:pt>
                <c:pt idx="36">
                  <c:v>3.6000000000000019</c:v>
                </c:pt>
                <c:pt idx="37">
                  <c:v>3.700000000000002</c:v>
                </c:pt>
                <c:pt idx="38">
                  <c:v>3.800000000000002</c:v>
                </c:pt>
                <c:pt idx="39">
                  <c:v>3.9000000000000021</c:v>
                </c:pt>
                <c:pt idx="40">
                  <c:v>4.0000000000000018</c:v>
                </c:pt>
                <c:pt idx="41">
                  <c:v>4.1000000000000014</c:v>
                </c:pt>
                <c:pt idx="42">
                  <c:v>4.2000000000000011</c:v>
                </c:pt>
                <c:pt idx="43">
                  <c:v>4.3000000000000007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4.6999999999999993</c:v>
                </c:pt>
                <c:pt idx="48">
                  <c:v>4.7999999999999989</c:v>
                </c:pt>
                <c:pt idx="49">
                  <c:v>4.8999999999999986</c:v>
                </c:pt>
                <c:pt idx="50">
                  <c:v>4.9999999999999982</c:v>
                </c:pt>
                <c:pt idx="51">
                  <c:v>5.0999999999999979</c:v>
                </c:pt>
                <c:pt idx="52">
                  <c:v>5.1999999999999975</c:v>
                </c:pt>
                <c:pt idx="53">
                  <c:v>5.2999999999999972</c:v>
                </c:pt>
                <c:pt idx="54">
                  <c:v>5.3999999999999968</c:v>
                </c:pt>
                <c:pt idx="55">
                  <c:v>5.4999999999999964</c:v>
                </c:pt>
                <c:pt idx="56">
                  <c:v>5.5999999999999961</c:v>
                </c:pt>
                <c:pt idx="57">
                  <c:v>5.6999999999999957</c:v>
                </c:pt>
                <c:pt idx="58">
                  <c:v>5.7999999999999954</c:v>
                </c:pt>
                <c:pt idx="59">
                  <c:v>5.899999999999995</c:v>
                </c:pt>
                <c:pt idx="60">
                  <c:v>5.9999999999999947</c:v>
                </c:pt>
                <c:pt idx="61">
                  <c:v>6.0999999999999943</c:v>
                </c:pt>
                <c:pt idx="62">
                  <c:v>6.199999999999994</c:v>
                </c:pt>
                <c:pt idx="63">
                  <c:v>6.2999999999999936</c:v>
                </c:pt>
                <c:pt idx="64">
                  <c:v>6.3999999999999932</c:v>
                </c:pt>
                <c:pt idx="65">
                  <c:v>6.4999999999999929</c:v>
                </c:pt>
                <c:pt idx="66">
                  <c:v>6.5999999999999925</c:v>
                </c:pt>
                <c:pt idx="67">
                  <c:v>6.6999999999999922</c:v>
                </c:pt>
                <c:pt idx="68">
                  <c:v>6.7999999999999918</c:v>
                </c:pt>
                <c:pt idx="69">
                  <c:v>6.8999999999999915</c:v>
                </c:pt>
                <c:pt idx="70">
                  <c:v>6.9999999999999911</c:v>
                </c:pt>
                <c:pt idx="71">
                  <c:v>7.0999999999999908</c:v>
                </c:pt>
                <c:pt idx="72">
                  <c:v>7.1999999999999904</c:v>
                </c:pt>
                <c:pt idx="73">
                  <c:v>7.2999999999999901</c:v>
                </c:pt>
                <c:pt idx="74">
                  <c:v>7.3999999999999897</c:v>
                </c:pt>
                <c:pt idx="75">
                  <c:v>7.4999999999999893</c:v>
                </c:pt>
                <c:pt idx="76">
                  <c:v>7.599999999999989</c:v>
                </c:pt>
                <c:pt idx="77">
                  <c:v>7.6999999999999886</c:v>
                </c:pt>
                <c:pt idx="78">
                  <c:v>7.7999999999999883</c:v>
                </c:pt>
                <c:pt idx="79">
                  <c:v>7.8999999999999879</c:v>
                </c:pt>
                <c:pt idx="80">
                  <c:v>7.9999999999999876</c:v>
                </c:pt>
                <c:pt idx="81">
                  <c:v>8.0999999999999872</c:v>
                </c:pt>
                <c:pt idx="82">
                  <c:v>8.1999999999999869</c:v>
                </c:pt>
                <c:pt idx="83">
                  <c:v>8.2999999999999865</c:v>
                </c:pt>
                <c:pt idx="84">
                  <c:v>8.3999999999999861</c:v>
                </c:pt>
                <c:pt idx="85">
                  <c:v>8.4999999999999858</c:v>
                </c:pt>
                <c:pt idx="86">
                  <c:v>8.5999999999999854</c:v>
                </c:pt>
                <c:pt idx="87">
                  <c:v>8.6999999999999851</c:v>
                </c:pt>
                <c:pt idx="88">
                  <c:v>8.7999999999999847</c:v>
                </c:pt>
                <c:pt idx="89">
                  <c:v>8.8999999999999844</c:v>
                </c:pt>
                <c:pt idx="90">
                  <c:v>8.999999999999984</c:v>
                </c:pt>
                <c:pt idx="91">
                  <c:v>9.0999999999999837</c:v>
                </c:pt>
                <c:pt idx="92">
                  <c:v>9.1999999999999833</c:v>
                </c:pt>
                <c:pt idx="93">
                  <c:v>9.2999999999999829</c:v>
                </c:pt>
                <c:pt idx="94">
                  <c:v>9.3999999999999826</c:v>
                </c:pt>
                <c:pt idx="95">
                  <c:v>9.4999999999999822</c:v>
                </c:pt>
                <c:pt idx="96">
                  <c:v>9.5999999999999819</c:v>
                </c:pt>
                <c:pt idx="97">
                  <c:v>9.6999999999999815</c:v>
                </c:pt>
                <c:pt idx="98">
                  <c:v>9.7999999999999812</c:v>
                </c:pt>
                <c:pt idx="99">
                  <c:v>9.8999999999999808</c:v>
                </c:pt>
                <c:pt idx="100">
                  <c:v>9.9999999999999805</c:v>
                </c:pt>
              </c:numCache>
            </c:numRef>
          </c:xVal>
          <c:yVal>
            <c:numRef>
              <c:f>'[Figures.xlsx]Exponential CDF'!$E$4:$E$104</c:f>
              <c:numCache>
                <c:formatCode>General</c:formatCode>
                <c:ptCount val="101"/>
                <c:pt idx="0">
                  <c:v>0</c:v>
                </c:pt>
                <c:pt idx="1">
                  <c:v>2.2900583670587449E-2</c:v>
                </c:pt>
                <c:pt idx="2">
                  <c:v>4.5347705402447529E-2</c:v>
                </c:pt>
                <c:pt idx="3">
                  <c:v>6.7350344343571997E-2</c:v>
                </c:pt>
                <c:pt idx="4">
                  <c:v>8.8917301842909829E-2</c:v>
                </c:pt>
                <c:pt idx="5">
                  <c:v>0.11005720497102395</c:v>
                </c:pt>
                <c:pt idx="6">
                  <c:v>0.13077850997103468</c:v>
                </c:pt>
                <c:pt idx="7">
                  <c:v>0.15108950564122978</c:v>
                </c:pt>
                <c:pt idx="8">
                  <c:v>0.17099831665069437</c:v>
                </c:pt>
                <c:pt idx="9">
                  <c:v>0.19051290678928648</c:v>
                </c:pt>
                <c:pt idx="10">
                  <c:v>0.20964108215325955</c:v>
                </c:pt>
                <c:pt idx="11">
                  <c:v>0.22839049426780483</c:v>
                </c:pt>
                <c:pt idx="12">
                  <c:v>0.24676864314776376</c:v>
                </c:pt>
                <c:pt idx="13">
                  <c:v>0.26478288029773367</c:v>
                </c:pt>
                <c:pt idx="14">
                  <c:v>0.28244041165276729</c:v>
                </c:pt>
                <c:pt idx="15">
                  <c:v>0.29974830046084366</c:v>
                </c:pt>
                <c:pt idx="16">
                  <c:v>0.31671347010826117</c:v>
                </c:pt>
                <c:pt idx="17">
                  <c:v>0.33334270688908363</c:v>
                </c:pt>
                <c:pt idx="18">
                  <c:v>0.34964266271974975</c:v>
                </c:pt>
                <c:pt idx="19">
                  <c:v>0.36561985779992739</c:v>
                </c:pt>
                <c:pt idx="20">
                  <c:v>0.38128068322068082</c:v>
                </c:pt>
                <c:pt idx="21">
                  <c:v>0.39663140352099202</c:v>
                </c:pt>
                <c:pt idx="22">
                  <c:v>0.41167815919366002</c:v>
                </c:pt>
                <c:pt idx="23">
                  <c:v>0.42642696914158024</c:v>
                </c:pt>
                <c:pt idx="24">
                  <c:v>0.44088373308538503</c:v>
                </c:pt>
                <c:pt idx="25">
                  <c:v>0.45505423392341138</c:v>
                </c:pt>
                <c:pt idx="26">
                  <c:v>0.46894414004493717</c:v>
                </c:pt>
                <c:pt idx="27">
                  <c:v>0.48255900759761206</c:v>
                </c:pt>
                <c:pt idx="28">
                  <c:v>0.49590428270999115</c:v>
                </c:pt>
                <c:pt idx="29">
                  <c:v>0.5089853036700589</c:v>
                </c:pt>
                <c:pt idx="30">
                  <c:v>0.52180730306061507</c:v>
                </c:pt>
                <c:pt idx="31">
                  <c:v>0.53437540985237819</c:v>
                </c:pt>
                <c:pt idx="32">
                  <c:v>0.54669465145564233</c:v>
                </c:pt>
                <c:pt idx="33">
                  <c:v>0.55876995573130694</c:v>
                </c:pt>
                <c:pt idx="34">
                  <c:v>0.57060615296208883</c:v>
                </c:pt>
                <c:pt idx="35">
                  <c:v>0.58220797778469835</c:v>
                </c:pt>
                <c:pt idx="36">
                  <c:v>0.59358007108375754</c:v>
                </c:pt>
                <c:pt idx="37">
                  <c:v>0.60472698184821605</c:v>
                </c:pt>
                <c:pt idx="38">
                  <c:v>0.61565316899100708</c:v>
                </c:pt>
                <c:pt idx="39">
                  <c:v>0.62636300313267224</c:v>
                </c:pt>
                <c:pt idx="40">
                  <c:v>0.63686076834966776</c:v>
                </c:pt>
                <c:pt idx="41">
                  <c:v>0.64715066388805231</c:v>
                </c:pt>
                <c:pt idx="42">
                  <c:v>0.65723680584324229</c:v>
                </c:pt>
                <c:pt idx="43">
                  <c:v>0.66712322880650299</c:v>
                </c:pt>
                <c:pt idx="44">
                  <c:v>0.67681388747884053</c:v>
                </c:pt>
                <c:pt idx="45">
                  <c:v>0.6863126582529343</c:v>
                </c:pt>
                <c:pt idx="46">
                  <c:v>0.6956233407637461</c:v>
                </c:pt>
                <c:pt idx="47">
                  <c:v>0.70474965940842438</c:v>
                </c:pt>
                <c:pt idx="48">
                  <c:v>0.71369526483611256</c:v>
                </c:pt>
                <c:pt idx="49">
                  <c:v>0.72246373540825815</c:v>
                </c:pt>
                <c:pt idx="50">
                  <c:v>0.73105857863000479</c:v>
                </c:pt>
                <c:pt idx="51">
                  <c:v>0.73948323255324022</c:v>
                </c:pt>
                <c:pt idx="52">
                  <c:v>0.74774106715186428</c:v>
                </c:pt>
                <c:pt idx="53">
                  <c:v>0.75583538566982211</c:v>
                </c:pt>
                <c:pt idx="54">
                  <c:v>0.76376942594244679</c:v>
                </c:pt>
                <c:pt idx="55">
                  <c:v>0.77154636169163582</c:v>
                </c:pt>
                <c:pt idx="56">
                  <c:v>0.77916930379538263</c:v>
                </c:pt>
                <c:pt idx="57">
                  <c:v>0.78664130153216971</c:v>
                </c:pt>
                <c:pt idx="58">
                  <c:v>0.79396534380071937</c:v>
                </c:pt>
                <c:pt idx="59">
                  <c:v>0.80114436031559433</c:v>
                </c:pt>
                <c:pt idx="60">
                  <c:v>0.80818122277912208</c:v>
                </c:pt>
                <c:pt idx="61">
                  <c:v>0.8150787460301141</c:v>
                </c:pt>
                <c:pt idx="62">
                  <c:v>0.82183968916983907</c:v>
                </c:pt>
                <c:pt idx="63">
                  <c:v>0.82846675666569969</c:v>
                </c:pt>
                <c:pt idx="64">
                  <c:v>0.83496259943305673</c:v>
                </c:pt>
                <c:pt idx="65">
                  <c:v>0.84132981589562927</c:v>
                </c:pt>
                <c:pt idx="66">
                  <c:v>0.84757095302489982</c:v>
                </c:pt>
                <c:pt idx="67">
                  <c:v>0.85368850735893642</c:v>
                </c:pt>
                <c:pt idx="68">
                  <c:v>0.85968492600104107</c:v>
                </c:pt>
                <c:pt idx="69">
                  <c:v>0.86556260759862391</c:v>
                </c:pt>
                <c:pt idx="70">
                  <c:v>0.87132390330269416</c:v>
                </c:pt>
                <c:pt idx="71">
                  <c:v>0.87697111770835179</c:v>
                </c:pt>
                <c:pt idx="72">
                  <c:v>0.88250650977665612</c:v>
                </c:pt>
                <c:pt idx="73">
                  <c:v>0.88793229373824067</c:v>
                </c:pt>
                <c:pt idx="74">
                  <c:v>0.89325063997903509</c:v>
                </c:pt>
                <c:pt idx="75">
                  <c:v>0.89846367590844778</c:v>
                </c:pt>
                <c:pt idx="76">
                  <c:v>0.90357348681035832</c:v>
                </c:pt>
                <c:pt idx="77">
                  <c:v>0.90858211667725963</c:v>
                </c:pt>
                <c:pt idx="78">
                  <c:v>0.91349156902788087</c:v>
                </c:pt>
                <c:pt idx="79">
                  <c:v>0.9183038077086223</c:v>
                </c:pt>
                <c:pt idx="80">
                  <c:v>0.92302075767912073</c:v>
                </c:pt>
                <c:pt idx="81">
                  <c:v>0.92764430578225765</c:v>
                </c:pt>
                <c:pt idx="82">
                  <c:v>0.93217630149892239</c:v>
                </c:pt>
                <c:pt idx="83">
                  <c:v>0.93661855768782909</c:v>
                </c:pt>
                <c:pt idx="84">
                  <c:v>0.94097285131068398</c:v>
                </c:pt>
                <c:pt idx="85">
                  <c:v>0.94524092414299454</c:v>
                </c:pt>
                <c:pt idx="86">
                  <c:v>0.94942448347080188</c:v>
                </c:pt>
                <c:pt idx="87">
                  <c:v>0.95352520277361896</c:v>
                </c:pt>
                <c:pt idx="88">
                  <c:v>0.95754472239384336</c:v>
                </c:pt>
                <c:pt idx="89">
                  <c:v>0.96148465019291796</c:v>
                </c:pt>
                <c:pt idx="90">
                  <c:v>0.96534656219449544</c:v>
                </c:pt>
                <c:pt idx="91">
                  <c:v>0.96913200321486881</c:v>
                </c:pt>
                <c:pt idx="92">
                  <c:v>0.97284248748091995</c:v>
                </c:pt>
                <c:pt idx="93">
                  <c:v>0.97647949923582877</c:v>
                </c:pt>
                <c:pt idx="94">
                  <c:v>0.98004449333279153</c:v>
                </c:pt>
                <c:pt idx="95">
                  <c:v>0.98353889581698084</c:v>
                </c:pt>
                <c:pt idx="96">
                  <c:v>0.98696410449598293</c:v>
                </c:pt>
                <c:pt idx="97">
                  <c:v>0.99032148949893983</c:v>
                </c:pt>
                <c:pt idx="98">
                  <c:v>0.99361239382461797</c:v>
                </c:pt>
                <c:pt idx="99">
                  <c:v>0.99683813387862708</c:v>
                </c:pt>
                <c:pt idx="100">
                  <c:v>0.99999999999999933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EE7-467F-9B10-76DA408943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63917840"/>
        <c:axId val="1263915440"/>
      </c:scatterChart>
      <c:valAx>
        <c:axId val="1263917840"/>
        <c:scaling>
          <c:orientation val="minMax"/>
          <c:max val="1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600"/>
                  <a:t>Outcome (x)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3915440"/>
        <c:crosses val="autoZero"/>
        <c:crossBetween val="midCat"/>
      </c:valAx>
      <c:valAx>
        <c:axId val="1263915440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600"/>
                  <a:t>F(x)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39178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'[Figures.xlsx]Exponential CDF'!$D$4:$D$104</c:f>
              <c:numCache>
                <c:formatCode>General</c:formatCode>
                <c:ptCount val="10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0.30000000000000004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0.79999999999999993</c:v>
                </c:pt>
                <c:pt idx="9">
                  <c:v>0.89999999999999991</c:v>
                </c:pt>
                <c:pt idx="10">
                  <c:v>0.99999999999999989</c:v>
                </c:pt>
                <c:pt idx="11">
                  <c:v>1.0999999999999999</c:v>
                </c:pt>
                <c:pt idx="12">
                  <c:v>1.2</c:v>
                </c:pt>
                <c:pt idx="13">
                  <c:v>1.3</c:v>
                </c:pt>
                <c:pt idx="14">
                  <c:v>1.4000000000000001</c:v>
                </c:pt>
                <c:pt idx="15">
                  <c:v>1.5000000000000002</c:v>
                </c:pt>
                <c:pt idx="16">
                  <c:v>1.6000000000000003</c:v>
                </c:pt>
                <c:pt idx="17">
                  <c:v>1.7000000000000004</c:v>
                </c:pt>
                <c:pt idx="18">
                  <c:v>1.8000000000000005</c:v>
                </c:pt>
                <c:pt idx="19">
                  <c:v>1.9000000000000006</c:v>
                </c:pt>
                <c:pt idx="20">
                  <c:v>2.0000000000000004</c:v>
                </c:pt>
                <c:pt idx="21">
                  <c:v>2.1000000000000005</c:v>
                </c:pt>
                <c:pt idx="22">
                  <c:v>2.2000000000000006</c:v>
                </c:pt>
                <c:pt idx="23">
                  <c:v>2.3000000000000007</c:v>
                </c:pt>
                <c:pt idx="24">
                  <c:v>2.4000000000000008</c:v>
                </c:pt>
                <c:pt idx="25">
                  <c:v>2.5000000000000009</c:v>
                </c:pt>
                <c:pt idx="26">
                  <c:v>2.600000000000001</c:v>
                </c:pt>
                <c:pt idx="27">
                  <c:v>2.7000000000000011</c:v>
                </c:pt>
                <c:pt idx="28">
                  <c:v>2.8000000000000012</c:v>
                </c:pt>
                <c:pt idx="29">
                  <c:v>2.9000000000000012</c:v>
                </c:pt>
                <c:pt idx="30">
                  <c:v>3.0000000000000013</c:v>
                </c:pt>
                <c:pt idx="31">
                  <c:v>3.1000000000000014</c:v>
                </c:pt>
                <c:pt idx="32">
                  <c:v>3.2000000000000015</c:v>
                </c:pt>
                <c:pt idx="33">
                  <c:v>3.3000000000000016</c:v>
                </c:pt>
                <c:pt idx="34">
                  <c:v>3.4000000000000017</c:v>
                </c:pt>
                <c:pt idx="35">
                  <c:v>3.5000000000000018</c:v>
                </c:pt>
                <c:pt idx="36">
                  <c:v>3.6000000000000019</c:v>
                </c:pt>
                <c:pt idx="37">
                  <c:v>3.700000000000002</c:v>
                </c:pt>
                <c:pt idx="38">
                  <c:v>3.800000000000002</c:v>
                </c:pt>
                <c:pt idx="39">
                  <c:v>3.9000000000000021</c:v>
                </c:pt>
                <c:pt idx="40">
                  <c:v>4.0000000000000018</c:v>
                </c:pt>
                <c:pt idx="41">
                  <c:v>4.1000000000000014</c:v>
                </c:pt>
                <c:pt idx="42">
                  <c:v>4.2000000000000011</c:v>
                </c:pt>
                <c:pt idx="43">
                  <c:v>4.3000000000000007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4.6999999999999993</c:v>
                </c:pt>
                <c:pt idx="48">
                  <c:v>4.7999999999999989</c:v>
                </c:pt>
                <c:pt idx="49">
                  <c:v>4.8999999999999986</c:v>
                </c:pt>
                <c:pt idx="50">
                  <c:v>4.9999999999999982</c:v>
                </c:pt>
                <c:pt idx="51">
                  <c:v>5.0999999999999979</c:v>
                </c:pt>
                <c:pt idx="52">
                  <c:v>5.1999999999999975</c:v>
                </c:pt>
                <c:pt idx="53">
                  <c:v>5.2999999999999972</c:v>
                </c:pt>
                <c:pt idx="54">
                  <c:v>5.3999999999999968</c:v>
                </c:pt>
                <c:pt idx="55">
                  <c:v>5.4999999999999964</c:v>
                </c:pt>
                <c:pt idx="56">
                  <c:v>5.5999999999999961</c:v>
                </c:pt>
                <c:pt idx="57">
                  <c:v>5.6999999999999957</c:v>
                </c:pt>
                <c:pt idx="58">
                  <c:v>5.7999999999999954</c:v>
                </c:pt>
                <c:pt idx="59">
                  <c:v>5.899999999999995</c:v>
                </c:pt>
                <c:pt idx="60">
                  <c:v>5.9999999999999947</c:v>
                </c:pt>
                <c:pt idx="61">
                  <c:v>6.0999999999999943</c:v>
                </c:pt>
                <c:pt idx="62">
                  <c:v>6.199999999999994</c:v>
                </c:pt>
                <c:pt idx="63">
                  <c:v>6.2999999999999936</c:v>
                </c:pt>
                <c:pt idx="64">
                  <c:v>6.3999999999999932</c:v>
                </c:pt>
                <c:pt idx="65">
                  <c:v>6.4999999999999929</c:v>
                </c:pt>
                <c:pt idx="66">
                  <c:v>6.5999999999999925</c:v>
                </c:pt>
                <c:pt idx="67">
                  <c:v>6.6999999999999922</c:v>
                </c:pt>
                <c:pt idx="68">
                  <c:v>6.7999999999999918</c:v>
                </c:pt>
                <c:pt idx="69">
                  <c:v>6.8999999999999915</c:v>
                </c:pt>
                <c:pt idx="70">
                  <c:v>6.9999999999999911</c:v>
                </c:pt>
                <c:pt idx="71">
                  <c:v>7.0999999999999908</c:v>
                </c:pt>
                <c:pt idx="72">
                  <c:v>7.1999999999999904</c:v>
                </c:pt>
                <c:pt idx="73">
                  <c:v>7.2999999999999901</c:v>
                </c:pt>
                <c:pt idx="74">
                  <c:v>7.3999999999999897</c:v>
                </c:pt>
                <c:pt idx="75">
                  <c:v>7.4999999999999893</c:v>
                </c:pt>
                <c:pt idx="76">
                  <c:v>7.599999999999989</c:v>
                </c:pt>
                <c:pt idx="77">
                  <c:v>7.6999999999999886</c:v>
                </c:pt>
                <c:pt idx="78">
                  <c:v>7.7999999999999883</c:v>
                </c:pt>
                <c:pt idx="79">
                  <c:v>7.8999999999999879</c:v>
                </c:pt>
                <c:pt idx="80">
                  <c:v>7.9999999999999876</c:v>
                </c:pt>
                <c:pt idx="81">
                  <c:v>8.0999999999999872</c:v>
                </c:pt>
                <c:pt idx="82">
                  <c:v>8.1999999999999869</c:v>
                </c:pt>
                <c:pt idx="83">
                  <c:v>8.2999999999999865</c:v>
                </c:pt>
                <c:pt idx="84">
                  <c:v>8.3999999999999861</c:v>
                </c:pt>
                <c:pt idx="85">
                  <c:v>8.4999999999999858</c:v>
                </c:pt>
                <c:pt idx="86">
                  <c:v>8.5999999999999854</c:v>
                </c:pt>
                <c:pt idx="87">
                  <c:v>8.6999999999999851</c:v>
                </c:pt>
                <c:pt idx="88">
                  <c:v>8.7999999999999847</c:v>
                </c:pt>
                <c:pt idx="89">
                  <c:v>8.8999999999999844</c:v>
                </c:pt>
                <c:pt idx="90">
                  <c:v>8.999999999999984</c:v>
                </c:pt>
                <c:pt idx="91">
                  <c:v>9.0999999999999837</c:v>
                </c:pt>
                <c:pt idx="92">
                  <c:v>9.1999999999999833</c:v>
                </c:pt>
                <c:pt idx="93">
                  <c:v>9.2999999999999829</c:v>
                </c:pt>
                <c:pt idx="94">
                  <c:v>9.3999999999999826</c:v>
                </c:pt>
                <c:pt idx="95">
                  <c:v>9.4999999999999822</c:v>
                </c:pt>
                <c:pt idx="96">
                  <c:v>9.5999999999999819</c:v>
                </c:pt>
                <c:pt idx="97">
                  <c:v>9.6999999999999815</c:v>
                </c:pt>
                <c:pt idx="98">
                  <c:v>9.7999999999999812</c:v>
                </c:pt>
                <c:pt idx="99">
                  <c:v>9.8999999999999808</c:v>
                </c:pt>
                <c:pt idx="100">
                  <c:v>9.9999999999999805</c:v>
                </c:pt>
              </c:numCache>
            </c:numRef>
          </c:xVal>
          <c:yVal>
            <c:numRef>
              <c:f>'[Figures.xlsx]Exponential CDF'!$F$4:$F$104</c:f>
              <c:numCache>
                <c:formatCode>General</c:formatCode>
                <c:ptCount val="101"/>
                <c:pt idx="0">
                  <c:v>0.23130352854993314</c:v>
                </c:pt>
                <c:pt idx="1">
                  <c:v>0.22672341181581565</c:v>
                </c:pt>
                <c:pt idx="2">
                  <c:v>0.22223398746944364</c:v>
                </c:pt>
                <c:pt idx="3">
                  <c:v>0.21783345968121876</c:v>
                </c:pt>
                <c:pt idx="4">
                  <c:v>0.21352006818135119</c:v>
                </c:pt>
                <c:pt idx="5">
                  <c:v>0.20929208755572837</c:v>
                </c:pt>
                <c:pt idx="6">
                  <c:v>0.20514782655572619</c:v>
                </c:pt>
                <c:pt idx="7">
                  <c:v>0.2010856274216872</c:v>
                </c:pt>
                <c:pt idx="8">
                  <c:v>0.19710386521979428</c:v>
                </c:pt>
                <c:pt idx="9">
                  <c:v>0.19320094719207584</c:v>
                </c:pt>
                <c:pt idx="10">
                  <c:v>0.18937531211928124</c:v>
                </c:pt>
                <c:pt idx="11">
                  <c:v>0.18562542969637219</c:v>
                </c:pt>
                <c:pt idx="12">
                  <c:v>0.18194979992038038</c:v>
                </c:pt>
                <c:pt idx="13">
                  <c:v>0.17834695249038643</c:v>
                </c:pt>
                <c:pt idx="14">
                  <c:v>0.17481544621937969</c:v>
                </c:pt>
                <c:pt idx="15">
                  <c:v>0.1713538684577644</c:v>
                </c:pt>
                <c:pt idx="16">
                  <c:v>0.16796083452828092</c:v>
                </c:pt>
                <c:pt idx="17">
                  <c:v>0.16463498717211641</c:v>
                </c:pt>
                <c:pt idx="18">
                  <c:v>0.16137499600598318</c:v>
                </c:pt>
                <c:pt idx="19">
                  <c:v>0.15817955698994765</c:v>
                </c:pt>
                <c:pt idx="20">
                  <c:v>0.15504739190579697</c:v>
                </c:pt>
                <c:pt idx="21">
                  <c:v>0.15197724784573474</c:v>
                </c:pt>
                <c:pt idx="22">
                  <c:v>0.14896789671120114</c:v>
                </c:pt>
                <c:pt idx="23">
                  <c:v>0.14601813472161709</c:v>
                </c:pt>
                <c:pt idx="24">
                  <c:v>0.14312678193285613</c:v>
                </c:pt>
                <c:pt idx="25">
                  <c:v>0.14029268176525087</c:v>
                </c:pt>
                <c:pt idx="26">
                  <c:v>0.13751470054094569</c:v>
                </c:pt>
                <c:pt idx="27">
                  <c:v>0.13479172703041073</c:v>
                </c:pt>
                <c:pt idx="28">
                  <c:v>0.1321226720079349</c:v>
                </c:pt>
                <c:pt idx="29">
                  <c:v>0.12950646781592134</c:v>
                </c:pt>
                <c:pt idx="30">
                  <c:v>0.12694206793781013</c:v>
                </c:pt>
                <c:pt idx="31">
                  <c:v>0.12442844657945749</c:v>
                </c:pt>
                <c:pt idx="32">
                  <c:v>0.12196459825880468</c:v>
                </c:pt>
                <c:pt idx="33">
                  <c:v>0.11954953740367176</c:v>
                </c:pt>
                <c:pt idx="34">
                  <c:v>0.11718229795751538</c:v>
                </c:pt>
                <c:pt idx="35">
                  <c:v>0.11486193299299347</c:v>
                </c:pt>
                <c:pt idx="36">
                  <c:v>0.11258751433318163</c:v>
                </c:pt>
                <c:pt idx="37">
                  <c:v>0.11035813218028992</c:v>
                </c:pt>
                <c:pt idx="38">
                  <c:v>0.10817289475173171</c:v>
                </c:pt>
                <c:pt idx="39">
                  <c:v>0.1060309279233987</c:v>
                </c:pt>
                <c:pt idx="40">
                  <c:v>0.10393137487999961</c:v>
                </c:pt>
                <c:pt idx="41">
                  <c:v>0.10187339577232266</c:v>
                </c:pt>
                <c:pt idx="42">
                  <c:v>9.9856167381284694E-2</c:v>
                </c:pt>
                <c:pt idx="43">
                  <c:v>9.7878882788632549E-2</c:v>
                </c:pt>
                <c:pt idx="44">
                  <c:v>9.5940751054165038E-2</c:v>
                </c:pt>
                <c:pt idx="45">
                  <c:v>9.4040996899346266E-2</c:v>
                </c:pt>
                <c:pt idx="46">
                  <c:v>9.2178860397183912E-2</c:v>
                </c:pt>
                <c:pt idx="47">
                  <c:v>9.0353596668248284E-2</c:v>
                </c:pt>
                <c:pt idx="48">
                  <c:v>8.8564475582710633E-2</c:v>
                </c:pt>
                <c:pt idx="49">
                  <c:v>8.68107814682815E-2</c:v>
                </c:pt>
                <c:pt idx="50">
                  <c:v>8.5091812823932189E-2</c:v>
                </c:pt>
                <c:pt idx="51">
                  <c:v>8.3406882039285091E-2</c:v>
                </c:pt>
                <c:pt idx="52">
                  <c:v>8.1755315119560273E-2</c:v>
                </c:pt>
                <c:pt idx="53">
                  <c:v>8.0136451415968715E-2</c:v>
                </c:pt>
                <c:pt idx="54">
                  <c:v>7.854964336144378E-2</c:v>
                </c:pt>
                <c:pt idx="55">
                  <c:v>7.699425621160598E-2</c:v>
                </c:pt>
                <c:pt idx="56">
                  <c:v>7.5469667790856593E-2</c:v>
                </c:pt>
                <c:pt idx="57">
                  <c:v>7.397526824349919E-2</c:v>
                </c:pt>
                <c:pt idx="58">
                  <c:v>7.2510459789789261E-2</c:v>
                </c:pt>
                <c:pt idx="59">
                  <c:v>7.1074656486814269E-2</c:v>
                </c:pt>
                <c:pt idx="60">
                  <c:v>6.9667283994108709E-2</c:v>
                </c:pt>
                <c:pt idx="61">
                  <c:v>6.8287779343910324E-2</c:v>
                </c:pt>
                <c:pt idx="62">
                  <c:v>6.6935590715965346E-2</c:v>
                </c:pt>
                <c:pt idx="63">
                  <c:v>6.56101772167932E-2</c:v>
                </c:pt>
                <c:pt idx="64">
                  <c:v>6.4311008663321803E-2</c:v>
                </c:pt>
                <c:pt idx="65">
                  <c:v>6.3037565370807291E-2</c:v>
                </c:pt>
                <c:pt idx="66">
                  <c:v>6.1789337944953178E-2</c:v>
                </c:pt>
                <c:pt idx="67">
                  <c:v>6.0565827078145854E-2</c:v>
                </c:pt>
                <c:pt idx="68">
                  <c:v>5.936654334972493E-2</c:v>
                </c:pt>
                <c:pt idx="69">
                  <c:v>5.8191007030208353E-2</c:v>
                </c:pt>
                <c:pt idx="70">
                  <c:v>5.7038747889394302E-2</c:v>
                </c:pt>
                <c:pt idx="71">
                  <c:v>5.59093050082628E-2</c:v>
                </c:pt>
                <c:pt idx="72">
                  <c:v>5.4802226594601919E-2</c:v>
                </c:pt>
                <c:pt idx="73">
                  <c:v>5.3717069802284988E-2</c:v>
                </c:pt>
                <c:pt idx="74">
                  <c:v>5.2653400554126123E-2</c:v>
                </c:pt>
                <c:pt idx="75">
                  <c:v>5.1610793368243597E-2</c:v>
                </c:pt>
                <c:pt idx="76">
                  <c:v>5.058883118786147E-2</c:v>
                </c:pt>
                <c:pt idx="77">
                  <c:v>4.9587105214481217E-2</c:v>
                </c:pt>
                <c:pt idx="78">
                  <c:v>4.860521474435698E-2</c:v>
                </c:pt>
                <c:pt idx="79">
                  <c:v>4.7642767008208665E-2</c:v>
                </c:pt>
                <c:pt idx="80">
                  <c:v>4.6699377014108978E-2</c:v>
                </c:pt>
                <c:pt idx="81">
                  <c:v>4.5774667393481613E-2</c:v>
                </c:pt>
                <c:pt idx="82">
                  <c:v>4.4868268250148668E-2</c:v>
                </c:pt>
                <c:pt idx="83">
                  <c:v>4.3979817012367334E-2</c:v>
                </c:pt>
                <c:pt idx="84">
                  <c:v>4.3108958287796331E-2</c:v>
                </c:pt>
                <c:pt idx="85">
                  <c:v>4.2255343721334222E-2</c:v>
                </c:pt>
                <c:pt idx="86">
                  <c:v>4.1418631855772749E-2</c:v>
                </c:pt>
                <c:pt idx="87">
                  <c:v>4.0598487995209362E-2</c:v>
                </c:pt>
                <c:pt idx="88">
                  <c:v>3.979458407116445E-2</c:v>
                </c:pt>
                <c:pt idx="89">
                  <c:v>3.9006598511349529E-2</c:v>
                </c:pt>
                <c:pt idx="90">
                  <c:v>3.8234216111034065E-2</c:v>
                </c:pt>
                <c:pt idx="91">
                  <c:v>3.7477127906959368E-2</c:v>
                </c:pt>
                <c:pt idx="92">
                  <c:v>3.6735031053749152E-2</c:v>
                </c:pt>
                <c:pt idx="93">
                  <c:v>3.6007628702767372E-2</c:v>
                </c:pt>
                <c:pt idx="94">
                  <c:v>3.5294629883374826E-2</c:v>
                </c:pt>
                <c:pt idx="95">
                  <c:v>3.4595749386536964E-2</c:v>
                </c:pt>
                <c:pt idx="96">
                  <c:v>3.3910707650736539E-2</c:v>
                </c:pt>
                <c:pt idx="97">
                  <c:v>3.3239230650145182E-2</c:v>
                </c:pt>
                <c:pt idx="98">
                  <c:v>3.2581049785009551E-2</c:v>
                </c:pt>
                <c:pt idx="99">
                  <c:v>3.1935901774207708E-2</c:v>
                </c:pt>
                <c:pt idx="100">
                  <c:v>3.1303528549933249E-2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315-4756-A0B2-7DF0CA32C5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63917840"/>
        <c:axId val="1263915440"/>
      </c:scatterChart>
      <c:valAx>
        <c:axId val="1263917840"/>
        <c:scaling>
          <c:orientation val="minMax"/>
          <c:max val="1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600"/>
                  <a:t>Outcome (x)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3915440"/>
        <c:crosses val="autoZero"/>
        <c:crossBetween val="midCat"/>
      </c:valAx>
      <c:valAx>
        <c:axId val="1263915440"/>
        <c:scaling>
          <c:orientation val="minMax"/>
          <c:max val="0.2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600"/>
                  <a:t>f(x)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39178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549569452318288E-2"/>
          <c:y val="6.9297306355801447E-2"/>
          <c:w val="0.86672956442715798"/>
          <c:h val="0.83389207610081384"/>
        </c:manualLayout>
      </c:layout>
      <c:scatterChart>
        <c:scatterStyle val="lineMarker"/>
        <c:varyColors val="0"/>
        <c:ser>
          <c:idx val="0"/>
          <c:order val="0"/>
          <c:tx>
            <c:v>PDF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'[Figures.xlsx]Exponential CDF'!$D$4:$D$104</c:f>
              <c:numCache>
                <c:formatCode>General</c:formatCode>
                <c:ptCount val="10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0.30000000000000004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0.79999999999999993</c:v>
                </c:pt>
                <c:pt idx="9">
                  <c:v>0.89999999999999991</c:v>
                </c:pt>
                <c:pt idx="10">
                  <c:v>0.99999999999999989</c:v>
                </c:pt>
                <c:pt idx="11">
                  <c:v>1.0999999999999999</c:v>
                </c:pt>
                <c:pt idx="12">
                  <c:v>1.2</c:v>
                </c:pt>
                <c:pt idx="13">
                  <c:v>1.3</c:v>
                </c:pt>
                <c:pt idx="14">
                  <c:v>1.4000000000000001</c:v>
                </c:pt>
                <c:pt idx="15">
                  <c:v>1.5000000000000002</c:v>
                </c:pt>
                <c:pt idx="16">
                  <c:v>1.6000000000000003</c:v>
                </c:pt>
                <c:pt idx="17">
                  <c:v>1.7000000000000004</c:v>
                </c:pt>
                <c:pt idx="18">
                  <c:v>1.8000000000000005</c:v>
                </c:pt>
                <c:pt idx="19">
                  <c:v>1.9000000000000006</c:v>
                </c:pt>
                <c:pt idx="20">
                  <c:v>2.0000000000000004</c:v>
                </c:pt>
                <c:pt idx="21">
                  <c:v>2.1000000000000005</c:v>
                </c:pt>
                <c:pt idx="22">
                  <c:v>2.2000000000000006</c:v>
                </c:pt>
                <c:pt idx="23">
                  <c:v>2.3000000000000007</c:v>
                </c:pt>
                <c:pt idx="24">
                  <c:v>2.4000000000000008</c:v>
                </c:pt>
                <c:pt idx="25">
                  <c:v>2.5000000000000009</c:v>
                </c:pt>
                <c:pt idx="26">
                  <c:v>2.600000000000001</c:v>
                </c:pt>
                <c:pt idx="27">
                  <c:v>2.7000000000000011</c:v>
                </c:pt>
                <c:pt idx="28">
                  <c:v>2.8000000000000012</c:v>
                </c:pt>
                <c:pt idx="29">
                  <c:v>2.9000000000000012</c:v>
                </c:pt>
                <c:pt idx="30">
                  <c:v>3.0000000000000013</c:v>
                </c:pt>
                <c:pt idx="31">
                  <c:v>3.1000000000000014</c:v>
                </c:pt>
                <c:pt idx="32">
                  <c:v>3.2000000000000015</c:v>
                </c:pt>
                <c:pt idx="33">
                  <c:v>3.3000000000000016</c:v>
                </c:pt>
                <c:pt idx="34">
                  <c:v>3.4000000000000017</c:v>
                </c:pt>
                <c:pt idx="35">
                  <c:v>3.5000000000000018</c:v>
                </c:pt>
                <c:pt idx="36">
                  <c:v>3.6000000000000019</c:v>
                </c:pt>
                <c:pt idx="37">
                  <c:v>3.700000000000002</c:v>
                </c:pt>
                <c:pt idx="38">
                  <c:v>3.800000000000002</c:v>
                </c:pt>
                <c:pt idx="39">
                  <c:v>3.9000000000000021</c:v>
                </c:pt>
                <c:pt idx="40">
                  <c:v>4.0000000000000018</c:v>
                </c:pt>
                <c:pt idx="41">
                  <c:v>4.1000000000000014</c:v>
                </c:pt>
                <c:pt idx="42">
                  <c:v>4.2000000000000011</c:v>
                </c:pt>
                <c:pt idx="43">
                  <c:v>4.3000000000000007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4.6999999999999993</c:v>
                </c:pt>
                <c:pt idx="48">
                  <c:v>4.7999999999999989</c:v>
                </c:pt>
                <c:pt idx="49">
                  <c:v>4.8999999999999986</c:v>
                </c:pt>
                <c:pt idx="50">
                  <c:v>4.9999999999999982</c:v>
                </c:pt>
                <c:pt idx="51">
                  <c:v>5.0999999999999979</c:v>
                </c:pt>
                <c:pt idx="52">
                  <c:v>5.1999999999999975</c:v>
                </c:pt>
                <c:pt idx="53">
                  <c:v>5.2999999999999972</c:v>
                </c:pt>
                <c:pt idx="54">
                  <c:v>5.3999999999999968</c:v>
                </c:pt>
                <c:pt idx="55">
                  <c:v>5.4999999999999964</c:v>
                </c:pt>
                <c:pt idx="56">
                  <c:v>5.5999999999999961</c:v>
                </c:pt>
                <c:pt idx="57">
                  <c:v>5.6999999999999957</c:v>
                </c:pt>
                <c:pt idx="58">
                  <c:v>5.7999999999999954</c:v>
                </c:pt>
                <c:pt idx="59">
                  <c:v>5.899999999999995</c:v>
                </c:pt>
                <c:pt idx="60">
                  <c:v>5.9999999999999947</c:v>
                </c:pt>
                <c:pt idx="61">
                  <c:v>6.0999999999999943</c:v>
                </c:pt>
                <c:pt idx="62">
                  <c:v>6.199999999999994</c:v>
                </c:pt>
                <c:pt idx="63">
                  <c:v>6.2999999999999936</c:v>
                </c:pt>
                <c:pt idx="64">
                  <c:v>6.3999999999999932</c:v>
                </c:pt>
                <c:pt idx="65">
                  <c:v>6.4999999999999929</c:v>
                </c:pt>
                <c:pt idx="66">
                  <c:v>6.5999999999999925</c:v>
                </c:pt>
                <c:pt idx="67">
                  <c:v>6.6999999999999922</c:v>
                </c:pt>
                <c:pt idx="68">
                  <c:v>6.7999999999999918</c:v>
                </c:pt>
                <c:pt idx="69">
                  <c:v>6.8999999999999915</c:v>
                </c:pt>
                <c:pt idx="70">
                  <c:v>6.9999999999999911</c:v>
                </c:pt>
                <c:pt idx="71">
                  <c:v>7.0999999999999908</c:v>
                </c:pt>
                <c:pt idx="72">
                  <c:v>7.1999999999999904</c:v>
                </c:pt>
                <c:pt idx="73">
                  <c:v>7.2999999999999901</c:v>
                </c:pt>
                <c:pt idx="74">
                  <c:v>7.3999999999999897</c:v>
                </c:pt>
                <c:pt idx="75">
                  <c:v>7.4999999999999893</c:v>
                </c:pt>
                <c:pt idx="76">
                  <c:v>7.599999999999989</c:v>
                </c:pt>
                <c:pt idx="77">
                  <c:v>7.6999999999999886</c:v>
                </c:pt>
                <c:pt idx="78">
                  <c:v>7.7999999999999883</c:v>
                </c:pt>
                <c:pt idx="79">
                  <c:v>7.8999999999999879</c:v>
                </c:pt>
                <c:pt idx="80">
                  <c:v>7.9999999999999876</c:v>
                </c:pt>
                <c:pt idx="81">
                  <c:v>8.0999999999999872</c:v>
                </c:pt>
                <c:pt idx="82">
                  <c:v>8.1999999999999869</c:v>
                </c:pt>
                <c:pt idx="83">
                  <c:v>8.2999999999999865</c:v>
                </c:pt>
                <c:pt idx="84">
                  <c:v>8.3999999999999861</c:v>
                </c:pt>
                <c:pt idx="85">
                  <c:v>8.4999999999999858</c:v>
                </c:pt>
                <c:pt idx="86">
                  <c:v>8.5999999999999854</c:v>
                </c:pt>
                <c:pt idx="87">
                  <c:v>8.6999999999999851</c:v>
                </c:pt>
                <c:pt idx="88">
                  <c:v>8.7999999999999847</c:v>
                </c:pt>
                <c:pt idx="89">
                  <c:v>8.8999999999999844</c:v>
                </c:pt>
                <c:pt idx="90">
                  <c:v>8.999999999999984</c:v>
                </c:pt>
                <c:pt idx="91">
                  <c:v>9.0999999999999837</c:v>
                </c:pt>
                <c:pt idx="92">
                  <c:v>9.1999999999999833</c:v>
                </c:pt>
                <c:pt idx="93">
                  <c:v>9.2999999999999829</c:v>
                </c:pt>
                <c:pt idx="94">
                  <c:v>9.3999999999999826</c:v>
                </c:pt>
                <c:pt idx="95">
                  <c:v>9.4999999999999822</c:v>
                </c:pt>
                <c:pt idx="96">
                  <c:v>9.5999999999999819</c:v>
                </c:pt>
                <c:pt idx="97">
                  <c:v>9.6999999999999815</c:v>
                </c:pt>
                <c:pt idx="98">
                  <c:v>9.7999999999999812</c:v>
                </c:pt>
                <c:pt idx="99">
                  <c:v>9.8999999999999808</c:v>
                </c:pt>
                <c:pt idx="100">
                  <c:v>9.9999999999999805</c:v>
                </c:pt>
              </c:numCache>
            </c:numRef>
          </c:xVal>
          <c:yVal>
            <c:numRef>
              <c:f>'[Figures.xlsx]Exponential CDF'!$F$4:$F$104</c:f>
              <c:numCache>
                <c:formatCode>General</c:formatCode>
                <c:ptCount val="101"/>
                <c:pt idx="0">
                  <c:v>0.23130352854993314</c:v>
                </c:pt>
                <c:pt idx="1">
                  <c:v>0.22672341181581565</c:v>
                </c:pt>
                <c:pt idx="2">
                  <c:v>0.22223398746944364</c:v>
                </c:pt>
                <c:pt idx="3">
                  <c:v>0.21783345968121876</c:v>
                </c:pt>
                <c:pt idx="4">
                  <c:v>0.21352006818135119</c:v>
                </c:pt>
                <c:pt idx="5">
                  <c:v>0.20929208755572837</c:v>
                </c:pt>
                <c:pt idx="6">
                  <c:v>0.20514782655572619</c:v>
                </c:pt>
                <c:pt idx="7">
                  <c:v>0.2010856274216872</c:v>
                </c:pt>
                <c:pt idx="8">
                  <c:v>0.19710386521979428</c:v>
                </c:pt>
                <c:pt idx="9">
                  <c:v>0.19320094719207584</c:v>
                </c:pt>
                <c:pt idx="10">
                  <c:v>0.18937531211928124</c:v>
                </c:pt>
                <c:pt idx="11">
                  <c:v>0.18562542969637219</c:v>
                </c:pt>
                <c:pt idx="12">
                  <c:v>0.18194979992038038</c:v>
                </c:pt>
                <c:pt idx="13">
                  <c:v>0.17834695249038643</c:v>
                </c:pt>
                <c:pt idx="14">
                  <c:v>0.17481544621937969</c:v>
                </c:pt>
                <c:pt idx="15">
                  <c:v>0.1713538684577644</c:v>
                </c:pt>
                <c:pt idx="16">
                  <c:v>0.16796083452828092</c:v>
                </c:pt>
                <c:pt idx="17">
                  <c:v>0.16463498717211641</c:v>
                </c:pt>
                <c:pt idx="18">
                  <c:v>0.16137499600598318</c:v>
                </c:pt>
                <c:pt idx="19">
                  <c:v>0.15817955698994765</c:v>
                </c:pt>
                <c:pt idx="20">
                  <c:v>0.15504739190579697</c:v>
                </c:pt>
                <c:pt idx="21">
                  <c:v>0.15197724784573474</c:v>
                </c:pt>
                <c:pt idx="22">
                  <c:v>0.14896789671120114</c:v>
                </c:pt>
                <c:pt idx="23">
                  <c:v>0.14601813472161709</c:v>
                </c:pt>
                <c:pt idx="24">
                  <c:v>0.14312678193285613</c:v>
                </c:pt>
                <c:pt idx="25">
                  <c:v>0.14029268176525087</c:v>
                </c:pt>
                <c:pt idx="26">
                  <c:v>0.13751470054094569</c:v>
                </c:pt>
                <c:pt idx="27">
                  <c:v>0.13479172703041073</c:v>
                </c:pt>
                <c:pt idx="28">
                  <c:v>0.1321226720079349</c:v>
                </c:pt>
                <c:pt idx="29">
                  <c:v>0.12950646781592134</c:v>
                </c:pt>
                <c:pt idx="30">
                  <c:v>0.12694206793781013</c:v>
                </c:pt>
                <c:pt idx="31">
                  <c:v>0.12442844657945749</c:v>
                </c:pt>
                <c:pt idx="32">
                  <c:v>0.12196459825880468</c:v>
                </c:pt>
                <c:pt idx="33">
                  <c:v>0.11954953740367176</c:v>
                </c:pt>
                <c:pt idx="34">
                  <c:v>0.11718229795751538</c:v>
                </c:pt>
                <c:pt idx="35">
                  <c:v>0.11486193299299347</c:v>
                </c:pt>
                <c:pt idx="36">
                  <c:v>0.11258751433318163</c:v>
                </c:pt>
                <c:pt idx="37">
                  <c:v>0.11035813218028992</c:v>
                </c:pt>
                <c:pt idx="38">
                  <c:v>0.10817289475173171</c:v>
                </c:pt>
                <c:pt idx="39">
                  <c:v>0.1060309279233987</c:v>
                </c:pt>
                <c:pt idx="40">
                  <c:v>0.10393137487999961</c:v>
                </c:pt>
                <c:pt idx="41">
                  <c:v>0.10187339577232266</c:v>
                </c:pt>
                <c:pt idx="42">
                  <c:v>9.9856167381284694E-2</c:v>
                </c:pt>
                <c:pt idx="43">
                  <c:v>9.7878882788632549E-2</c:v>
                </c:pt>
                <c:pt idx="44">
                  <c:v>9.5940751054165038E-2</c:v>
                </c:pt>
                <c:pt idx="45">
                  <c:v>9.4040996899346266E-2</c:v>
                </c:pt>
                <c:pt idx="46">
                  <c:v>9.2178860397183912E-2</c:v>
                </c:pt>
                <c:pt idx="47">
                  <c:v>9.0353596668248284E-2</c:v>
                </c:pt>
                <c:pt idx="48">
                  <c:v>8.8564475582710633E-2</c:v>
                </c:pt>
                <c:pt idx="49">
                  <c:v>8.68107814682815E-2</c:v>
                </c:pt>
                <c:pt idx="50">
                  <c:v>8.5091812823932189E-2</c:v>
                </c:pt>
                <c:pt idx="51">
                  <c:v>8.3406882039285091E-2</c:v>
                </c:pt>
                <c:pt idx="52">
                  <c:v>8.1755315119560273E-2</c:v>
                </c:pt>
                <c:pt idx="53">
                  <c:v>8.0136451415968715E-2</c:v>
                </c:pt>
                <c:pt idx="54">
                  <c:v>7.854964336144378E-2</c:v>
                </c:pt>
                <c:pt idx="55">
                  <c:v>7.699425621160598E-2</c:v>
                </c:pt>
                <c:pt idx="56">
                  <c:v>7.5469667790856593E-2</c:v>
                </c:pt>
                <c:pt idx="57">
                  <c:v>7.397526824349919E-2</c:v>
                </c:pt>
                <c:pt idx="58">
                  <c:v>7.2510459789789261E-2</c:v>
                </c:pt>
                <c:pt idx="59">
                  <c:v>7.1074656486814269E-2</c:v>
                </c:pt>
                <c:pt idx="60">
                  <c:v>6.9667283994108709E-2</c:v>
                </c:pt>
                <c:pt idx="61">
                  <c:v>6.8287779343910324E-2</c:v>
                </c:pt>
                <c:pt idx="62">
                  <c:v>6.6935590715965346E-2</c:v>
                </c:pt>
                <c:pt idx="63">
                  <c:v>6.56101772167932E-2</c:v>
                </c:pt>
                <c:pt idx="64">
                  <c:v>6.4311008663321803E-2</c:v>
                </c:pt>
                <c:pt idx="65">
                  <c:v>6.3037565370807291E-2</c:v>
                </c:pt>
                <c:pt idx="66">
                  <c:v>6.1789337944953178E-2</c:v>
                </c:pt>
                <c:pt idx="67">
                  <c:v>6.0565827078145854E-2</c:v>
                </c:pt>
                <c:pt idx="68">
                  <c:v>5.936654334972493E-2</c:v>
                </c:pt>
                <c:pt idx="69">
                  <c:v>5.8191007030208353E-2</c:v>
                </c:pt>
                <c:pt idx="70">
                  <c:v>5.7038747889394302E-2</c:v>
                </c:pt>
                <c:pt idx="71">
                  <c:v>5.59093050082628E-2</c:v>
                </c:pt>
                <c:pt idx="72">
                  <c:v>5.4802226594601919E-2</c:v>
                </c:pt>
                <c:pt idx="73">
                  <c:v>5.3717069802284988E-2</c:v>
                </c:pt>
                <c:pt idx="74">
                  <c:v>5.2653400554126123E-2</c:v>
                </c:pt>
                <c:pt idx="75">
                  <c:v>5.1610793368243597E-2</c:v>
                </c:pt>
                <c:pt idx="76">
                  <c:v>5.058883118786147E-2</c:v>
                </c:pt>
                <c:pt idx="77">
                  <c:v>4.9587105214481217E-2</c:v>
                </c:pt>
                <c:pt idx="78">
                  <c:v>4.860521474435698E-2</c:v>
                </c:pt>
                <c:pt idx="79">
                  <c:v>4.7642767008208665E-2</c:v>
                </c:pt>
                <c:pt idx="80">
                  <c:v>4.6699377014108978E-2</c:v>
                </c:pt>
                <c:pt idx="81">
                  <c:v>4.5774667393481613E-2</c:v>
                </c:pt>
                <c:pt idx="82">
                  <c:v>4.4868268250148668E-2</c:v>
                </c:pt>
                <c:pt idx="83">
                  <c:v>4.3979817012367334E-2</c:v>
                </c:pt>
                <c:pt idx="84">
                  <c:v>4.3108958287796331E-2</c:v>
                </c:pt>
                <c:pt idx="85">
                  <c:v>4.2255343721334222E-2</c:v>
                </c:pt>
                <c:pt idx="86">
                  <c:v>4.1418631855772749E-2</c:v>
                </c:pt>
                <c:pt idx="87">
                  <c:v>4.0598487995209362E-2</c:v>
                </c:pt>
                <c:pt idx="88">
                  <c:v>3.979458407116445E-2</c:v>
                </c:pt>
                <c:pt idx="89">
                  <c:v>3.9006598511349529E-2</c:v>
                </c:pt>
                <c:pt idx="90">
                  <c:v>3.8234216111034065E-2</c:v>
                </c:pt>
                <c:pt idx="91">
                  <c:v>3.7477127906959368E-2</c:v>
                </c:pt>
                <c:pt idx="92">
                  <c:v>3.6735031053749152E-2</c:v>
                </c:pt>
                <c:pt idx="93">
                  <c:v>3.6007628702767372E-2</c:v>
                </c:pt>
                <c:pt idx="94">
                  <c:v>3.5294629883374826E-2</c:v>
                </c:pt>
                <c:pt idx="95">
                  <c:v>3.4595749386536964E-2</c:v>
                </c:pt>
                <c:pt idx="96">
                  <c:v>3.3910707650736539E-2</c:v>
                </c:pt>
                <c:pt idx="97">
                  <c:v>3.3239230650145182E-2</c:v>
                </c:pt>
                <c:pt idx="98">
                  <c:v>3.2581049785009551E-2</c:v>
                </c:pt>
                <c:pt idx="99">
                  <c:v>3.1935901774207708E-2</c:v>
                </c:pt>
                <c:pt idx="100">
                  <c:v>3.1303528549933249E-2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B66-419D-8EEC-9DC026F9A1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63917840"/>
        <c:axId val="1263915440"/>
      </c:scatterChart>
      <c:scatterChart>
        <c:scatterStyle val="lineMarker"/>
        <c:varyColors val="0"/>
        <c:ser>
          <c:idx val="1"/>
          <c:order val="1"/>
          <c:tx>
            <c:v>Payoff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'[Figures.xlsx]Exponential CDF'!$D$4:$D$104</c:f>
              <c:numCache>
                <c:formatCode>General</c:formatCode>
                <c:ptCount val="10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0.30000000000000004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0.79999999999999993</c:v>
                </c:pt>
                <c:pt idx="9">
                  <c:v>0.89999999999999991</c:v>
                </c:pt>
                <c:pt idx="10">
                  <c:v>0.99999999999999989</c:v>
                </c:pt>
                <c:pt idx="11">
                  <c:v>1.0999999999999999</c:v>
                </c:pt>
                <c:pt idx="12">
                  <c:v>1.2</c:v>
                </c:pt>
                <c:pt idx="13">
                  <c:v>1.3</c:v>
                </c:pt>
                <c:pt idx="14">
                  <c:v>1.4000000000000001</c:v>
                </c:pt>
                <c:pt idx="15">
                  <c:v>1.5000000000000002</c:v>
                </c:pt>
                <c:pt idx="16">
                  <c:v>1.6000000000000003</c:v>
                </c:pt>
                <c:pt idx="17">
                  <c:v>1.7000000000000004</c:v>
                </c:pt>
                <c:pt idx="18">
                  <c:v>1.8000000000000005</c:v>
                </c:pt>
                <c:pt idx="19">
                  <c:v>1.9000000000000006</c:v>
                </c:pt>
                <c:pt idx="20">
                  <c:v>2.0000000000000004</c:v>
                </c:pt>
                <c:pt idx="21">
                  <c:v>2.1000000000000005</c:v>
                </c:pt>
                <c:pt idx="22">
                  <c:v>2.2000000000000006</c:v>
                </c:pt>
                <c:pt idx="23">
                  <c:v>2.3000000000000007</c:v>
                </c:pt>
                <c:pt idx="24">
                  <c:v>2.4000000000000008</c:v>
                </c:pt>
                <c:pt idx="25">
                  <c:v>2.5000000000000009</c:v>
                </c:pt>
                <c:pt idx="26">
                  <c:v>2.600000000000001</c:v>
                </c:pt>
                <c:pt idx="27">
                  <c:v>2.7000000000000011</c:v>
                </c:pt>
                <c:pt idx="28">
                  <c:v>2.8000000000000012</c:v>
                </c:pt>
                <c:pt idx="29">
                  <c:v>2.9000000000000012</c:v>
                </c:pt>
                <c:pt idx="30">
                  <c:v>3.0000000000000013</c:v>
                </c:pt>
                <c:pt idx="31">
                  <c:v>3.1000000000000014</c:v>
                </c:pt>
                <c:pt idx="32">
                  <c:v>3.2000000000000015</c:v>
                </c:pt>
                <c:pt idx="33">
                  <c:v>3.3000000000000016</c:v>
                </c:pt>
                <c:pt idx="34">
                  <c:v>3.4000000000000017</c:v>
                </c:pt>
                <c:pt idx="35">
                  <c:v>3.5000000000000018</c:v>
                </c:pt>
                <c:pt idx="36">
                  <c:v>3.6000000000000019</c:v>
                </c:pt>
                <c:pt idx="37">
                  <c:v>3.700000000000002</c:v>
                </c:pt>
                <c:pt idx="38">
                  <c:v>3.800000000000002</c:v>
                </c:pt>
                <c:pt idx="39">
                  <c:v>3.9000000000000021</c:v>
                </c:pt>
                <c:pt idx="40">
                  <c:v>4.0000000000000018</c:v>
                </c:pt>
                <c:pt idx="41">
                  <c:v>4.1000000000000014</c:v>
                </c:pt>
                <c:pt idx="42">
                  <c:v>4.2000000000000011</c:v>
                </c:pt>
                <c:pt idx="43">
                  <c:v>4.3000000000000007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4.6999999999999993</c:v>
                </c:pt>
                <c:pt idx="48">
                  <c:v>4.7999999999999989</c:v>
                </c:pt>
                <c:pt idx="49">
                  <c:v>4.8999999999999986</c:v>
                </c:pt>
                <c:pt idx="50">
                  <c:v>4.9999999999999982</c:v>
                </c:pt>
                <c:pt idx="51">
                  <c:v>5.0999999999999979</c:v>
                </c:pt>
                <c:pt idx="52">
                  <c:v>5.1999999999999975</c:v>
                </c:pt>
                <c:pt idx="53">
                  <c:v>5.2999999999999972</c:v>
                </c:pt>
                <c:pt idx="54">
                  <c:v>5.3999999999999968</c:v>
                </c:pt>
                <c:pt idx="55">
                  <c:v>5.4999999999999964</c:v>
                </c:pt>
                <c:pt idx="56">
                  <c:v>5.5999999999999961</c:v>
                </c:pt>
                <c:pt idx="57">
                  <c:v>5.6999999999999957</c:v>
                </c:pt>
                <c:pt idx="58">
                  <c:v>5.7999999999999954</c:v>
                </c:pt>
                <c:pt idx="59">
                  <c:v>5.899999999999995</c:v>
                </c:pt>
                <c:pt idx="60">
                  <c:v>5.9999999999999947</c:v>
                </c:pt>
                <c:pt idx="61">
                  <c:v>6.0999999999999943</c:v>
                </c:pt>
                <c:pt idx="62">
                  <c:v>6.199999999999994</c:v>
                </c:pt>
                <c:pt idx="63">
                  <c:v>6.2999999999999936</c:v>
                </c:pt>
                <c:pt idx="64">
                  <c:v>6.3999999999999932</c:v>
                </c:pt>
                <c:pt idx="65">
                  <c:v>6.4999999999999929</c:v>
                </c:pt>
                <c:pt idx="66">
                  <c:v>6.5999999999999925</c:v>
                </c:pt>
                <c:pt idx="67">
                  <c:v>6.6999999999999922</c:v>
                </c:pt>
                <c:pt idx="68">
                  <c:v>6.7999999999999918</c:v>
                </c:pt>
                <c:pt idx="69">
                  <c:v>6.8999999999999915</c:v>
                </c:pt>
                <c:pt idx="70">
                  <c:v>6.9999999999999911</c:v>
                </c:pt>
                <c:pt idx="71">
                  <c:v>7.0999999999999908</c:v>
                </c:pt>
                <c:pt idx="72">
                  <c:v>7.1999999999999904</c:v>
                </c:pt>
                <c:pt idx="73">
                  <c:v>7.2999999999999901</c:v>
                </c:pt>
                <c:pt idx="74">
                  <c:v>7.3999999999999897</c:v>
                </c:pt>
                <c:pt idx="75">
                  <c:v>7.4999999999999893</c:v>
                </c:pt>
                <c:pt idx="76">
                  <c:v>7.599999999999989</c:v>
                </c:pt>
                <c:pt idx="77">
                  <c:v>7.6999999999999886</c:v>
                </c:pt>
                <c:pt idx="78">
                  <c:v>7.7999999999999883</c:v>
                </c:pt>
                <c:pt idx="79">
                  <c:v>7.8999999999999879</c:v>
                </c:pt>
                <c:pt idx="80">
                  <c:v>7.9999999999999876</c:v>
                </c:pt>
                <c:pt idx="81">
                  <c:v>8.0999999999999872</c:v>
                </c:pt>
                <c:pt idx="82">
                  <c:v>8.1999999999999869</c:v>
                </c:pt>
                <c:pt idx="83">
                  <c:v>8.2999999999999865</c:v>
                </c:pt>
                <c:pt idx="84">
                  <c:v>8.3999999999999861</c:v>
                </c:pt>
                <c:pt idx="85">
                  <c:v>8.4999999999999858</c:v>
                </c:pt>
                <c:pt idx="86">
                  <c:v>8.5999999999999854</c:v>
                </c:pt>
                <c:pt idx="87">
                  <c:v>8.6999999999999851</c:v>
                </c:pt>
                <c:pt idx="88">
                  <c:v>8.7999999999999847</c:v>
                </c:pt>
                <c:pt idx="89">
                  <c:v>8.8999999999999844</c:v>
                </c:pt>
                <c:pt idx="90">
                  <c:v>8.999999999999984</c:v>
                </c:pt>
                <c:pt idx="91">
                  <c:v>9.0999999999999837</c:v>
                </c:pt>
                <c:pt idx="92">
                  <c:v>9.1999999999999833</c:v>
                </c:pt>
                <c:pt idx="93">
                  <c:v>9.2999999999999829</c:v>
                </c:pt>
                <c:pt idx="94">
                  <c:v>9.3999999999999826</c:v>
                </c:pt>
                <c:pt idx="95">
                  <c:v>9.4999999999999822</c:v>
                </c:pt>
                <c:pt idx="96">
                  <c:v>9.5999999999999819</c:v>
                </c:pt>
                <c:pt idx="97">
                  <c:v>9.6999999999999815</c:v>
                </c:pt>
                <c:pt idx="98">
                  <c:v>9.7999999999999812</c:v>
                </c:pt>
                <c:pt idx="99">
                  <c:v>9.8999999999999808</c:v>
                </c:pt>
                <c:pt idx="100">
                  <c:v>9.9999999999999805</c:v>
                </c:pt>
              </c:numCache>
            </c:numRef>
          </c:xVal>
          <c:yVal>
            <c:numRef>
              <c:f>'[Figures.xlsx]Exponential CDF'!$G$4:$G$104</c:f>
              <c:numCache>
                <c:formatCode>General</c:formatCode>
                <c:ptCount val="10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0.30000000000000004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0.79999999999999993</c:v>
                </c:pt>
                <c:pt idx="9">
                  <c:v>0.89999999999999991</c:v>
                </c:pt>
                <c:pt idx="10">
                  <c:v>0.99999999999999989</c:v>
                </c:pt>
                <c:pt idx="11">
                  <c:v>1.0999999999999999</c:v>
                </c:pt>
                <c:pt idx="12">
                  <c:v>1.2</c:v>
                </c:pt>
                <c:pt idx="13">
                  <c:v>1.3</c:v>
                </c:pt>
                <c:pt idx="14">
                  <c:v>1.4000000000000001</c:v>
                </c:pt>
                <c:pt idx="15">
                  <c:v>1.5000000000000002</c:v>
                </c:pt>
                <c:pt idx="16">
                  <c:v>1.6000000000000003</c:v>
                </c:pt>
                <c:pt idx="17">
                  <c:v>1.7000000000000004</c:v>
                </c:pt>
                <c:pt idx="18">
                  <c:v>1.8000000000000005</c:v>
                </c:pt>
                <c:pt idx="19">
                  <c:v>1.9000000000000006</c:v>
                </c:pt>
                <c:pt idx="20">
                  <c:v>2.0000000000000004</c:v>
                </c:pt>
                <c:pt idx="21">
                  <c:v>2.1000000000000005</c:v>
                </c:pt>
                <c:pt idx="22">
                  <c:v>2.2000000000000006</c:v>
                </c:pt>
                <c:pt idx="23">
                  <c:v>2.3000000000000007</c:v>
                </c:pt>
                <c:pt idx="24">
                  <c:v>2.4000000000000008</c:v>
                </c:pt>
                <c:pt idx="25">
                  <c:v>2.5000000000000009</c:v>
                </c:pt>
                <c:pt idx="26">
                  <c:v>2.600000000000001</c:v>
                </c:pt>
                <c:pt idx="27">
                  <c:v>2.7000000000000011</c:v>
                </c:pt>
                <c:pt idx="28">
                  <c:v>2.8000000000000012</c:v>
                </c:pt>
                <c:pt idx="29">
                  <c:v>2.9000000000000012</c:v>
                </c:pt>
                <c:pt idx="30">
                  <c:v>3.0000000000000013</c:v>
                </c:pt>
                <c:pt idx="31">
                  <c:v>3.1000000000000014</c:v>
                </c:pt>
                <c:pt idx="32">
                  <c:v>3.2000000000000015</c:v>
                </c:pt>
                <c:pt idx="33">
                  <c:v>3.3000000000000016</c:v>
                </c:pt>
                <c:pt idx="34">
                  <c:v>3.4000000000000017</c:v>
                </c:pt>
                <c:pt idx="35">
                  <c:v>3.5000000000000018</c:v>
                </c:pt>
                <c:pt idx="36">
                  <c:v>3.6000000000000019</c:v>
                </c:pt>
                <c:pt idx="37">
                  <c:v>3.700000000000002</c:v>
                </c:pt>
                <c:pt idx="38">
                  <c:v>3.800000000000002</c:v>
                </c:pt>
                <c:pt idx="39">
                  <c:v>3.9000000000000021</c:v>
                </c:pt>
                <c:pt idx="40">
                  <c:v>4.0000000000000018</c:v>
                </c:pt>
                <c:pt idx="41">
                  <c:v>4.1000000000000014</c:v>
                </c:pt>
                <c:pt idx="42">
                  <c:v>4.2000000000000011</c:v>
                </c:pt>
                <c:pt idx="43">
                  <c:v>4.3000000000000007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4.6999999999999993</c:v>
                </c:pt>
                <c:pt idx="48">
                  <c:v>4.7999999999999989</c:v>
                </c:pt>
                <c:pt idx="49">
                  <c:v>4.8999999999999986</c:v>
                </c:pt>
                <c:pt idx="50">
                  <c:v>4.9999999999999982</c:v>
                </c:pt>
                <c:pt idx="51">
                  <c:v>5.0999999999999979</c:v>
                </c:pt>
                <c:pt idx="52">
                  <c:v>5.1999999999999975</c:v>
                </c:pt>
                <c:pt idx="53">
                  <c:v>5.2999999999999972</c:v>
                </c:pt>
                <c:pt idx="54">
                  <c:v>5.3999999999999968</c:v>
                </c:pt>
                <c:pt idx="55">
                  <c:v>5.4999999999999964</c:v>
                </c:pt>
                <c:pt idx="56">
                  <c:v>5.5999999999999961</c:v>
                </c:pt>
                <c:pt idx="57">
                  <c:v>5.6999999999999957</c:v>
                </c:pt>
                <c:pt idx="58">
                  <c:v>5.7999999999999954</c:v>
                </c:pt>
                <c:pt idx="59">
                  <c:v>5.899999999999995</c:v>
                </c:pt>
                <c:pt idx="60">
                  <c:v>5.9999999999999947</c:v>
                </c:pt>
                <c:pt idx="61">
                  <c:v>6.0999999999999943</c:v>
                </c:pt>
                <c:pt idx="62">
                  <c:v>6.199999999999994</c:v>
                </c:pt>
                <c:pt idx="63">
                  <c:v>6.2999999999999936</c:v>
                </c:pt>
                <c:pt idx="64">
                  <c:v>6.3999999999999932</c:v>
                </c:pt>
                <c:pt idx="65">
                  <c:v>6.4999999999999929</c:v>
                </c:pt>
                <c:pt idx="66">
                  <c:v>6.5999999999999925</c:v>
                </c:pt>
                <c:pt idx="67">
                  <c:v>6.6999999999999922</c:v>
                </c:pt>
                <c:pt idx="68">
                  <c:v>6.7999999999999918</c:v>
                </c:pt>
                <c:pt idx="69">
                  <c:v>6.8999999999999915</c:v>
                </c:pt>
                <c:pt idx="70">
                  <c:v>6.9999999999999911</c:v>
                </c:pt>
                <c:pt idx="71">
                  <c:v>7.0999999999999908</c:v>
                </c:pt>
                <c:pt idx="72">
                  <c:v>7.1999999999999904</c:v>
                </c:pt>
                <c:pt idx="73">
                  <c:v>7.2999999999999901</c:v>
                </c:pt>
                <c:pt idx="74">
                  <c:v>7.3999999999999897</c:v>
                </c:pt>
                <c:pt idx="75">
                  <c:v>7.4999999999999893</c:v>
                </c:pt>
                <c:pt idx="76">
                  <c:v>7.599999999999989</c:v>
                </c:pt>
                <c:pt idx="77">
                  <c:v>7.6999999999999886</c:v>
                </c:pt>
                <c:pt idx="78">
                  <c:v>7.7999999999999883</c:v>
                </c:pt>
                <c:pt idx="79">
                  <c:v>7.8999999999999879</c:v>
                </c:pt>
                <c:pt idx="80">
                  <c:v>7.9999999999999876</c:v>
                </c:pt>
                <c:pt idx="81">
                  <c:v>8.0999999999999872</c:v>
                </c:pt>
                <c:pt idx="82">
                  <c:v>8.1999999999999869</c:v>
                </c:pt>
                <c:pt idx="83">
                  <c:v>8.2999999999999865</c:v>
                </c:pt>
                <c:pt idx="84">
                  <c:v>8.3999999999999861</c:v>
                </c:pt>
                <c:pt idx="85">
                  <c:v>8.4999999999999858</c:v>
                </c:pt>
                <c:pt idx="86">
                  <c:v>8.5999999999999854</c:v>
                </c:pt>
                <c:pt idx="87">
                  <c:v>8.6999999999999851</c:v>
                </c:pt>
                <c:pt idx="88">
                  <c:v>8.7999999999999847</c:v>
                </c:pt>
                <c:pt idx="89">
                  <c:v>8.8999999999999844</c:v>
                </c:pt>
                <c:pt idx="90">
                  <c:v>8.999999999999984</c:v>
                </c:pt>
                <c:pt idx="91">
                  <c:v>9.0999999999999837</c:v>
                </c:pt>
                <c:pt idx="92">
                  <c:v>9.1999999999999833</c:v>
                </c:pt>
                <c:pt idx="93">
                  <c:v>9.2999999999999829</c:v>
                </c:pt>
                <c:pt idx="94">
                  <c:v>9.3999999999999826</c:v>
                </c:pt>
                <c:pt idx="95">
                  <c:v>9.4999999999999822</c:v>
                </c:pt>
                <c:pt idx="96">
                  <c:v>9.5999999999999819</c:v>
                </c:pt>
                <c:pt idx="97">
                  <c:v>9.6999999999999815</c:v>
                </c:pt>
                <c:pt idx="98">
                  <c:v>9.7999999999999812</c:v>
                </c:pt>
                <c:pt idx="99">
                  <c:v>9.8999999999999808</c:v>
                </c:pt>
                <c:pt idx="100">
                  <c:v>9.9999999999999805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B66-419D-8EEC-9DC026F9A1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5931344"/>
        <c:axId val="1186990144"/>
      </c:scatterChart>
      <c:valAx>
        <c:axId val="1263917840"/>
        <c:scaling>
          <c:orientation val="minMax"/>
          <c:max val="1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3915440"/>
        <c:crosses val="autoZero"/>
        <c:crossBetween val="midCat"/>
      </c:valAx>
      <c:valAx>
        <c:axId val="1263915440"/>
        <c:scaling>
          <c:orientation val="minMax"/>
          <c:max val="0.2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3917840"/>
        <c:crosses val="autoZero"/>
        <c:crossBetween val="midCat"/>
      </c:valAx>
      <c:valAx>
        <c:axId val="1186990144"/>
        <c:scaling>
          <c:orientation val="minMax"/>
          <c:max val="10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5931344"/>
        <c:crosses val="max"/>
        <c:crossBetween val="midCat"/>
      </c:valAx>
      <c:valAx>
        <c:axId val="125593134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869901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549569452318288E-2"/>
          <c:y val="6.9297306355801447E-2"/>
          <c:w val="0.86672956442715798"/>
          <c:h val="0.83389207610081384"/>
        </c:manualLayout>
      </c:layout>
      <c:scatterChart>
        <c:scatterStyle val="lineMarker"/>
        <c:varyColors val="0"/>
        <c:ser>
          <c:idx val="0"/>
          <c:order val="0"/>
          <c:tx>
            <c:v>PDF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'[Figures.xlsx]Exponential CDF'!$D$4:$D$104</c:f>
              <c:numCache>
                <c:formatCode>General</c:formatCode>
                <c:ptCount val="10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0.30000000000000004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0.79999999999999993</c:v>
                </c:pt>
                <c:pt idx="9">
                  <c:v>0.89999999999999991</c:v>
                </c:pt>
                <c:pt idx="10">
                  <c:v>0.99999999999999989</c:v>
                </c:pt>
                <c:pt idx="11">
                  <c:v>1.0999999999999999</c:v>
                </c:pt>
                <c:pt idx="12">
                  <c:v>1.2</c:v>
                </c:pt>
                <c:pt idx="13">
                  <c:v>1.3</c:v>
                </c:pt>
                <c:pt idx="14">
                  <c:v>1.4000000000000001</c:v>
                </c:pt>
                <c:pt idx="15">
                  <c:v>1.5000000000000002</c:v>
                </c:pt>
                <c:pt idx="16">
                  <c:v>1.6000000000000003</c:v>
                </c:pt>
                <c:pt idx="17">
                  <c:v>1.7000000000000004</c:v>
                </c:pt>
                <c:pt idx="18">
                  <c:v>1.8000000000000005</c:v>
                </c:pt>
                <c:pt idx="19">
                  <c:v>1.9000000000000006</c:v>
                </c:pt>
                <c:pt idx="20">
                  <c:v>2.0000000000000004</c:v>
                </c:pt>
                <c:pt idx="21">
                  <c:v>2.1000000000000005</c:v>
                </c:pt>
                <c:pt idx="22">
                  <c:v>2.2000000000000006</c:v>
                </c:pt>
                <c:pt idx="23">
                  <c:v>2.3000000000000007</c:v>
                </c:pt>
                <c:pt idx="24">
                  <c:v>2.4000000000000008</c:v>
                </c:pt>
                <c:pt idx="25">
                  <c:v>2.5000000000000009</c:v>
                </c:pt>
                <c:pt idx="26">
                  <c:v>2.600000000000001</c:v>
                </c:pt>
                <c:pt idx="27">
                  <c:v>2.7000000000000011</c:v>
                </c:pt>
                <c:pt idx="28">
                  <c:v>2.8000000000000012</c:v>
                </c:pt>
                <c:pt idx="29">
                  <c:v>2.9000000000000012</c:v>
                </c:pt>
                <c:pt idx="30">
                  <c:v>3.0000000000000013</c:v>
                </c:pt>
                <c:pt idx="31">
                  <c:v>3.1000000000000014</c:v>
                </c:pt>
                <c:pt idx="32">
                  <c:v>3.2000000000000015</c:v>
                </c:pt>
                <c:pt idx="33">
                  <c:v>3.3000000000000016</c:v>
                </c:pt>
                <c:pt idx="34">
                  <c:v>3.4000000000000017</c:v>
                </c:pt>
                <c:pt idx="35">
                  <c:v>3.5000000000000018</c:v>
                </c:pt>
                <c:pt idx="36">
                  <c:v>3.6000000000000019</c:v>
                </c:pt>
                <c:pt idx="37">
                  <c:v>3.700000000000002</c:v>
                </c:pt>
                <c:pt idx="38">
                  <c:v>3.800000000000002</c:v>
                </c:pt>
                <c:pt idx="39">
                  <c:v>3.9000000000000021</c:v>
                </c:pt>
                <c:pt idx="40">
                  <c:v>4.0000000000000018</c:v>
                </c:pt>
                <c:pt idx="41">
                  <c:v>4.1000000000000014</c:v>
                </c:pt>
                <c:pt idx="42">
                  <c:v>4.2000000000000011</c:v>
                </c:pt>
                <c:pt idx="43">
                  <c:v>4.3000000000000007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4.6999999999999993</c:v>
                </c:pt>
                <c:pt idx="48">
                  <c:v>4.7999999999999989</c:v>
                </c:pt>
                <c:pt idx="49">
                  <c:v>4.8999999999999986</c:v>
                </c:pt>
                <c:pt idx="50">
                  <c:v>4.9999999999999982</c:v>
                </c:pt>
                <c:pt idx="51">
                  <c:v>5.0999999999999979</c:v>
                </c:pt>
                <c:pt idx="52">
                  <c:v>5.1999999999999975</c:v>
                </c:pt>
                <c:pt idx="53">
                  <c:v>5.2999999999999972</c:v>
                </c:pt>
                <c:pt idx="54">
                  <c:v>5.3999999999999968</c:v>
                </c:pt>
                <c:pt idx="55">
                  <c:v>5.4999999999999964</c:v>
                </c:pt>
                <c:pt idx="56">
                  <c:v>5.5999999999999961</c:v>
                </c:pt>
                <c:pt idx="57">
                  <c:v>5.6999999999999957</c:v>
                </c:pt>
                <c:pt idx="58">
                  <c:v>5.7999999999999954</c:v>
                </c:pt>
                <c:pt idx="59">
                  <c:v>5.899999999999995</c:v>
                </c:pt>
                <c:pt idx="60">
                  <c:v>5.9999999999999947</c:v>
                </c:pt>
                <c:pt idx="61">
                  <c:v>6.0999999999999943</c:v>
                </c:pt>
                <c:pt idx="62">
                  <c:v>6.199999999999994</c:v>
                </c:pt>
                <c:pt idx="63">
                  <c:v>6.2999999999999936</c:v>
                </c:pt>
                <c:pt idx="64">
                  <c:v>6.3999999999999932</c:v>
                </c:pt>
                <c:pt idx="65">
                  <c:v>6.4999999999999929</c:v>
                </c:pt>
                <c:pt idx="66">
                  <c:v>6.5999999999999925</c:v>
                </c:pt>
                <c:pt idx="67">
                  <c:v>6.6999999999999922</c:v>
                </c:pt>
                <c:pt idx="68">
                  <c:v>6.7999999999999918</c:v>
                </c:pt>
                <c:pt idx="69">
                  <c:v>6.8999999999999915</c:v>
                </c:pt>
                <c:pt idx="70">
                  <c:v>6.9999999999999911</c:v>
                </c:pt>
                <c:pt idx="71">
                  <c:v>7.0999999999999908</c:v>
                </c:pt>
                <c:pt idx="72">
                  <c:v>7.1999999999999904</c:v>
                </c:pt>
                <c:pt idx="73">
                  <c:v>7.2999999999999901</c:v>
                </c:pt>
                <c:pt idx="74">
                  <c:v>7.3999999999999897</c:v>
                </c:pt>
                <c:pt idx="75">
                  <c:v>7.4999999999999893</c:v>
                </c:pt>
                <c:pt idx="76">
                  <c:v>7.599999999999989</c:v>
                </c:pt>
                <c:pt idx="77">
                  <c:v>7.6999999999999886</c:v>
                </c:pt>
                <c:pt idx="78">
                  <c:v>7.7999999999999883</c:v>
                </c:pt>
                <c:pt idx="79">
                  <c:v>7.8999999999999879</c:v>
                </c:pt>
                <c:pt idx="80">
                  <c:v>7.9999999999999876</c:v>
                </c:pt>
                <c:pt idx="81">
                  <c:v>8.0999999999999872</c:v>
                </c:pt>
                <c:pt idx="82">
                  <c:v>8.1999999999999869</c:v>
                </c:pt>
                <c:pt idx="83">
                  <c:v>8.2999999999999865</c:v>
                </c:pt>
                <c:pt idx="84">
                  <c:v>8.3999999999999861</c:v>
                </c:pt>
                <c:pt idx="85">
                  <c:v>8.4999999999999858</c:v>
                </c:pt>
                <c:pt idx="86">
                  <c:v>8.5999999999999854</c:v>
                </c:pt>
                <c:pt idx="87">
                  <c:v>8.6999999999999851</c:v>
                </c:pt>
                <c:pt idx="88">
                  <c:v>8.7999999999999847</c:v>
                </c:pt>
                <c:pt idx="89">
                  <c:v>8.8999999999999844</c:v>
                </c:pt>
                <c:pt idx="90">
                  <c:v>8.999999999999984</c:v>
                </c:pt>
                <c:pt idx="91">
                  <c:v>9.0999999999999837</c:v>
                </c:pt>
                <c:pt idx="92">
                  <c:v>9.1999999999999833</c:v>
                </c:pt>
                <c:pt idx="93">
                  <c:v>9.2999999999999829</c:v>
                </c:pt>
                <c:pt idx="94">
                  <c:v>9.3999999999999826</c:v>
                </c:pt>
                <c:pt idx="95">
                  <c:v>9.4999999999999822</c:v>
                </c:pt>
                <c:pt idx="96">
                  <c:v>9.5999999999999819</c:v>
                </c:pt>
                <c:pt idx="97">
                  <c:v>9.6999999999999815</c:v>
                </c:pt>
                <c:pt idx="98">
                  <c:v>9.7999999999999812</c:v>
                </c:pt>
                <c:pt idx="99">
                  <c:v>9.8999999999999808</c:v>
                </c:pt>
                <c:pt idx="100">
                  <c:v>9.9999999999999805</c:v>
                </c:pt>
              </c:numCache>
            </c:numRef>
          </c:xVal>
          <c:yVal>
            <c:numRef>
              <c:f>'[Figures.xlsx]Exponential CDF'!$F$4:$F$104</c:f>
              <c:numCache>
                <c:formatCode>General</c:formatCode>
                <c:ptCount val="101"/>
                <c:pt idx="0">
                  <c:v>0.23130352854993314</c:v>
                </c:pt>
                <c:pt idx="1">
                  <c:v>0.22672341181581565</c:v>
                </c:pt>
                <c:pt idx="2">
                  <c:v>0.22223398746944364</c:v>
                </c:pt>
                <c:pt idx="3">
                  <c:v>0.21783345968121876</c:v>
                </c:pt>
                <c:pt idx="4">
                  <c:v>0.21352006818135119</c:v>
                </c:pt>
                <c:pt idx="5">
                  <c:v>0.20929208755572837</c:v>
                </c:pt>
                <c:pt idx="6">
                  <c:v>0.20514782655572619</c:v>
                </c:pt>
                <c:pt idx="7">
                  <c:v>0.2010856274216872</c:v>
                </c:pt>
                <c:pt idx="8">
                  <c:v>0.19710386521979428</c:v>
                </c:pt>
                <c:pt idx="9">
                  <c:v>0.19320094719207584</c:v>
                </c:pt>
                <c:pt idx="10">
                  <c:v>0.18937531211928124</c:v>
                </c:pt>
                <c:pt idx="11">
                  <c:v>0.18562542969637219</c:v>
                </c:pt>
                <c:pt idx="12">
                  <c:v>0.18194979992038038</c:v>
                </c:pt>
                <c:pt idx="13">
                  <c:v>0.17834695249038643</c:v>
                </c:pt>
                <c:pt idx="14">
                  <c:v>0.17481544621937969</c:v>
                </c:pt>
                <c:pt idx="15">
                  <c:v>0.1713538684577644</c:v>
                </c:pt>
                <c:pt idx="16">
                  <c:v>0.16796083452828092</c:v>
                </c:pt>
                <c:pt idx="17">
                  <c:v>0.16463498717211641</c:v>
                </c:pt>
                <c:pt idx="18">
                  <c:v>0.16137499600598318</c:v>
                </c:pt>
                <c:pt idx="19">
                  <c:v>0.15817955698994765</c:v>
                </c:pt>
                <c:pt idx="20">
                  <c:v>0.15504739190579697</c:v>
                </c:pt>
                <c:pt idx="21">
                  <c:v>0.15197724784573474</c:v>
                </c:pt>
                <c:pt idx="22">
                  <c:v>0.14896789671120114</c:v>
                </c:pt>
                <c:pt idx="23">
                  <c:v>0.14601813472161709</c:v>
                </c:pt>
                <c:pt idx="24">
                  <c:v>0.14312678193285613</c:v>
                </c:pt>
                <c:pt idx="25">
                  <c:v>0.14029268176525087</c:v>
                </c:pt>
                <c:pt idx="26">
                  <c:v>0.13751470054094569</c:v>
                </c:pt>
                <c:pt idx="27">
                  <c:v>0.13479172703041073</c:v>
                </c:pt>
                <c:pt idx="28">
                  <c:v>0.1321226720079349</c:v>
                </c:pt>
                <c:pt idx="29">
                  <c:v>0.12950646781592134</c:v>
                </c:pt>
                <c:pt idx="30">
                  <c:v>0.12694206793781013</c:v>
                </c:pt>
                <c:pt idx="31">
                  <c:v>0.12442844657945749</c:v>
                </c:pt>
                <c:pt idx="32">
                  <c:v>0.12196459825880468</c:v>
                </c:pt>
                <c:pt idx="33">
                  <c:v>0.11954953740367176</c:v>
                </c:pt>
                <c:pt idx="34">
                  <c:v>0.11718229795751538</c:v>
                </c:pt>
                <c:pt idx="35">
                  <c:v>0.11486193299299347</c:v>
                </c:pt>
                <c:pt idx="36">
                  <c:v>0.11258751433318163</c:v>
                </c:pt>
                <c:pt idx="37">
                  <c:v>0.11035813218028992</c:v>
                </c:pt>
                <c:pt idx="38">
                  <c:v>0.10817289475173171</c:v>
                </c:pt>
                <c:pt idx="39">
                  <c:v>0.1060309279233987</c:v>
                </c:pt>
                <c:pt idx="40">
                  <c:v>0.10393137487999961</c:v>
                </c:pt>
                <c:pt idx="41">
                  <c:v>0.10187339577232266</c:v>
                </c:pt>
                <c:pt idx="42">
                  <c:v>9.9856167381284694E-2</c:v>
                </c:pt>
                <c:pt idx="43">
                  <c:v>9.7878882788632549E-2</c:v>
                </c:pt>
                <c:pt idx="44">
                  <c:v>9.5940751054165038E-2</c:v>
                </c:pt>
                <c:pt idx="45">
                  <c:v>9.4040996899346266E-2</c:v>
                </c:pt>
                <c:pt idx="46">
                  <c:v>9.2178860397183912E-2</c:v>
                </c:pt>
                <c:pt idx="47">
                  <c:v>9.0353596668248284E-2</c:v>
                </c:pt>
                <c:pt idx="48">
                  <c:v>8.8564475582710633E-2</c:v>
                </c:pt>
                <c:pt idx="49">
                  <c:v>8.68107814682815E-2</c:v>
                </c:pt>
                <c:pt idx="50">
                  <c:v>8.5091812823932189E-2</c:v>
                </c:pt>
                <c:pt idx="51">
                  <c:v>8.3406882039285091E-2</c:v>
                </c:pt>
                <c:pt idx="52">
                  <c:v>8.1755315119560273E-2</c:v>
                </c:pt>
                <c:pt idx="53">
                  <c:v>8.0136451415968715E-2</c:v>
                </c:pt>
                <c:pt idx="54">
                  <c:v>7.854964336144378E-2</c:v>
                </c:pt>
                <c:pt idx="55">
                  <c:v>7.699425621160598E-2</c:v>
                </c:pt>
                <c:pt idx="56">
                  <c:v>7.5469667790856593E-2</c:v>
                </c:pt>
                <c:pt idx="57">
                  <c:v>7.397526824349919E-2</c:v>
                </c:pt>
                <c:pt idx="58">
                  <c:v>7.2510459789789261E-2</c:v>
                </c:pt>
                <c:pt idx="59">
                  <c:v>7.1074656486814269E-2</c:v>
                </c:pt>
                <c:pt idx="60">
                  <c:v>6.9667283994108709E-2</c:v>
                </c:pt>
                <c:pt idx="61">
                  <c:v>6.8287779343910324E-2</c:v>
                </c:pt>
                <c:pt idx="62">
                  <c:v>6.6935590715965346E-2</c:v>
                </c:pt>
                <c:pt idx="63">
                  <c:v>6.56101772167932E-2</c:v>
                </c:pt>
                <c:pt idx="64">
                  <c:v>6.4311008663321803E-2</c:v>
                </c:pt>
                <c:pt idx="65">
                  <c:v>6.3037565370807291E-2</c:v>
                </c:pt>
                <c:pt idx="66">
                  <c:v>6.1789337944953178E-2</c:v>
                </c:pt>
                <c:pt idx="67">
                  <c:v>6.0565827078145854E-2</c:v>
                </c:pt>
                <c:pt idx="68">
                  <c:v>5.936654334972493E-2</c:v>
                </c:pt>
                <c:pt idx="69">
                  <c:v>5.8191007030208353E-2</c:v>
                </c:pt>
                <c:pt idx="70">
                  <c:v>5.7038747889394302E-2</c:v>
                </c:pt>
                <c:pt idx="71">
                  <c:v>5.59093050082628E-2</c:v>
                </c:pt>
                <c:pt idx="72">
                  <c:v>5.4802226594601919E-2</c:v>
                </c:pt>
                <c:pt idx="73">
                  <c:v>5.3717069802284988E-2</c:v>
                </c:pt>
                <c:pt idx="74">
                  <c:v>5.2653400554126123E-2</c:v>
                </c:pt>
                <c:pt idx="75">
                  <c:v>5.1610793368243597E-2</c:v>
                </c:pt>
                <c:pt idx="76">
                  <c:v>5.058883118786147E-2</c:v>
                </c:pt>
                <c:pt idx="77">
                  <c:v>4.9587105214481217E-2</c:v>
                </c:pt>
                <c:pt idx="78">
                  <c:v>4.860521474435698E-2</c:v>
                </c:pt>
                <c:pt idx="79">
                  <c:v>4.7642767008208665E-2</c:v>
                </c:pt>
                <c:pt idx="80">
                  <c:v>4.6699377014108978E-2</c:v>
                </c:pt>
                <c:pt idx="81">
                  <c:v>4.5774667393481613E-2</c:v>
                </c:pt>
                <c:pt idx="82">
                  <c:v>4.4868268250148668E-2</c:v>
                </c:pt>
                <c:pt idx="83">
                  <c:v>4.3979817012367334E-2</c:v>
                </c:pt>
                <c:pt idx="84">
                  <c:v>4.3108958287796331E-2</c:v>
                </c:pt>
                <c:pt idx="85">
                  <c:v>4.2255343721334222E-2</c:v>
                </c:pt>
                <c:pt idx="86">
                  <c:v>4.1418631855772749E-2</c:v>
                </c:pt>
                <c:pt idx="87">
                  <c:v>4.0598487995209362E-2</c:v>
                </c:pt>
                <c:pt idx="88">
                  <c:v>3.979458407116445E-2</c:v>
                </c:pt>
                <c:pt idx="89">
                  <c:v>3.9006598511349529E-2</c:v>
                </c:pt>
                <c:pt idx="90">
                  <c:v>3.8234216111034065E-2</c:v>
                </c:pt>
                <c:pt idx="91">
                  <c:v>3.7477127906959368E-2</c:v>
                </c:pt>
                <c:pt idx="92">
                  <c:v>3.6735031053749152E-2</c:v>
                </c:pt>
                <c:pt idx="93">
                  <c:v>3.6007628702767372E-2</c:v>
                </c:pt>
                <c:pt idx="94">
                  <c:v>3.5294629883374826E-2</c:v>
                </c:pt>
                <c:pt idx="95">
                  <c:v>3.4595749386536964E-2</c:v>
                </c:pt>
                <c:pt idx="96">
                  <c:v>3.3910707650736539E-2</c:v>
                </c:pt>
                <c:pt idx="97">
                  <c:v>3.3239230650145182E-2</c:v>
                </c:pt>
                <c:pt idx="98">
                  <c:v>3.2581049785009551E-2</c:v>
                </c:pt>
                <c:pt idx="99">
                  <c:v>3.1935901774207708E-2</c:v>
                </c:pt>
                <c:pt idx="100">
                  <c:v>3.1303528549933249E-2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B66-419D-8EEC-9DC026F9A1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63917840"/>
        <c:axId val="1263915440"/>
      </c:scatterChart>
      <c:scatterChart>
        <c:scatterStyle val="lineMarker"/>
        <c:varyColors val="0"/>
        <c:ser>
          <c:idx val="1"/>
          <c:order val="1"/>
          <c:tx>
            <c:v>Payoff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'[Figures.xlsx]Exponential CDF'!$D$4:$D$104</c:f>
              <c:numCache>
                <c:formatCode>General</c:formatCode>
                <c:ptCount val="10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0.30000000000000004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0.79999999999999993</c:v>
                </c:pt>
                <c:pt idx="9">
                  <c:v>0.89999999999999991</c:v>
                </c:pt>
                <c:pt idx="10">
                  <c:v>0.99999999999999989</c:v>
                </c:pt>
                <c:pt idx="11">
                  <c:v>1.0999999999999999</c:v>
                </c:pt>
                <c:pt idx="12">
                  <c:v>1.2</c:v>
                </c:pt>
                <c:pt idx="13">
                  <c:v>1.3</c:v>
                </c:pt>
                <c:pt idx="14">
                  <c:v>1.4000000000000001</c:v>
                </c:pt>
                <c:pt idx="15">
                  <c:v>1.5000000000000002</c:v>
                </c:pt>
                <c:pt idx="16">
                  <c:v>1.6000000000000003</c:v>
                </c:pt>
                <c:pt idx="17">
                  <c:v>1.7000000000000004</c:v>
                </c:pt>
                <c:pt idx="18">
                  <c:v>1.8000000000000005</c:v>
                </c:pt>
                <c:pt idx="19">
                  <c:v>1.9000000000000006</c:v>
                </c:pt>
                <c:pt idx="20">
                  <c:v>2.0000000000000004</c:v>
                </c:pt>
                <c:pt idx="21">
                  <c:v>2.1000000000000005</c:v>
                </c:pt>
                <c:pt idx="22">
                  <c:v>2.2000000000000006</c:v>
                </c:pt>
                <c:pt idx="23">
                  <c:v>2.3000000000000007</c:v>
                </c:pt>
                <c:pt idx="24">
                  <c:v>2.4000000000000008</c:v>
                </c:pt>
                <c:pt idx="25">
                  <c:v>2.5000000000000009</c:v>
                </c:pt>
                <c:pt idx="26">
                  <c:v>2.600000000000001</c:v>
                </c:pt>
                <c:pt idx="27">
                  <c:v>2.7000000000000011</c:v>
                </c:pt>
                <c:pt idx="28">
                  <c:v>2.8000000000000012</c:v>
                </c:pt>
                <c:pt idx="29">
                  <c:v>2.9000000000000012</c:v>
                </c:pt>
                <c:pt idx="30">
                  <c:v>3.0000000000000013</c:v>
                </c:pt>
                <c:pt idx="31">
                  <c:v>3.1000000000000014</c:v>
                </c:pt>
                <c:pt idx="32">
                  <c:v>3.2000000000000015</c:v>
                </c:pt>
                <c:pt idx="33">
                  <c:v>3.3000000000000016</c:v>
                </c:pt>
                <c:pt idx="34">
                  <c:v>3.4000000000000017</c:v>
                </c:pt>
                <c:pt idx="35">
                  <c:v>3.5000000000000018</c:v>
                </c:pt>
                <c:pt idx="36">
                  <c:v>3.6000000000000019</c:v>
                </c:pt>
                <c:pt idx="37">
                  <c:v>3.700000000000002</c:v>
                </c:pt>
                <c:pt idx="38">
                  <c:v>3.800000000000002</c:v>
                </c:pt>
                <c:pt idx="39">
                  <c:v>3.9000000000000021</c:v>
                </c:pt>
                <c:pt idx="40">
                  <c:v>4.0000000000000018</c:v>
                </c:pt>
                <c:pt idx="41">
                  <c:v>4.1000000000000014</c:v>
                </c:pt>
                <c:pt idx="42">
                  <c:v>4.2000000000000011</c:v>
                </c:pt>
                <c:pt idx="43">
                  <c:v>4.3000000000000007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4.6999999999999993</c:v>
                </c:pt>
                <c:pt idx="48">
                  <c:v>4.7999999999999989</c:v>
                </c:pt>
                <c:pt idx="49">
                  <c:v>4.8999999999999986</c:v>
                </c:pt>
                <c:pt idx="50">
                  <c:v>4.9999999999999982</c:v>
                </c:pt>
                <c:pt idx="51">
                  <c:v>5.0999999999999979</c:v>
                </c:pt>
                <c:pt idx="52">
                  <c:v>5.1999999999999975</c:v>
                </c:pt>
                <c:pt idx="53">
                  <c:v>5.2999999999999972</c:v>
                </c:pt>
                <c:pt idx="54">
                  <c:v>5.3999999999999968</c:v>
                </c:pt>
                <c:pt idx="55">
                  <c:v>5.4999999999999964</c:v>
                </c:pt>
                <c:pt idx="56">
                  <c:v>5.5999999999999961</c:v>
                </c:pt>
                <c:pt idx="57">
                  <c:v>5.6999999999999957</c:v>
                </c:pt>
                <c:pt idx="58">
                  <c:v>5.7999999999999954</c:v>
                </c:pt>
                <c:pt idx="59">
                  <c:v>5.899999999999995</c:v>
                </c:pt>
                <c:pt idx="60">
                  <c:v>5.9999999999999947</c:v>
                </c:pt>
                <c:pt idx="61">
                  <c:v>6.0999999999999943</c:v>
                </c:pt>
                <c:pt idx="62">
                  <c:v>6.199999999999994</c:v>
                </c:pt>
                <c:pt idx="63">
                  <c:v>6.2999999999999936</c:v>
                </c:pt>
                <c:pt idx="64">
                  <c:v>6.3999999999999932</c:v>
                </c:pt>
                <c:pt idx="65">
                  <c:v>6.4999999999999929</c:v>
                </c:pt>
                <c:pt idx="66">
                  <c:v>6.5999999999999925</c:v>
                </c:pt>
                <c:pt idx="67">
                  <c:v>6.6999999999999922</c:v>
                </c:pt>
                <c:pt idx="68">
                  <c:v>6.7999999999999918</c:v>
                </c:pt>
                <c:pt idx="69">
                  <c:v>6.8999999999999915</c:v>
                </c:pt>
                <c:pt idx="70">
                  <c:v>6.9999999999999911</c:v>
                </c:pt>
                <c:pt idx="71">
                  <c:v>7.0999999999999908</c:v>
                </c:pt>
                <c:pt idx="72">
                  <c:v>7.1999999999999904</c:v>
                </c:pt>
                <c:pt idx="73">
                  <c:v>7.2999999999999901</c:v>
                </c:pt>
                <c:pt idx="74">
                  <c:v>7.3999999999999897</c:v>
                </c:pt>
                <c:pt idx="75">
                  <c:v>7.4999999999999893</c:v>
                </c:pt>
                <c:pt idx="76">
                  <c:v>7.599999999999989</c:v>
                </c:pt>
                <c:pt idx="77">
                  <c:v>7.6999999999999886</c:v>
                </c:pt>
                <c:pt idx="78">
                  <c:v>7.7999999999999883</c:v>
                </c:pt>
                <c:pt idx="79">
                  <c:v>7.8999999999999879</c:v>
                </c:pt>
                <c:pt idx="80">
                  <c:v>7.9999999999999876</c:v>
                </c:pt>
                <c:pt idx="81">
                  <c:v>8.0999999999999872</c:v>
                </c:pt>
                <c:pt idx="82">
                  <c:v>8.1999999999999869</c:v>
                </c:pt>
                <c:pt idx="83">
                  <c:v>8.2999999999999865</c:v>
                </c:pt>
                <c:pt idx="84">
                  <c:v>8.3999999999999861</c:v>
                </c:pt>
                <c:pt idx="85">
                  <c:v>8.4999999999999858</c:v>
                </c:pt>
                <c:pt idx="86">
                  <c:v>8.5999999999999854</c:v>
                </c:pt>
                <c:pt idx="87">
                  <c:v>8.6999999999999851</c:v>
                </c:pt>
                <c:pt idx="88">
                  <c:v>8.7999999999999847</c:v>
                </c:pt>
                <c:pt idx="89">
                  <c:v>8.8999999999999844</c:v>
                </c:pt>
                <c:pt idx="90">
                  <c:v>8.999999999999984</c:v>
                </c:pt>
                <c:pt idx="91">
                  <c:v>9.0999999999999837</c:v>
                </c:pt>
                <c:pt idx="92">
                  <c:v>9.1999999999999833</c:v>
                </c:pt>
                <c:pt idx="93">
                  <c:v>9.2999999999999829</c:v>
                </c:pt>
                <c:pt idx="94">
                  <c:v>9.3999999999999826</c:v>
                </c:pt>
                <c:pt idx="95">
                  <c:v>9.4999999999999822</c:v>
                </c:pt>
                <c:pt idx="96">
                  <c:v>9.5999999999999819</c:v>
                </c:pt>
                <c:pt idx="97">
                  <c:v>9.6999999999999815</c:v>
                </c:pt>
                <c:pt idx="98">
                  <c:v>9.7999999999999812</c:v>
                </c:pt>
                <c:pt idx="99">
                  <c:v>9.8999999999999808</c:v>
                </c:pt>
                <c:pt idx="100">
                  <c:v>9.9999999999999805</c:v>
                </c:pt>
              </c:numCache>
            </c:numRef>
          </c:xVal>
          <c:yVal>
            <c:numRef>
              <c:f>'[Figures.xlsx]Exponential CDF'!$G$4:$G$104</c:f>
              <c:numCache>
                <c:formatCode>General</c:formatCode>
                <c:ptCount val="10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0.30000000000000004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0.79999999999999993</c:v>
                </c:pt>
                <c:pt idx="9">
                  <c:v>0.89999999999999991</c:v>
                </c:pt>
                <c:pt idx="10">
                  <c:v>0.99999999999999989</c:v>
                </c:pt>
                <c:pt idx="11">
                  <c:v>1.0999999999999999</c:v>
                </c:pt>
                <c:pt idx="12">
                  <c:v>1.2</c:v>
                </c:pt>
                <c:pt idx="13">
                  <c:v>1.3</c:v>
                </c:pt>
                <c:pt idx="14">
                  <c:v>1.4000000000000001</c:v>
                </c:pt>
                <c:pt idx="15">
                  <c:v>1.5000000000000002</c:v>
                </c:pt>
                <c:pt idx="16">
                  <c:v>1.6000000000000003</c:v>
                </c:pt>
                <c:pt idx="17">
                  <c:v>1.7000000000000004</c:v>
                </c:pt>
                <c:pt idx="18">
                  <c:v>1.8000000000000005</c:v>
                </c:pt>
                <c:pt idx="19">
                  <c:v>1.9000000000000006</c:v>
                </c:pt>
                <c:pt idx="20">
                  <c:v>2.0000000000000004</c:v>
                </c:pt>
                <c:pt idx="21">
                  <c:v>2.1000000000000005</c:v>
                </c:pt>
                <c:pt idx="22">
                  <c:v>2.2000000000000006</c:v>
                </c:pt>
                <c:pt idx="23">
                  <c:v>2.3000000000000007</c:v>
                </c:pt>
                <c:pt idx="24">
                  <c:v>2.4000000000000008</c:v>
                </c:pt>
                <c:pt idx="25">
                  <c:v>2.5000000000000009</c:v>
                </c:pt>
                <c:pt idx="26">
                  <c:v>2.600000000000001</c:v>
                </c:pt>
                <c:pt idx="27">
                  <c:v>2.7000000000000011</c:v>
                </c:pt>
                <c:pt idx="28">
                  <c:v>2.8000000000000012</c:v>
                </c:pt>
                <c:pt idx="29">
                  <c:v>2.9000000000000012</c:v>
                </c:pt>
                <c:pt idx="30">
                  <c:v>3.0000000000000013</c:v>
                </c:pt>
                <c:pt idx="31">
                  <c:v>3.1000000000000014</c:v>
                </c:pt>
                <c:pt idx="32">
                  <c:v>3.2000000000000015</c:v>
                </c:pt>
                <c:pt idx="33">
                  <c:v>3.3000000000000016</c:v>
                </c:pt>
                <c:pt idx="34">
                  <c:v>3.4000000000000017</c:v>
                </c:pt>
                <c:pt idx="35">
                  <c:v>3.5000000000000018</c:v>
                </c:pt>
                <c:pt idx="36">
                  <c:v>3.6000000000000019</c:v>
                </c:pt>
                <c:pt idx="37">
                  <c:v>3.700000000000002</c:v>
                </c:pt>
                <c:pt idx="38">
                  <c:v>3.800000000000002</c:v>
                </c:pt>
                <c:pt idx="39">
                  <c:v>3.9000000000000021</c:v>
                </c:pt>
                <c:pt idx="40">
                  <c:v>4.0000000000000018</c:v>
                </c:pt>
                <c:pt idx="41">
                  <c:v>4.1000000000000014</c:v>
                </c:pt>
                <c:pt idx="42">
                  <c:v>4.2000000000000011</c:v>
                </c:pt>
                <c:pt idx="43">
                  <c:v>4.3000000000000007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4.6999999999999993</c:v>
                </c:pt>
                <c:pt idx="48">
                  <c:v>4.7999999999999989</c:v>
                </c:pt>
                <c:pt idx="49">
                  <c:v>4.8999999999999986</c:v>
                </c:pt>
                <c:pt idx="50">
                  <c:v>4.9999999999999982</c:v>
                </c:pt>
                <c:pt idx="51">
                  <c:v>5.0999999999999979</c:v>
                </c:pt>
                <c:pt idx="52">
                  <c:v>5.1999999999999975</c:v>
                </c:pt>
                <c:pt idx="53">
                  <c:v>5.2999999999999972</c:v>
                </c:pt>
                <c:pt idx="54">
                  <c:v>5.3999999999999968</c:v>
                </c:pt>
                <c:pt idx="55">
                  <c:v>5.4999999999999964</c:v>
                </c:pt>
                <c:pt idx="56">
                  <c:v>5.5999999999999961</c:v>
                </c:pt>
                <c:pt idx="57">
                  <c:v>5.6999999999999957</c:v>
                </c:pt>
                <c:pt idx="58">
                  <c:v>5.7999999999999954</c:v>
                </c:pt>
                <c:pt idx="59">
                  <c:v>5.899999999999995</c:v>
                </c:pt>
                <c:pt idx="60">
                  <c:v>5.9999999999999947</c:v>
                </c:pt>
                <c:pt idx="61">
                  <c:v>6.0999999999999943</c:v>
                </c:pt>
                <c:pt idx="62">
                  <c:v>6.199999999999994</c:v>
                </c:pt>
                <c:pt idx="63">
                  <c:v>6.2999999999999936</c:v>
                </c:pt>
                <c:pt idx="64">
                  <c:v>6.3999999999999932</c:v>
                </c:pt>
                <c:pt idx="65">
                  <c:v>6.4999999999999929</c:v>
                </c:pt>
                <c:pt idx="66">
                  <c:v>6.5999999999999925</c:v>
                </c:pt>
                <c:pt idx="67">
                  <c:v>6.6999999999999922</c:v>
                </c:pt>
                <c:pt idx="68">
                  <c:v>6.7999999999999918</c:v>
                </c:pt>
                <c:pt idx="69">
                  <c:v>6.8999999999999915</c:v>
                </c:pt>
                <c:pt idx="70">
                  <c:v>6.9999999999999911</c:v>
                </c:pt>
                <c:pt idx="71">
                  <c:v>7.0999999999999908</c:v>
                </c:pt>
                <c:pt idx="72">
                  <c:v>7.1999999999999904</c:v>
                </c:pt>
                <c:pt idx="73">
                  <c:v>7.2999999999999901</c:v>
                </c:pt>
                <c:pt idx="74">
                  <c:v>7.3999999999999897</c:v>
                </c:pt>
                <c:pt idx="75">
                  <c:v>7.4999999999999893</c:v>
                </c:pt>
                <c:pt idx="76">
                  <c:v>7.599999999999989</c:v>
                </c:pt>
                <c:pt idx="77">
                  <c:v>7.6999999999999886</c:v>
                </c:pt>
                <c:pt idx="78">
                  <c:v>7.7999999999999883</c:v>
                </c:pt>
                <c:pt idx="79">
                  <c:v>7.8999999999999879</c:v>
                </c:pt>
                <c:pt idx="80">
                  <c:v>7.9999999999999876</c:v>
                </c:pt>
                <c:pt idx="81">
                  <c:v>8.0999999999999872</c:v>
                </c:pt>
                <c:pt idx="82">
                  <c:v>8.1999999999999869</c:v>
                </c:pt>
                <c:pt idx="83">
                  <c:v>8.2999999999999865</c:v>
                </c:pt>
                <c:pt idx="84">
                  <c:v>8.3999999999999861</c:v>
                </c:pt>
                <c:pt idx="85">
                  <c:v>8.4999999999999858</c:v>
                </c:pt>
                <c:pt idx="86">
                  <c:v>8.5999999999999854</c:v>
                </c:pt>
                <c:pt idx="87">
                  <c:v>8.6999999999999851</c:v>
                </c:pt>
                <c:pt idx="88">
                  <c:v>8.7999999999999847</c:v>
                </c:pt>
                <c:pt idx="89">
                  <c:v>8.8999999999999844</c:v>
                </c:pt>
                <c:pt idx="90">
                  <c:v>8.999999999999984</c:v>
                </c:pt>
                <c:pt idx="91">
                  <c:v>9.0999999999999837</c:v>
                </c:pt>
                <c:pt idx="92">
                  <c:v>9.1999999999999833</c:v>
                </c:pt>
                <c:pt idx="93">
                  <c:v>9.2999999999999829</c:v>
                </c:pt>
                <c:pt idx="94">
                  <c:v>9.3999999999999826</c:v>
                </c:pt>
                <c:pt idx="95">
                  <c:v>9.4999999999999822</c:v>
                </c:pt>
                <c:pt idx="96">
                  <c:v>9.5999999999999819</c:v>
                </c:pt>
                <c:pt idx="97">
                  <c:v>9.6999999999999815</c:v>
                </c:pt>
                <c:pt idx="98">
                  <c:v>9.7999999999999812</c:v>
                </c:pt>
                <c:pt idx="99">
                  <c:v>9.8999999999999808</c:v>
                </c:pt>
                <c:pt idx="100">
                  <c:v>9.9999999999999805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B66-419D-8EEC-9DC026F9A1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5931344"/>
        <c:axId val="1186990144"/>
      </c:scatterChart>
      <c:valAx>
        <c:axId val="1263917840"/>
        <c:scaling>
          <c:orientation val="minMax"/>
          <c:max val="1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3915440"/>
        <c:crosses val="autoZero"/>
        <c:crossBetween val="midCat"/>
      </c:valAx>
      <c:valAx>
        <c:axId val="1263915440"/>
        <c:scaling>
          <c:orientation val="minMax"/>
          <c:max val="0.2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3917840"/>
        <c:crosses val="autoZero"/>
        <c:crossBetween val="midCat"/>
      </c:valAx>
      <c:valAx>
        <c:axId val="1186990144"/>
        <c:scaling>
          <c:orientation val="minMax"/>
          <c:max val="10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5931344"/>
        <c:crosses val="max"/>
        <c:crossBetween val="midCat"/>
      </c:valAx>
      <c:valAx>
        <c:axId val="125593134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869901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marker>
            <c:symbol val="none"/>
          </c:marker>
          <c:xVal>
            <c:numRef>
              <c:f>'[Expected Payoffs.xlsx]CDF'!$D$4:$D$64</c:f>
              <c:numCache>
                <c:formatCode>General</c:formatCode>
                <c:ptCount val="61"/>
                <c:pt idx="0">
                  <c:v>-3</c:v>
                </c:pt>
                <c:pt idx="1">
                  <c:v>-2.9</c:v>
                </c:pt>
                <c:pt idx="2">
                  <c:v>-2.8</c:v>
                </c:pt>
                <c:pt idx="3">
                  <c:v>-2.6999999999999997</c:v>
                </c:pt>
                <c:pt idx="4">
                  <c:v>-2.5999999999999996</c:v>
                </c:pt>
                <c:pt idx="5">
                  <c:v>-2.4999999999999996</c:v>
                </c:pt>
                <c:pt idx="6">
                  <c:v>-2.3999999999999995</c:v>
                </c:pt>
                <c:pt idx="7">
                  <c:v>-2.2999999999999994</c:v>
                </c:pt>
                <c:pt idx="8">
                  <c:v>-2.1999999999999993</c:v>
                </c:pt>
                <c:pt idx="9">
                  <c:v>-2.0999999999999992</c:v>
                </c:pt>
                <c:pt idx="10">
                  <c:v>-1.9999999999999991</c:v>
                </c:pt>
                <c:pt idx="11">
                  <c:v>-1.899999999999999</c:v>
                </c:pt>
                <c:pt idx="12">
                  <c:v>-1.7999999999999989</c:v>
                </c:pt>
                <c:pt idx="13">
                  <c:v>-1.6999999999999988</c:v>
                </c:pt>
                <c:pt idx="14">
                  <c:v>-1.5999999999999988</c:v>
                </c:pt>
                <c:pt idx="15">
                  <c:v>-1.4999999999999987</c:v>
                </c:pt>
                <c:pt idx="16">
                  <c:v>-1.3999999999999986</c:v>
                </c:pt>
                <c:pt idx="17">
                  <c:v>-1.2999999999999985</c:v>
                </c:pt>
                <c:pt idx="18">
                  <c:v>-1.1999999999999984</c:v>
                </c:pt>
                <c:pt idx="19">
                  <c:v>-1.0999999999999983</c:v>
                </c:pt>
                <c:pt idx="20">
                  <c:v>-0.99999999999999833</c:v>
                </c:pt>
                <c:pt idx="21">
                  <c:v>-0.89999999999999836</c:v>
                </c:pt>
                <c:pt idx="22">
                  <c:v>-0.79999999999999838</c:v>
                </c:pt>
                <c:pt idx="23">
                  <c:v>-0.6999999999999984</c:v>
                </c:pt>
                <c:pt idx="24">
                  <c:v>-0.59999999999999842</c:v>
                </c:pt>
                <c:pt idx="25">
                  <c:v>-0.49999999999999845</c:v>
                </c:pt>
                <c:pt idx="26">
                  <c:v>-0.39999999999999847</c:v>
                </c:pt>
                <c:pt idx="27">
                  <c:v>-0.29999999999999849</c:v>
                </c:pt>
                <c:pt idx="28">
                  <c:v>-0.19999999999999848</c:v>
                </c:pt>
                <c:pt idx="29">
                  <c:v>-9.9999999999998479E-2</c:v>
                </c:pt>
                <c:pt idx="30">
                  <c:v>1.5265566588595902E-15</c:v>
                </c:pt>
                <c:pt idx="31">
                  <c:v>0.10000000000000153</c:v>
                </c:pt>
                <c:pt idx="32">
                  <c:v>0.20000000000000154</c:v>
                </c:pt>
                <c:pt idx="33">
                  <c:v>0.30000000000000154</c:v>
                </c:pt>
                <c:pt idx="34">
                  <c:v>0.40000000000000158</c:v>
                </c:pt>
                <c:pt idx="35">
                  <c:v>0.50000000000000155</c:v>
                </c:pt>
                <c:pt idx="36">
                  <c:v>0.60000000000000153</c:v>
                </c:pt>
                <c:pt idx="37">
                  <c:v>0.70000000000000151</c:v>
                </c:pt>
                <c:pt idx="38">
                  <c:v>0.80000000000000149</c:v>
                </c:pt>
                <c:pt idx="39">
                  <c:v>0.90000000000000147</c:v>
                </c:pt>
                <c:pt idx="40">
                  <c:v>1.0000000000000016</c:v>
                </c:pt>
                <c:pt idx="41">
                  <c:v>1.1000000000000016</c:v>
                </c:pt>
                <c:pt idx="42">
                  <c:v>1.2000000000000017</c:v>
                </c:pt>
                <c:pt idx="43">
                  <c:v>1.3000000000000018</c:v>
                </c:pt>
                <c:pt idx="44">
                  <c:v>1.4000000000000019</c:v>
                </c:pt>
                <c:pt idx="45">
                  <c:v>1.500000000000002</c:v>
                </c:pt>
                <c:pt idx="46">
                  <c:v>1.6000000000000021</c:v>
                </c:pt>
                <c:pt idx="47">
                  <c:v>1.7000000000000022</c:v>
                </c:pt>
                <c:pt idx="48">
                  <c:v>1.8000000000000023</c:v>
                </c:pt>
                <c:pt idx="49">
                  <c:v>1.9000000000000024</c:v>
                </c:pt>
                <c:pt idx="50">
                  <c:v>2.0000000000000022</c:v>
                </c:pt>
                <c:pt idx="51">
                  <c:v>2.1000000000000023</c:v>
                </c:pt>
                <c:pt idx="52">
                  <c:v>2.2000000000000024</c:v>
                </c:pt>
                <c:pt idx="53">
                  <c:v>2.3000000000000025</c:v>
                </c:pt>
                <c:pt idx="54">
                  <c:v>2.4000000000000026</c:v>
                </c:pt>
                <c:pt idx="55">
                  <c:v>2.5000000000000027</c:v>
                </c:pt>
                <c:pt idx="56">
                  <c:v>2.6000000000000028</c:v>
                </c:pt>
                <c:pt idx="57">
                  <c:v>2.7000000000000028</c:v>
                </c:pt>
                <c:pt idx="58">
                  <c:v>2.8000000000000029</c:v>
                </c:pt>
                <c:pt idx="59">
                  <c:v>2.900000000000003</c:v>
                </c:pt>
                <c:pt idx="60">
                  <c:v>3.0000000000000031</c:v>
                </c:pt>
              </c:numCache>
            </c:numRef>
          </c:xVal>
          <c:yVal>
            <c:numRef>
              <c:f>'[Expected Payoffs.xlsx]CDF'!$F$4:$F$64</c:f>
              <c:numCache>
                <c:formatCode>General</c:formatCode>
                <c:ptCount val="61"/>
                <c:pt idx="0">
                  <c:v>4.4318484119380075E-3</c:v>
                </c:pt>
                <c:pt idx="1">
                  <c:v>5.9525324197758538E-3</c:v>
                </c:pt>
                <c:pt idx="2">
                  <c:v>7.9154515829799686E-3</c:v>
                </c:pt>
                <c:pt idx="3">
                  <c:v>1.0420934814422605E-2</c:v>
                </c:pt>
                <c:pt idx="4">
                  <c:v>1.3582969233685634E-2</c:v>
                </c:pt>
                <c:pt idx="5">
                  <c:v>1.7528300493568554E-2</c:v>
                </c:pt>
                <c:pt idx="6">
                  <c:v>2.2394530294842931E-2</c:v>
                </c:pt>
                <c:pt idx="7">
                  <c:v>2.832703774160121E-2</c:v>
                </c:pt>
                <c:pt idx="8">
                  <c:v>3.5474592846231487E-2</c:v>
                </c:pt>
                <c:pt idx="9">
                  <c:v>4.3983595980427267E-2</c:v>
                </c:pt>
                <c:pt idx="10">
                  <c:v>5.3990966513188146E-2</c:v>
                </c:pt>
                <c:pt idx="11">
                  <c:v>6.561581477467672E-2</c:v>
                </c:pt>
                <c:pt idx="12">
                  <c:v>7.8950158300894302E-2</c:v>
                </c:pt>
                <c:pt idx="13">
                  <c:v>9.4049077376887114E-2</c:v>
                </c:pt>
                <c:pt idx="14">
                  <c:v>0.11092083467945579</c:v>
                </c:pt>
                <c:pt idx="15">
                  <c:v>0.12951759566589199</c:v>
                </c:pt>
                <c:pt idx="16">
                  <c:v>0.14972746563574515</c:v>
                </c:pt>
                <c:pt idx="17">
                  <c:v>0.17136859204780769</c:v>
                </c:pt>
                <c:pt idx="18">
                  <c:v>0.19418605498321331</c:v>
                </c:pt>
                <c:pt idx="19">
                  <c:v>0.21785217703255097</c:v>
                </c:pt>
                <c:pt idx="20">
                  <c:v>0.24197072451914375</c:v>
                </c:pt>
                <c:pt idx="21">
                  <c:v>0.26608524989875521</c:v>
                </c:pt>
                <c:pt idx="22">
                  <c:v>0.28969155276148312</c:v>
                </c:pt>
                <c:pt idx="23">
                  <c:v>0.3122539333667616</c:v>
                </c:pt>
                <c:pt idx="24">
                  <c:v>0.33322460289179995</c:v>
                </c:pt>
                <c:pt idx="25">
                  <c:v>0.3520653267642998</c:v>
                </c:pt>
                <c:pt idx="26">
                  <c:v>0.36827014030332356</c:v>
                </c:pt>
                <c:pt idx="27">
                  <c:v>0.38138781546052425</c:v>
                </c:pt>
                <c:pt idx="28">
                  <c:v>0.39104269397545599</c:v>
                </c:pt>
                <c:pt idx="29">
                  <c:v>0.39695254747701186</c:v>
                </c:pt>
                <c:pt idx="30">
                  <c:v>0.3989422804014327</c:v>
                </c:pt>
                <c:pt idx="31">
                  <c:v>0.39695254747701175</c:v>
                </c:pt>
                <c:pt idx="32">
                  <c:v>0.39104269397545577</c:v>
                </c:pt>
                <c:pt idx="33">
                  <c:v>0.38138781546052397</c:v>
                </c:pt>
                <c:pt idx="34">
                  <c:v>0.36827014030332311</c:v>
                </c:pt>
                <c:pt idx="35">
                  <c:v>0.35206532676429919</c:v>
                </c:pt>
                <c:pt idx="36">
                  <c:v>0.33322460289179934</c:v>
                </c:pt>
                <c:pt idx="37">
                  <c:v>0.31225393336676094</c:v>
                </c:pt>
                <c:pt idx="38">
                  <c:v>0.2896915527614824</c:v>
                </c:pt>
                <c:pt idx="39">
                  <c:v>0.26608524989875448</c:v>
                </c:pt>
                <c:pt idx="40">
                  <c:v>0.241970724519143</c:v>
                </c:pt>
                <c:pt idx="41">
                  <c:v>0.21785217703255014</c:v>
                </c:pt>
                <c:pt idx="42">
                  <c:v>0.19418605498321254</c:v>
                </c:pt>
                <c:pt idx="43">
                  <c:v>0.17136859204780694</c:v>
                </c:pt>
                <c:pt idx="44">
                  <c:v>0.14972746563574449</c:v>
                </c:pt>
                <c:pt idx="45">
                  <c:v>0.12951759566589133</c:v>
                </c:pt>
                <c:pt idx="46">
                  <c:v>0.1109208346794552</c:v>
                </c:pt>
                <c:pt idx="47">
                  <c:v>9.4049077376886586E-2</c:v>
                </c:pt>
                <c:pt idx="48">
                  <c:v>7.8950158300893844E-2</c:v>
                </c:pt>
                <c:pt idx="49">
                  <c:v>6.5615814774676304E-2</c:v>
                </c:pt>
                <c:pt idx="50">
                  <c:v>5.3990966513187813E-2</c:v>
                </c:pt>
                <c:pt idx="51">
                  <c:v>4.3983595980426976E-2</c:v>
                </c:pt>
                <c:pt idx="52">
                  <c:v>3.5474592846231251E-2</c:v>
                </c:pt>
                <c:pt idx="53">
                  <c:v>2.8327037741601009E-2</c:v>
                </c:pt>
                <c:pt idx="54">
                  <c:v>2.2394530294842761E-2</c:v>
                </c:pt>
                <c:pt idx="55">
                  <c:v>1.7528300493568419E-2</c:v>
                </c:pt>
                <c:pt idx="56">
                  <c:v>1.3582969233685523E-2</c:v>
                </c:pt>
                <c:pt idx="57">
                  <c:v>1.0420934814422515E-2</c:v>
                </c:pt>
                <c:pt idx="58">
                  <c:v>7.9154515829798974E-3</c:v>
                </c:pt>
                <c:pt idx="59">
                  <c:v>5.9525324197758009E-3</c:v>
                </c:pt>
                <c:pt idx="60">
                  <c:v>4.4318484119379676E-3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7AA-4D03-99D2-200322D23B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92668079"/>
        <c:axId val="592666639"/>
      </c:scatterChart>
      <c:valAx>
        <c:axId val="592668079"/>
        <c:scaling>
          <c:orientation val="minMax"/>
          <c:max val="3"/>
          <c:min val="-3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2666639"/>
        <c:crosses val="autoZero"/>
        <c:crossBetween val="midCat"/>
      </c:valAx>
      <c:valAx>
        <c:axId val="592666639"/>
        <c:scaling>
          <c:orientation val="minMax"/>
          <c:max val="0.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2668079"/>
        <c:crosses val="autoZero"/>
        <c:crossBetween val="midCat"/>
        <c:majorUnit val="0.1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590C40-380F-467F-B2E8-E7180F29145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8F0A6D-EEA4-4712-949D-959F890BC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084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AC134-119B-76F4-6F57-53DD6B0B9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1335E7-641C-E274-AFD8-9ACF63802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4B9A61-96BF-EA0F-4766-7B88AC76E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EA978-CB8B-DA9C-CA7E-4B3A2EA5E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CE83F6-3A65-482C-B878-5103AB5386B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4935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8F6D9-433D-9FCD-1371-1FFC5B22C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6D57-1E42-FEF9-0046-F55DAD532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5FED1-DC2E-CA26-77D3-B561CC9C6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2C593-CC40-D16B-0A92-941477A9C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334F8-28C8-6190-4C7A-46BE2551F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89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0CF8B-79E3-327D-BE10-75A66EF39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FD811-EBEC-A270-B6E0-0245AD78F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26D39-7B87-DE1A-5773-802CCC8FE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C8125-5496-97EB-E47F-48BE46EFE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BBE62-5957-C388-3C97-08E94A024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86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849FF-2E5A-4944-C1BF-C8E2B512F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E2F7C-B359-6847-B6BB-CB0D4FDA0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0B2F-8D7D-88CB-EB4C-D002D54C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DAD0E-CDC9-81DE-EAE1-4D48F97F2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8BBC0-DF8F-9633-3CF0-B537CC4BC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9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BBC8D-7B47-32C2-5D96-31B3077D8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4B44F-FCDC-3C0E-EE40-C85D054552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47FFF-518C-F697-E99F-82A49EDBE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59D35-265F-B240-4867-A88846950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75B8C1-6A1F-7695-CE51-B11363BD7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52C22-A624-D254-DF4D-844F544C2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449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E0277-2A98-F5FB-469B-993AD22E2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8F13E-9536-45FA-3843-3EB0BAC11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726A17-C4D6-59E3-0A04-A2C0AB179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82183E-7155-D59D-77AA-533FFF38F8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3EA97B-8655-8A53-7B87-F43C923B5F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33C9E4-AD31-6A15-DEBA-532AB09A6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CA57D4-E06C-ED8E-3954-958ABB038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04200A-B4D8-DF9F-A065-32BA6856E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01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3A8F-C2BE-88F1-871E-FCDBBC107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59B962-578D-B4FE-AF9D-7957A581C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1609FF-4186-0E56-3F39-68FD17AE9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305437-F288-98C3-7F90-5C6ACEE6D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89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0323B-08B1-2CFB-ABD3-A510B613B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C0435D-871A-182C-7C87-B4989835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6F160-3EFD-19D0-298E-AD69EC980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814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B5AD0-4B31-492F-9BA4-1F5D982A1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E1AF9-7A27-04D5-9D85-5D4D80190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A3A66-5958-769B-741E-B5437CA15B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A6B32-A397-2328-9339-0D6502859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70F0E-2882-5BED-DA88-638CC2CB7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D23D9-AA7A-9A39-B5F1-328454DB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32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FB9B5-B531-AB92-B827-2FD74C17D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D183E2-9567-629B-664B-298D5897D6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E4114-FC7A-5462-1297-5D6BCAB5C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ECCCB-9FE2-8591-F205-F8B5B9E71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9A163-75DC-03AF-5326-849EC4CF2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D94F6-8E2C-E63C-8B91-F740383CB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156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0CAC5-CD37-F867-6192-C94947499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853604-94B5-CB17-2771-A0C924832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6DCE7-2FBC-1748-AAC8-E7540469A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531F0-1E5F-E267-722F-1A4714419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733FD-4898-0238-3ABB-8FF1D8AE6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64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4F1B78-415C-335C-90B0-0A7C6BEECC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7350C0-BEFD-B8FB-DE09-0170706F0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DFC31-6E76-0879-B3EE-E2EF6AAE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9E808-F47B-32A9-D83A-60E8B93BE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8CFE5-801F-C96D-7414-92898D028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735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2046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1018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9168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5223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6365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2403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5300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5523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9770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1650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663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796E57-FC88-A9B0-F1C3-F11DD354B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114DD-3CA0-C024-F938-3704B7A5D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FFB1C-F5F4-F094-0D2E-44E2318499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D2172-B066-42B6-872E-3CB95A0AB1F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B7CC7-25A6-0109-6794-AC24CB7EE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0B55D-30F1-5288-DA2C-3E5909CD4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206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527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g"/><Relationship Id="rId5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jpeg"/><Relationship Id="rId21" Type="http://schemas.openxmlformats.org/officeDocument/2006/relationships/image" Target="../media/image37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NULL"/><Relationship Id="rId16" Type="http://schemas.openxmlformats.org/officeDocument/2006/relationships/image" Target="../media/image19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7.jpe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../media/image24.png"/><Relationship Id="rId12" Type="http://schemas.openxmlformats.org/officeDocument/2006/relationships/image" Target="../media/image2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../media/image25.png"/><Relationship Id="rId5" Type="http://schemas.openxmlformats.org/officeDocument/2006/relationships/image" Target="NULL"/><Relationship Id="rId10" Type="http://schemas.openxmlformats.org/officeDocument/2006/relationships/chart" Target="../charts/chart1.xm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7" Type="http://schemas.openxmlformats.org/officeDocument/2006/relationships/image" Target="NUL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10" Type="http://schemas.openxmlformats.org/officeDocument/2006/relationships/image" Target="../media/image26.png"/><Relationship Id="rId4" Type="http://schemas.openxmlformats.org/officeDocument/2006/relationships/image" Target="NULL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7" Type="http://schemas.openxmlformats.org/officeDocument/2006/relationships/image" Target="NUL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10" Type="http://schemas.openxmlformats.org/officeDocument/2006/relationships/image" Target="../media/image27.png"/><Relationship Id="rId4" Type="http://schemas.openxmlformats.org/officeDocument/2006/relationships/image" Target="NULL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NULL"/><Relationship Id="rId12" Type="http://schemas.openxmlformats.org/officeDocument/2006/relationships/image" Target="../media/image3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../media/image31.png"/><Relationship Id="rId15" Type="http://schemas.openxmlformats.org/officeDocument/2006/relationships/image" Target="NULL"/><Relationship Id="rId10" Type="http://schemas.openxmlformats.org/officeDocument/2006/relationships/image" Target="../media/image45.png"/><Relationship Id="rId4" Type="http://schemas.openxmlformats.org/officeDocument/2006/relationships/image" Target="../media/image29.svg"/><Relationship Id="rId9" Type="http://schemas.openxmlformats.org/officeDocument/2006/relationships/image" Target="../media/image44.png"/><Relationship Id="rId1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../media/image46.png"/><Relationship Id="rId3" Type="http://schemas.openxmlformats.org/officeDocument/2006/relationships/chart" Target="../charts/chart4.xml"/><Relationship Id="rId21" Type="http://schemas.openxmlformats.org/officeDocument/2006/relationships/image" Target="../media/image35.png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../media/image6.jpeg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chart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../media/image34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chart" Target="../charts/chart5.xml"/><Relationship Id="rId7" Type="http://schemas.openxmlformats.org/officeDocument/2006/relationships/image" Target="../media/image17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11" Type="http://schemas.openxmlformats.org/officeDocument/2006/relationships/image" Target="../media/image210.png"/><Relationship Id="rId5" Type="http://schemas.openxmlformats.org/officeDocument/2006/relationships/image" Target="../media/image151.png"/><Relationship Id="rId10" Type="http://schemas.openxmlformats.org/officeDocument/2006/relationships/image" Target="../media/image200.png"/><Relationship Id="rId4" Type="http://schemas.openxmlformats.org/officeDocument/2006/relationships/chart" Target="../charts/chart51.xml"/><Relationship Id="rId9" Type="http://schemas.openxmlformats.org/officeDocument/2006/relationships/image" Target="../media/image19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../media/image29.svg"/><Relationship Id="rId2" Type="http://schemas.openxmlformats.org/officeDocument/2006/relationships/image" Target="NULL"/><Relationship Id="rId20" Type="http://schemas.openxmlformats.org/officeDocument/2006/relationships/chart" Target="../charts/chart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30.png"/><Relationship Id="rId19" Type="http://schemas.openxmlformats.org/officeDocument/2006/relationships/chart" Target="../charts/chart6.xml"/><Relationship Id="rId4" Type="http://schemas.openxmlformats.org/officeDocument/2006/relationships/image" Target="../media/image6.jpeg"/><Relationship Id="rId9" Type="http://schemas.openxmlformats.org/officeDocument/2006/relationships/image" Target="../media/image6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80.png"/><Relationship Id="rId18" Type="http://schemas.openxmlformats.org/officeDocument/2006/relationships/image" Target="../media/image140.png"/><Relationship Id="rId3" Type="http://schemas.openxmlformats.org/officeDocument/2006/relationships/image" Target="../media/image350.png"/><Relationship Id="rId21" Type="http://schemas.openxmlformats.org/officeDocument/2006/relationships/chart" Target="../charts/chart8.xml"/><Relationship Id="rId7" Type="http://schemas.openxmlformats.org/officeDocument/2006/relationships/image" Target="../media/image73.png"/><Relationship Id="rId12" Type="http://schemas.openxmlformats.org/officeDocument/2006/relationships/image" Target="../media/image79.png"/><Relationship Id="rId17" Type="http://schemas.openxmlformats.org/officeDocument/2006/relationships/image" Target="../media/image85.png"/><Relationship Id="rId2" Type="http://schemas.openxmlformats.org/officeDocument/2006/relationships/image" Target="../media/image6.jpeg"/><Relationship Id="rId20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78.png"/><Relationship Id="rId5" Type="http://schemas.openxmlformats.org/officeDocument/2006/relationships/image" Target="../media/image39.png"/><Relationship Id="rId15" Type="http://schemas.openxmlformats.org/officeDocument/2006/relationships/image" Target="../media/image83.png"/><Relationship Id="rId23" Type="http://schemas.openxmlformats.org/officeDocument/2006/relationships/image" Target="../media/image41.png"/><Relationship Id="rId10" Type="http://schemas.openxmlformats.org/officeDocument/2006/relationships/image" Target="../media/image77.png"/><Relationship Id="rId19" Type="http://schemas.openxmlformats.org/officeDocument/2006/relationships/image" Target="../media/image150.png"/><Relationship Id="rId4" Type="http://schemas.openxmlformats.org/officeDocument/2006/relationships/image" Target="../media/image68.png"/><Relationship Id="rId9" Type="http://schemas.openxmlformats.org/officeDocument/2006/relationships/image" Target="../media/image75.png"/><Relationship Id="rId14" Type="http://schemas.openxmlformats.org/officeDocument/2006/relationships/image" Target="../media/image82.png"/><Relationship Id="rId22" Type="http://schemas.openxmlformats.org/officeDocument/2006/relationships/chart" Target="../charts/chart50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9.png"/><Relationship Id="rId3" Type="http://schemas.openxmlformats.org/officeDocument/2006/relationships/image" Target="../media/image170.png"/><Relationship Id="rId12" Type="http://schemas.openxmlformats.org/officeDocument/2006/relationships/image" Target="../media/image350.png"/><Relationship Id="rId2" Type="http://schemas.openxmlformats.org/officeDocument/2006/relationships/image" Target="../media/image6.jpe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7.png"/><Relationship Id="rId5" Type="http://schemas.openxmlformats.org/officeDocument/2006/relationships/image" Target="../media/image42.png"/><Relationship Id="rId15" Type="http://schemas.openxmlformats.org/officeDocument/2006/relationships/image" Target="../media/image41.png"/><Relationship Id="rId10" Type="http://schemas.openxmlformats.org/officeDocument/2006/relationships/image" Target="NULL"/><Relationship Id="rId4" Type="http://schemas.openxmlformats.org/officeDocument/2006/relationships/image" Target="../media/image181.png"/><Relationship Id="rId1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13" Type="http://schemas.openxmlformats.org/officeDocument/2006/relationships/image" Target="../media/image320.png"/><Relationship Id="rId3" Type="http://schemas.openxmlformats.org/officeDocument/2006/relationships/image" Target="../media/image220.png"/><Relationship Id="rId7" Type="http://schemas.openxmlformats.org/officeDocument/2006/relationships/image" Target="../media/image260.png"/><Relationship Id="rId12" Type="http://schemas.openxmlformats.org/officeDocument/2006/relationships/image" Target="../media/image310.png"/><Relationship Id="rId2" Type="http://schemas.openxmlformats.org/officeDocument/2006/relationships/image" Target="../media/image6.jpeg"/><Relationship Id="rId16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11" Type="http://schemas.openxmlformats.org/officeDocument/2006/relationships/image" Target="../media/image300.png"/><Relationship Id="rId5" Type="http://schemas.openxmlformats.org/officeDocument/2006/relationships/image" Target="../media/image240.png"/><Relationship Id="rId15" Type="http://schemas.openxmlformats.org/officeDocument/2006/relationships/image" Target="../media/image390.png"/><Relationship Id="rId10" Type="http://schemas.openxmlformats.org/officeDocument/2006/relationships/image" Target="../media/image290.png"/><Relationship Id="rId4" Type="http://schemas.openxmlformats.org/officeDocument/2006/relationships/image" Target="../media/image261.png"/><Relationship Id="rId9" Type="http://schemas.openxmlformats.org/officeDocument/2006/relationships/image" Target="../media/image280.png"/><Relationship Id="rId14" Type="http://schemas.openxmlformats.org/officeDocument/2006/relationships/image" Target="../media/image38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0.png"/><Relationship Id="rId5" Type="http://schemas.openxmlformats.org/officeDocument/2006/relationships/image" Target="../media/image420.png"/><Relationship Id="rId4" Type="http://schemas.openxmlformats.org/officeDocument/2006/relationships/image" Target="../media/image41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440.png"/><Relationship Id="rId7" Type="http://schemas.openxmlformats.org/officeDocument/2006/relationships/image" Target="../media/image480.png"/><Relationship Id="rId12" Type="http://schemas.openxmlformats.org/officeDocument/2006/relationships/image" Target="../media/image5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0.png"/><Relationship Id="rId11" Type="http://schemas.openxmlformats.org/officeDocument/2006/relationships/image" Target="../media/image52.png"/><Relationship Id="rId5" Type="http://schemas.openxmlformats.org/officeDocument/2006/relationships/image" Target="../media/image460.png"/><Relationship Id="rId10" Type="http://schemas.openxmlformats.org/officeDocument/2006/relationships/image" Target="../media/image51.png"/><Relationship Id="rId4" Type="http://schemas.openxmlformats.org/officeDocument/2006/relationships/image" Target="../media/image450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7.png"/><Relationship Id="rId18" Type="http://schemas.openxmlformats.org/officeDocument/2006/relationships/image" Target="../media/image81.png"/><Relationship Id="rId3" Type="http://schemas.openxmlformats.org/officeDocument/2006/relationships/image" Target="../media/image390.png"/><Relationship Id="rId21" Type="http://schemas.openxmlformats.org/officeDocument/2006/relationships/image" Target="../media/image87.png"/><Relationship Id="rId7" Type="http://schemas.openxmlformats.org/officeDocument/2006/relationships/image" Target="../media/image59.png"/><Relationship Id="rId12" Type="http://schemas.openxmlformats.org/officeDocument/2006/relationships/image" Target="../media/image65.png"/><Relationship Id="rId17" Type="http://schemas.openxmlformats.org/officeDocument/2006/relationships/image" Target="../media/image76.png"/><Relationship Id="rId2" Type="http://schemas.openxmlformats.org/officeDocument/2006/relationships/image" Target="../media/image6.jpeg"/><Relationship Id="rId16" Type="http://schemas.openxmlformats.org/officeDocument/2006/relationships/image" Target="../media/image72.png"/><Relationship Id="rId20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4.png"/><Relationship Id="rId5" Type="http://schemas.openxmlformats.org/officeDocument/2006/relationships/image" Target="../media/image57.png"/><Relationship Id="rId15" Type="http://schemas.openxmlformats.org/officeDocument/2006/relationships/image" Target="../media/image70.png"/><Relationship Id="rId10" Type="http://schemas.openxmlformats.org/officeDocument/2006/relationships/image" Target="../media/image62.png"/><Relationship Id="rId19" Type="http://schemas.openxmlformats.org/officeDocument/2006/relationships/image" Target="../media/image84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9.png"/><Relationship Id="rId22" Type="http://schemas.openxmlformats.org/officeDocument/2006/relationships/image" Target="../media/image8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2" Type="http://schemas.openxmlformats.org/officeDocument/2006/relationships/image" Target="../media/image6.jpeg"/><Relationship Id="rId16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5" Type="http://schemas.openxmlformats.org/officeDocument/2006/relationships/image" Target="../media/image101.png"/><Relationship Id="rId10" Type="http://schemas.openxmlformats.org/officeDocument/2006/relationships/image" Target="../media/image9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390.png"/><Relationship Id="rId4" Type="http://schemas.openxmlformats.org/officeDocument/2006/relationships/image" Target="../media/image10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8120DA-D292-61EF-AFCF-5BF67E648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4B74850-D493-4418-4DD5-C1B3C6F4E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vers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1A775-2018-A6C3-D2D4-0A80DE6CD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Autofit/>
          </a:bodyPr>
          <a:lstStyle/>
          <a:p>
            <a:r>
              <a:rPr lang="en-IN" sz="1800" dirty="0">
                <a:solidFill>
                  <a:srgbClr val="C00000"/>
                </a:solidFill>
              </a:rPr>
              <a:t>TOPIC 2</a:t>
            </a:r>
            <a:br>
              <a:rPr lang="en-IN" sz="1800" dirty="0">
                <a:solidFill>
                  <a:srgbClr val="C00000"/>
                </a:solidFill>
              </a:rPr>
            </a:br>
            <a:br>
              <a:rPr lang="en-IN" sz="5400" dirty="0">
                <a:solidFill>
                  <a:srgbClr val="0070C0"/>
                </a:solidFill>
              </a:rPr>
            </a:br>
            <a:r>
              <a:rPr lang="en-IN" sz="5400" dirty="0"/>
              <a:t>The </a:t>
            </a:r>
            <a:r>
              <a:rPr lang="en-IN" sz="5400" dirty="0">
                <a:solidFill>
                  <a:srgbClr val="0070C0"/>
                </a:solidFill>
                <a:latin typeface="Segoe Script" panose="030B0504020000000003" pitchFamily="66" charset="0"/>
              </a:rPr>
              <a:t>Expected Utility</a:t>
            </a:r>
            <a:r>
              <a:rPr lang="en-IN" sz="5400" dirty="0"/>
              <a:t> Theory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C13D2-4D07-7055-96C7-6ED5D32E4D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Class </a:t>
            </a:r>
            <a:r>
              <a:rPr lang="en-IN" b="1" dirty="0">
                <a:solidFill>
                  <a:srgbClr val="C00000"/>
                </a:solidFill>
              </a:rPr>
              <a:t>7a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B5D4DCF-5995-6CC2-D97B-195F4B052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17A48C6-6499-180D-B897-86C26AD11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658528" cy="30919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6BAD96-1BA6-0E27-EF59-C1EB43484E03}"/>
              </a:ext>
            </a:extLst>
          </p:cNvPr>
          <p:cNvSpPr txBox="1"/>
          <p:nvPr/>
        </p:nvSpPr>
        <p:spPr>
          <a:xfrm>
            <a:off x="387815" y="3645642"/>
            <a:ext cx="4050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SECTION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The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Single-Person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 Decision Problem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E9814A-BBF3-AA6C-E52B-8045FCE1F7F4}"/>
              </a:ext>
            </a:extLst>
          </p:cNvPr>
          <p:cNvSpPr txBox="1"/>
          <p:nvPr/>
        </p:nvSpPr>
        <p:spPr>
          <a:xfrm>
            <a:off x="387815" y="4381629"/>
            <a:ext cx="4050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TOPIC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The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Rational Choice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 Paradigm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E558FA-B524-4677-0421-12E6AAE0D785}"/>
              </a:ext>
            </a:extLst>
          </p:cNvPr>
          <p:cNvSpPr txBox="1"/>
          <p:nvPr/>
        </p:nvSpPr>
        <p:spPr>
          <a:xfrm>
            <a:off x="7753875" y="4545962"/>
            <a:ext cx="4290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Decision-making under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Script" panose="030B0504020000000003" pitchFamily="66" charset="0"/>
              </a:rPr>
              <a:t>uncertainty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FB2DA9-7105-87DF-B210-53B0AA5D36E7}"/>
              </a:ext>
            </a:extLst>
          </p:cNvPr>
          <p:cNvSpPr txBox="1"/>
          <p:nvPr/>
        </p:nvSpPr>
        <p:spPr>
          <a:xfrm>
            <a:off x="6057063" y="4158342"/>
            <a:ext cx="1348033" cy="377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Segoe Script" panose="030B0504020000000003" pitchFamily="66" charset="0"/>
              </a:rPr>
              <a:t>= Payoff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5655C4-2489-6C2B-4BB2-81A334D96923}"/>
              </a:ext>
            </a:extLst>
          </p:cNvPr>
          <p:cNvSpPr txBox="1"/>
          <p:nvPr/>
        </p:nvSpPr>
        <p:spPr>
          <a:xfrm>
            <a:off x="387815" y="5204316"/>
            <a:ext cx="45612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Module 1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: Actions, Outcomes, &amp; Preferences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srgbClr val="7030A0"/>
                </a:solidFill>
                <a:latin typeface="Univers Condensed" panose="020F0302020204030204"/>
              </a:rPr>
              <a:t>Module 2</a:t>
            </a:r>
            <a:r>
              <a:rPr lang="en-IN" dirty="0">
                <a:latin typeface="Univers Condensed" panose="020F0302020204030204"/>
              </a:rPr>
              <a:t>: The Payoff Function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srgbClr val="7030A0"/>
                </a:solidFill>
                <a:latin typeface="Univers Condensed" panose="020F0302020204030204"/>
              </a:rPr>
              <a:t>Module 3</a:t>
            </a:r>
            <a:r>
              <a:rPr lang="en-IN" dirty="0">
                <a:latin typeface="Univers Condensed" panose="020F0302020204030204"/>
              </a:rPr>
              <a:t>: Continuous Action Spaces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Module 4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: Decision Trees</a:t>
            </a:r>
            <a:endParaRPr lang="en-IN" dirty="0">
              <a:latin typeface="Univers Condensed" panose="020F03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Modu</a:t>
            </a:r>
            <a:r>
              <a:rPr lang="en-IN" dirty="0">
                <a:solidFill>
                  <a:srgbClr val="7030A0"/>
                </a:solidFill>
                <a:latin typeface="Univers Condensed" panose="020F0302020204030204"/>
              </a:rPr>
              <a:t>le 5</a:t>
            </a:r>
            <a:r>
              <a:rPr lang="en-IN" dirty="0">
                <a:latin typeface="Univers Condensed" panose="020F0302020204030204"/>
              </a:rPr>
              <a:t>: The Rational Player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Univers Condensed" panose="020F030202020403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A3A999-0C50-CDEE-9B45-2E5AE1698B38}"/>
              </a:ext>
            </a:extLst>
          </p:cNvPr>
          <p:cNvSpPr txBox="1"/>
          <p:nvPr/>
        </p:nvSpPr>
        <p:spPr>
          <a:xfrm>
            <a:off x="5327982" y="106461"/>
            <a:ext cx="3732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Payoff</a:t>
            </a:r>
            <a:r>
              <a:rPr lang="en-US" i="1" dirty="0"/>
              <a:t> associated with an </a:t>
            </a:r>
            <a:r>
              <a:rPr lang="en-US" b="1" dirty="0">
                <a:solidFill>
                  <a:srgbClr val="C00000"/>
                </a:solidFill>
              </a:rPr>
              <a:t>action</a:t>
            </a:r>
            <a:r>
              <a:rPr lang="en-US" i="1" dirty="0"/>
              <a:t> whose </a:t>
            </a:r>
            <a:r>
              <a:rPr lang="en-US" b="1" dirty="0">
                <a:solidFill>
                  <a:srgbClr val="00B050"/>
                </a:solidFill>
              </a:rPr>
              <a:t>outcome</a:t>
            </a:r>
            <a:r>
              <a:rPr lang="en-US" i="1" dirty="0"/>
              <a:t> is uncertain</a:t>
            </a:r>
          </a:p>
        </p:txBody>
      </p:sp>
      <p:pic>
        <p:nvPicPr>
          <p:cNvPr id="18" name="Picture 17" descr="A head with gears in it&#10;&#10;Description automatically generated">
            <a:extLst>
              <a:ext uri="{FF2B5EF4-FFF2-40B4-BE49-F238E27FC236}">
                <a16:creationId xmlns:a16="http://schemas.microsoft.com/office/drawing/2014/main" id="{F38F0AF2-9F60-4755-A9B4-7A178F5657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0723" y="3788925"/>
            <a:ext cx="733519" cy="73351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D4C3117-1A5E-532E-1BD6-2BE065C98D9C}"/>
              </a:ext>
            </a:extLst>
          </p:cNvPr>
          <p:cNvSpPr txBox="1"/>
          <p:nvPr/>
        </p:nvSpPr>
        <p:spPr>
          <a:xfrm>
            <a:off x="5289753" y="5204316"/>
            <a:ext cx="4212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Module 1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: Uncertain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Outcomes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 &amp; Lotteries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latin typeface="Univers Condensed" panose="020F0302020204030204"/>
              </a:rPr>
              <a:t>One </a:t>
            </a:r>
            <a:r>
              <a:rPr lang="en-IN" dirty="0">
                <a:solidFill>
                  <a:srgbClr val="C00000"/>
                </a:solidFill>
                <a:latin typeface="Univers Condensed" panose="020F0302020204030204"/>
              </a:rPr>
              <a:t>Action</a:t>
            </a:r>
            <a:r>
              <a:rPr lang="en-IN" dirty="0">
                <a:latin typeface="Univers Condensed" panose="020F0302020204030204"/>
              </a:rPr>
              <a:t> </a:t>
            </a:r>
            <a:r>
              <a:rPr lang="en-IN" dirty="0">
                <a:latin typeface="Univers Condensed" panose="020F0302020204030204"/>
                <a:sym typeface="Wingdings" panose="05000000000000000000" pitchFamily="2" charset="2"/>
              </a:rPr>
              <a:t> Multiple </a:t>
            </a:r>
            <a:r>
              <a:rPr lang="en-IN" dirty="0">
                <a:solidFill>
                  <a:srgbClr val="00B050"/>
                </a:solidFill>
                <a:latin typeface="Univers Condensed" panose="020F0302020204030204"/>
                <a:sym typeface="Wingdings" panose="05000000000000000000" pitchFamily="2" charset="2"/>
              </a:rPr>
              <a:t>Outcomes</a:t>
            </a:r>
            <a:endParaRPr lang="en-IN" dirty="0">
              <a:latin typeface="Univers Condensed" panose="020F0302020204030204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2D1E3A-EBE2-AE99-600B-C4F642F8C4BC}"/>
              </a:ext>
            </a:extLst>
          </p:cNvPr>
          <p:cNvSpPr txBox="1"/>
          <p:nvPr/>
        </p:nvSpPr>
        <p:spPr>
          <a:xfrm>
            <a:off x="6350777" y="864708"/>
            <a:ext cx="4578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Actions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Outcomes</a:t>
            </a:r>
            <a:r>
              <a:rPr lang="en-US" dirty="0"/>
              <a:t>, &amp; </a:t>
            </a:r>
            <a:r>
              <a:rPr lang="en-US" b="1" dirty="0">
                <a:solidFill>
                  <a:srgbClr val="0070C0"/>
                </a:solidFill>
              </a:rPr>
              <a:t>Payoffs </a:t>
            </a:r>
            <a:r>
              <a:rPr lang="en-US" dirty="0"/>
              <a:t>(</a:t>
            </a:r>
            <a:r>
              <a:rPr lang="en-US" i="1" dirty="0"/>
              <a:t>Ordinal</a:t>
            </a:r>
            <a:r>
              <a:rPr lang="en-US" dirty="0"/>
              <a:t>)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6EB997-7863-DDE3-F408-B26CE911539A}"/>
              </a:ext>
            </a:extLst>
          </p:cNvPr>
          <p:cNvSpPr txBox="1"/>
          <p:nvPr/>
        </p:nvSpPr>
        <p:spPr>
          <a:xfrm>
            <a:off x="6699570" y="1270224"/>
            <a:ext cx="367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Likelihood of each </a:t>
            </a:r>
            <a:r>
              <a:rPr lang="en-US" b="1" dirty="0">
                <a:solidFill>
                  <a:srgbClr val="00B050"/>
                </a:solidFill>
              </a:rPr>
              <a:t>outcome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98CBB3-A98D-B598-07A6-754D3C99CDE8}"/>
              </a:ext>
            </a:extLst>
          </p:cNvPr>
          <p:cNvSpPr txBox="1"/>
          <p:nvPr/>
        </p:nvSpPr>
        <p:spPr>
          <a:xfrm>
            <a:off x="6699570" y="1675740"/>
            <a:ext cx="367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Intensity of </a:t>
            </a:r>
            <a:r>
              <a:rPr lang="en-US" b="1" dirty="0">
                <a:solidFill>
                  <a:srgbClr val="0070C0"/>
                </a:solidFill>
              </a:rPr>
              <a:t>Preferences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9129E78-6AC9-30B9-C403-8FBA86F6E7D8}"/>
              </a:ext>
            </a:extLst>
          </p:cNvPr>
          <p:cNvCxnSpPr>
            <a:cxnSpLocks/>
          </p:cNvCxnSpPr>
          <p:nvPr/>
        </p:nvCxnSpPr>
        <p:spPr>
          <a:xfrm>
            <a:off x="5752162" y="893386"/>
            <a:ext cx="0" cy="6813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495211D-CACA-4966-5F30-C8887AE33971}"/>
              </a:ext>
            </a:extLst>
          </p:cNvPr>
          <p:cNvCxnSpPr>
            <a:cxnSpLocks/>
          </p:cNvCxnSpPr>
          <p:nvPr/>
        </p:nvCxnSpPr>
        <p:spPr>
          <a:xfrm>
            <a:off x="5738643" y="1570928"/>
            <a:ext cx="9125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30B5443-63BC-9FEE-F1E7-9CBDB56CAFDF}"/>
              </a:ext>
            </a:extLst>
          </p:cNvPr>
          <p:cNvSpPr txBox="1"/>
          <p:nvPr/>
        </p:nvSpPr>
        <p:spPr>
          <a:xfrm>
            <a:off x="9184602" y="5816503"/>
            <a:ext cx="2301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srgbClr val="7030A0"/>
                </a:solidFill>
                <a:latin typeface="Univers Condensed" panose="020F0302020204030204"/>
              </a:rPr>
              <a:t>Module 3</a:t>
            </a:r>
            <a:r>
              <a:rPr lang="en-IN" dirty="0">
                <a:latin typeface="Univers Condensed" panose="020F0302020204030204"/>
              </a:rPr>
              <a:t>: Continuous Outcome Spaces</a:t>
            </a:r>
            <a:endParaRPr lang="en-IN" b="1" dirty="0">
              <a:solidFill>
                <a:srgbClr val="0070C0"/>
              </a:solidFill>
              <a:latin typeface="Univers Condensed" panose="020F0302020204030204"/>
            </a:endParaRPr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3BC36124-5D06-0933-D9A6-D5310506C2C4}"/>
              </a:ext>
            </a:extLst>
          </p:cNvPr>
          <p:cNvSpPr/>
          <p:nvPr/>
        </p:nvSpPr>
        <p:spPr>
          <a:xfrm>
            <a:off x="10020694" y="1234040"/>
            <a:ext cx="276375" cy="81103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A272D5-F944-7423-BA53-89B3E8FF4BC8}"/>
              </a:ext>
            </a:extLst>
          </p:cNvPr>
          <p:cNvSpPr txBox="1"/>
          <p:nvPr/>
        </p:nvSpPr>
        <p:spPr>
          <a:xfrm>
            <a:off x="5327982" y="5957166"/>
            <a:ext cx="269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Module 2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: Expected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Univers Condensed" panose="020F0302020204030204"/>
              </a:rPr>
              <a:t>Payoff</a:t>
            </a:r>
            <a:endParaRPr lang="en-IN" dirty="0">
              <a:solidFill>
                <a:srgbClr val="0070C0"/>
              </a:solidFill>
              <a:latin typeface="Univers Condensed" panose="020F0302020204030204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49116EA-7753-4602-0391-B34E9C5400EF}"/>
              </a:ext>
            </a:extLst>
          </p:cNvPr>
          <p:cNvCxnSpPr>
            <a:cxnSpLocks/>
          </p:cNvCxnSpPr>
          <p:nvPr/>
        </p:nvCxnSpPr>
        <p:spPr>
          <a:xfrm>
            <a:off x="8147676" y="6139668"/>
            <a:ext cx="9125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7533743-F3AC-7E08-DB0E-492320E5612D}"/>
              </a:ext>
            </a:extLst>
          </p:cNvPr>
          <p:cNvSpPr txBox="1"/>
          <p:nvPr/>
        </p:nvSpPr>
        <p:spPr>
          <a:xfrm>
            <a:off x="10468498" y="1314259"/>
            <a:ext cx="1211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latin typeface="Univers Condensed" panose="020F0302020204030204"/>
              </a:rPr>
              <a:t>Continuous Functions</a:t>
            </a:r>
            <a:endParaRPr lang="en-IN" b="1" dirty="0">
              <a:solidFill>
                <a:srgbClr val="0070C0"/>
              </a:solidFill>
              <a:latin typeface="Univers Condensed" panose="020F0302020204030204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F576229-6204-FE22-784A-2F366648DEA3}"/>
              </a:ext>
            </a:extLst>
          </p:cNvPr>
          <p:cNvSpPr/>
          <p:nvPr/>
        </p:nvSpPr>
        <p:spPr>
          <a:xfrm>
            <a:off x="9982986" y="2045616"/>
            <a:ext cx="1093509" cy="1027529"/>
          </a:xfrm>
          <a:custGeom>
            <a:avLst/>
            <a:gdLst>
              <a:gd name="csX0" fmla="*/ 1093509 w 1093509"/>
              <a:gd name="csY0" fmla="*/ 0 h 1027529"/>
              <a:gd name="csX1" fmla="*/ 1046375 w 1093509"/>
              <a:gd name="csY1" fmla="*/ 141403 h 1027529"/>
              <a:gd name="csX2" fmla="*/ 1027521 w 1093509"/>
              <a:gd name="csY2" fmla="*/ 216817 h 1027529"/>
              <a:gd name="csX3" fmla="*/ 999241 w 1093509"/>
              <a:gd name="csY3" fmla="*/ 273378 h 1027529"/>
              <a:gd name="csX4" fmla="*/ 970960 w 1093509"/>
              <a:gd name="csY4" fmla="*/ 358219 h 1027529"/>
              <a:gd name="csX5" fmla="*/ 857839 w 1093509"/>
              <a:gd name="csY5" fmla="*/ 546755 h 1027529"/>
              <a:gd name="csX6" fmla="*/ 735290 w 1093509"/>
              <a:gd name="csY6" fmla="*/ 707011 h 1027529"/>
              <a:gd name="csX7" fmla="*/ 688156 w 1093509"/>
              <a:gd name="csY7" fmla="*/ 744718 h 1027529"/>
              <a:gd name="csX8" fmla="*/ 593888 w 1093509"/>
              <a:gd name="csY8" fmla="*/ 829559 h 1027529"/>
              <a:gd name="csX9" fmla="*/ 518474 w 1093509"/>
              <a:gd name="csY9" fmla="*/ 857840 h 1027529"/>
              <a:gd name="csX10" fmla="*/ 386499 w 1093509"/>
              <a:gd name="csY10" fmla="*/ 923827 h 1027529"/>
              <a:gd name="csX11" fmla="*/ 273377 w 1093509"/>
              <a:gd name="csY11" fmla="*/ 952108 h 1027529"/>
              <a:gd name="csX12" fmla="*/ 226243 w 1093509"/>
              <a:gd name="csY12" fmla="*/ 970961 h 1027529"/>
              <a:gd name="csX13" fmla="*/ 188536 w 1093509"/>
              <a:gd name="csY13" fmla="*/ 980388 h 1027529"/>
              <a:gd name="csX14" fmla="*/ 103694 w 1093509"/>
              <a:gd name="csY14" fmla="*/ 999242 h 1027529"/>
              <a:gd name="csX15" fmla="*/ 56560 w 1093509"/>
              <a:gd name="csY15" fmla="*/ 1018095 h 1027529"/>
              <a:gd name="csX16" fmla="*/ 0 w 1093509"/>
              <a:gd name="csY16" fmla="*/ 1027522 h 10275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093509" h="1027529">
                <a:moveTo>
                  <a:pt x="1093509" y="0"/>
                </a:moveTo>
                <a:cubicBezTo>
                  <a:pt x="1073821" y="118125"/>
                  <a:pt x="1100220" y="-11159"/>
                  <a:pt x="1046375" y="141403"/>
                </a:cubicBezTo>
                <a:cubicBezTo>
                  <a:pt x="1037751" y="165837"/>
                  <a:pt x="1036236" y="192415"/>
                  <a:pt x="1027521" y="216817"/>
                </a:cubicBezTo>
                <a:cubicBezTo>
                  <a:pt x="1020431" y="236668"/>
                  <a:pt x="1007070" y="253807"/>
                  <a:pt x="999241" y="273378"/>
                </a:cubicBezTo>
                <a:cubicBezTo>
                  <a:pt x="988170" y="301056"/>
                  <a:pt x="983860" y="331344"/>
                  <a:pt x="970960" y="358219"/>
                </a:cubicBezTo>
                <a:cubicBezTo>
                  <a:pt x="897273" y="511732"/>
                  <a:pt x="915593" y="465899"/>
                  <a:pt x="857839" y="546755"/>
                </a:cubicBezTo>
                <a:cubicBezTo>
                  <a:pt x="814313" y="607692"/>
                  <a:pt x="787300" y="655001"/>
                  <a:pt x="735290" y="707011"/>
                </a:cubicBezTo>
                <a:cubicBezTo>
                  <a:pt x="721063" y="721238"/>
                  <a:pt x="703111" y="731258"/>
                  <a:pt x="688156" y="744718"/>
                </a:cubicBezTo>
                <a:cubicBezTo>
                  <a:pt x="661336" y="768856"/>
                  <a:pt x="627094" y="811678"/>
                  <a:pt x="593888" y="829559"/>
                </a:cubicBezTo>
                <a:cubicBezTo>
                  <a:pt x="570250" y="842287"/>
                  <a:pt x="542803" y="846487"/>
                  <a:pt x="518474" y="857840"/>
                </a:cubicBezTo>
                <a:cubicBezTo>
                  <a:pt x="446395" y="891477"/>
                  <a:pt x="461898" y="900627"/>
                  <a:pt x="386499" y="923827"/>
                </a:cubicBezTo>
                <a:cubicBezTo>
                  <a:pt x="157239" y="994369"/>
                  <a:pt x="507253" y="867063"/>
                  <a:pt x="273377" y="952108"/>
                </a:cubicBezTo>
                <a:cubicBezTo>
                  <a:pt x="257474" y="957891"/>
                  <a:pt x="242296" y="965610"/>
                  <a:pt x="226243" y="970961"/>
                </a:cubicBezTo>
                <a:cubicBezTo>
                  <a:pt x="213952" y="975058"/>
                  <a:pt x="201160" y="977475"/>
                  <a:pt x="188536" y="980388"/>
                </a:cubicBezTo>
                <a:cubicBezTo>
                  <a:pt x="160307" y="986902"/>
                  <a:pt x="131550" y="991283"/>
                  <a:pt x="103694" y="999242"/>
                </a:cubicBezTo>
                <a:cubicBezTo>
                  <a:pt x="87424" y="1003891"/>
                  <a:pt x="72768" y="1013233"/>
                  <a:pt x="56560" y="1018095"/>
                </a:cubicBezTo>
                <a:cubicBezTo>
                  <a:pt x="23082" y="1028138"/>
                  <a:pt x="22166" y="1027522"/>
                  <a:pt x="0" y="1027522"/>
                </a:cubicBezTo>
              </a:path>
            </a:pathLst>
          </a:custGeom>
          <a:ln>
            <a:tailEnd type="stealth" w="lg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265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1" grpId="0"/>
      <p:bldP spid="22" grpId="0"/>
      <p:bldP spid="23" grpId="0"/>
      <p:bldP spid="26" grpId="0"/>
      <p:bldP spid="33" grpId="0"/>
      <p:bldP spid="35" grpId="0" animBg="1"/>
      <p:bldP spid="6" grpId="0"/>
      <p:bldP spid="12" grpId="0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91E82-BADF-DC6C-0294-F3AC11B7D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00A074-AC22-9683-BB5F-39DB9BF1FB11}"/>
                  </a:ext>
                </a:extLst>
              </p:cNvPr>
              <p:cNvSpPr txBox="1"/>
              <p:nvPr/>
            </p:nvSpPr>
            <p:spPr>
              <a:xfrm>
                <a:off x="572492" y="2071316"/>
                <a:ext cx="11018520" cy="2224459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𝑢</m:t>
                    </m:r>
                    <m:d>
                      <m:d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 the player’s payoff function over outcomes in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,…, </m:t>
                        </m:r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and let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, …, </m:t>
                        </m:r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 a lottery over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func>
                      <m:func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0" lang="en-US" sz="24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 Then we define the player’s </a:t>
                </a: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expected payoff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from the lottery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𝑢</m:t>
                          </m:r>
                          <m:d>
                            <m:d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</m:d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|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𝑝</m:t>
                          </m:r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𝑘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𝑢</m:t>
                          </m:r>
                          <m:d>
                            <m:d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𝑢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2</m:t>
                          </m:r>
                        </m:sub>
                      </m:sSub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𝑢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+…+</m:t>
                      </m:r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</m:sub>
                      </m:sSub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𝑢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00A074-AC22-9683-BB5F-39DB9BF1F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92" y="2071316"/>
                <a:ext cx="11018520" cy="2224459"/>
              </a:xfrm>
              <a:prstGeom prst="rect">
                <a:avLst/>
              </a:prstGeom>
              <a:blipFill>
                <a:blip r:embed="rId2"/>
                <a:stretch>
                  <a:fillRect l="-885" t="-3836" r="-7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0" name="Picture 2" descr="DEFINITION Text Written on Red Grungy Round Stamp Stock Illustration ...">
            <a:extLst>
              <a:ext uri="{FF2B5EF4-FFF2-40B4-BE49-F238E27FC236}">
                <a16:creationId xmlns:a16="http://schemas.microsoft.com/office/drawing/2014/main" id="{B0751BF1-C077-ED78-6C2B-8559AD91A5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79" b="5077"/>
          <a:stretch/>
        </p:blipFill>
        <p:spPr bwMode="auto">
          <a:xfrm>
            <a:off x="10728696" y="144196"/>
            <a:ext cx="1286911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33274D-0953-25EB-9977-C9059E38A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Expected </a:t>
            </a:r>
            <a:r>
              <a:rPr lang="en-US" sz="5400" dirty="0">
                <a:solidFill>
                  <a:srgbClr val="0070C0"/>
                </a:solidFill>
              </a:rPr>
              <a:t>Payoff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38E8168-3E70-BEFA-D65C-B3A4F8573E5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2491" y="4538291"/>
              <a:ext cx="5152034" cy="1828800"/>
            </p:xfrm>
            <a:graphic>
              <a:graphicData uri="http://schemas.openxmlformats.org/drawingml/2006/table">
                <a:tbl>
                  <a:tblPr firstRow="1" bandCol="1">
                    <a:tableStyleId>{D27102A9-8310-4765-A935-A1911B00CA55}</a:tableStyleId>
                  </a:tblPr>
                  <a:tblGrid>
                    <a:gridCol w="1371724">
                      <a:extLst>
                        <a:ext uri="{9D8B030D-6E8A-4147-A177-3AD203B41FA5}">
                          <a16:colId xmlns:a16="http://schemas.microsoft.com/office/drawing/2014/main" val="109060319"/>
                        </a:ext>
                      </a:extLst>
                    </a:gridCol>
                    <a:gridCol w="3780310">
                      <a:extLst>
                        <a:ext uri="{9D8B030D-6E8A-4147-A177-3AD203B41FA5}">
                          <a16:colId xmlns:a16="http://schemas.microsoft.com/office/drawing/2014/main" val="965449992"/>
                        </a:ext>
                      </a:extLst>
                    </a:gridCol>
                  </a:tblGrid>
                  <a:tr h="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Notation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771875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Set of outcomes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882914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,…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Outcomes (Elements of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2673718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Payoff from outcome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127789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Probability that outcome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occurs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71456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38E8168-3E70-BEFA-D65C-B3A4F8573E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7390645"/>
                  </p:ext>
                </p:extLst>
              </p:nvPr>
            </p:nvGraphicFramePr>
            <p:xfrm>
              <a:off x="572491" y="4538291"/>
              <a:ext cx="5152034" cy="1828800"/>
            </p:xfrm>
            <a:graphic>
              <a:graphicData uri="http://schemas.openxmlformats.org/drawingml/2006/table">
                <a:tbl>
                  <a:tblPr firstRow="1" bandCol="1">
                    <a:tableStyleId>{D27102A9-8310-4765-A935-A1911B00CA55}</a:tableStyleId>
                  </a:tblPr>
                  <a:tblGrid>
                    <a:gridCol w="1371724">
                      <a:extLst>
                        <a:ext uri="{9D8B030D-6E8A-4147-A177-3AD203B41FA5}">
                          <a16:colId xmlns:a16="http://schemas.microsoft.com/office/drawing/2014/main" val="109060319"/>
                        </a:ext>
                      </a:extLst>
                    </a:gridCol>
                    <a:gridCol w="3780310">
                      <a:extLst>
                        <a:ext uri="{9D8B030D-6E8A-4147-A177-3AD203B41FA5}">
                          <a16:colId xmlns:a16="http://schemas.microsoft.com/office/drawing/2014/main" val="965449992"/>
                        </a:ext>
                      </a:extLst>
                    </a:gridCol>
                  </a:tblGrid>
                  <a:tr h="36576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Notation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77187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106667" r="-275221" b="-3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Set of outcomes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88291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203279" r="-27522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393" t="-203279" r="-161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673718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308333" r="-275221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393" t="-308333" r="-161" b="-1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127789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408333" r="-275221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393" t="-408333" r="-161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71456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4AF6B99-6AEF-8127-9A03-977898C65315}"/>
              </a:ext>
            </a:extLst>
          </p:cNvPr>
          <p:cNvSpPr txBox="1"/>
          <p:nvPr/>
        </p:nvSpPr>
        <p:spPr>
          <a:xfrm>
            <a:off x="3506771" y="1767297"/>
            <a:ext cx="134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Segoe Script" panose="030B0504020000000003" pitchFamily="66" charset="0"/>
              </a:rPr>
              <a:t>cardinal</a:t>
            </a:r>
            <a:endParaRPr lang="en-US" dirty="0">
              <a:latin typeface="Segoe Script" panose="030B0504020000000003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4CD824-7FCE-0204-F7FF-E392C48D0BA3}"/>
                  </a:ext>
                </a:extLst>
              </p:cNvPr>
              <p:cNvSpPr txBox="1"/>
              <p:nvPr/>
            </p:nvSpPr>
            <p:spPr>
              <a:xfrm>
                <a:off x="2007910" y="3988477"/>
                <a:ext cx="6727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4CD824-7FCE-0204-F7FF-E392C48D0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910" y="3988477"/>
                <a:ext cx="672748" cy="369332"/>
              </a:xfrm>
              <a:prstGeom prst="rect">
                <a:avLst/>
              </a:prstGeom>
              <a:blipFill>
                <a:blip r:embed="rId5"/>
                <a:stretch>
                  <a:fillRect l="-63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8E4497-6672-0A71-C324-B83831B9FFE8}"/>
              </a:ext>
            </a:extLst>
          </p:cNvPr>
          <p:cNvSpPr/>
          <p:nvPr/>
        </p:nvSpPr>
        <p:spPr>
          <a:xfrm>
            <a:off x="195834" y="154211"/>
            <a:ext cx="1115568" cy="32004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adley Hand ITC" panose="03070402050302030203" pitchFamily="66" charset="0"/>
                <a:ea typeface="+mn-ea"/>
                <a:cs typeface="+mn-cs"/>
              </a:rPr>
              <a:t>REVIEW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F403B6-3C4E-37F0-BC22-1F3615674312}"/>
              </a:ext>
            </a:extLst>
          </p:cNvPr>
          <p:cNvSpPr txBox="1"/>
          <p:nvPr/>
        </p:nvSpPr>
        <p:spPr>
          <a:xfrm>
            <a:off x="8253953" y="5447007"/>
            <a:ext cx="202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Segoe Script" panose="030B0504020000000003" pitchFamily="66" charset="0"/>
              </a:rPr>
              <a:t>Outcome</a:t>
            </a:r>
            <a:r>
              <a:rPr lang="en-US" dirty="0">
                <a:latin typeface="Segoe Script" panose="030B0504020000000003" pitchFamily="66" charset="0"/>
              </a:rPr>
              <a:t> Space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073F7E-AA1A-795F-4161-3EE1B3A72D9B}"/>
              </a:ext>
            </a:extLst>
          </p:cNvPr>
          <p:cNvSpPr txBox="1"/>
          <p:nvPr/>
        </p:nvSpPr>
        <p:spPr>
          <a:xfrm>
            <a:off x="7371761" y="5997759"/>
            <a:ext cx="1282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egoe Script" panose="030B0504020000000003" pitchFamily="66" charset="0"/>
              </a:rPr>
              <a:t>Discrete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565498-1485-1E33-FAAE-7E7D6A710B32}"/>
              </a:ext>
            </a:extLst>
          </p:cNvPr>
          <p:cNvSpPr txBox="1"/>
          <p:nvPr/>
        </p:nvSpPr>
        <p:spPr>
          <a:xfrm>
            <a:off x="9598058" y="5997759"/>
            <a:ext cx="1638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  <a:latin typeface="Segoe Script" panose="030B0504020000000003" pitchFamily="66" charset="0"/>
              </a:rPr>
              <a:t>Continuous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616A385-C644-7565-C504-FA3EEEC696D4}"/>
              </a:ext>
            </a:extLst>
          </p:cNvPr>
          <p:cNvSpPr/>
          <p:nvPr/>
        </p:nvSpPr>
        <p:spPr>
          <a:xfrm>
            <a:off x="8804635" y="6106882"/>
            <a:ext cx="575035" cy="150829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FC059CB-C5D7-2067-917D-2FA07FC8B5CD}"/>
              </a:ext>
            </a:extLst>
          </p:cNvPr>
          <p:cNvSpPr/>
          <p:nvPr/>
        </p:nvSpPr>
        <p:spPr>
          <a:xfrm>
            <a:off x="6759019" y="4025245"/>
            <a:ext cx="1687397" cy="1366887"/>
          </a:xfrm>
          <a:custGeom>
            <a:avLst/>
            <a:gdLst>
              <a:gd name="csX0" fmla="*/ 0 w 1687397"/>
              <a:gd name="csY0" fmla="*/ 0 h 1366887"/>
              <a:gd name="csX1" fmla="*/ 84841 w 1687397"/>
              <a:gd name="csY1" fmla="*/ 179110 h 1366887"/>
              <a:gd name="csX2" fmla="*/ 131975 w 1687397"/>
              <a:gd name="csY2" fmla="*/ 245097 h 1366887"/>
              <a:gd name="csX3" fmla="*/ 179109 w 1687397"/>
              <a:gd name="csY3" fmla="*/ 320512 h 1366887"/>
              <a:gd name="csX4" fmla="*/ 254523 w 1687397"/>
              <a:gd name="csY4" fmla="*/ 386499 h 1366887"/>
              <a:gd name="csX5" fmla="*/ 339365 w 1687397"/>
              <a:gd name="csY5" fmla="*/ 471341 h 1366887"/>
              <a:gd name="csX6" fmla="*/ 405352 w 1687397"/>
              <a:gd name="csY6" fmla="*/ 546755 h 1366887"/>
              <a:gd name="csX7" fmla="*/ 593888 w 1687397"/>
              <a:gd name="csY7" fmla="*/ 707011 h 1366887"/>
              <a:gd name="csX8" fmla="*/ 744717 w 1687397"/>
              <a:gd name="csY8" fmla="*/ 838986 h 1366887"/>
              <a:gd name="csX9" fmla="*/ 791851 w 1687397"/>
              <a:gd name="csY9" fmla="*/ 886120 h 1366887"/>
              <a:gd name="csX10" fmla="*/ 867266 w 1687397"/>
              <a:gd name="csY10" fmla="*/ 933254 h 1366887"/>
              <a:gd name="csX11" fmla="*/ 999241 w 1687397"/>
              <a:gd name="csY11" fmla="*/ 1027522 h 1366887"/>
              <a:gd name="csX12" fmla="*/ 1074655 w 1687397"/>
              <a:gd name="csY12" fmla="*/ 1065229 h 1366887"/>
              <a:gd name="csX13" fmla="*/ 1187777 w 1687397"/>
              <a:gd name="csY13" fmla="*/ 1112363 h 1366887"/>
              <a:gd name="csX14" fmla="*/ 1234911 w 1687397"/>
              <a:gd name="csY14" fmla="*/ 1140644 h 1366887"/>
              <a:gd name="csX15" fmla="*/ 1300899 w 1687397"/>
              <a:gd name="csY15" fmla="*/ 1168924 h 1366887"/>
              <a:gd name="csX16" fmla="*/ 1376313 w 1687397"/>
              <a:gd name="csY16" fmla="*/ 1206631 h 1366887"/>
              <a:gd name="csX17" fmla="*/ 1423447 w 1687397"/>
              <a:gd name="csY17" fmla="*/ 1225485 h 1366887"/>
              <a:gd name="csX18" fmla="*/ 1470581 w 1687397"/>
              <a:gd name="csY18" fmla="*/ 1263192 h 1366887"/>
              <a:gd name="csX19" fmla="*/ 1517715 w 1687397"/>
              <a:gd name="csY19" fmla="*/ 1282046 h 1366887"/>
              <a:gd name="csX20" fmla="*/ 1640263 w 1687397"/>
              <a:gd name="csY20" fmla="*/ 1348033 h 1366887"/>
              <a:gd name="csX21" fmla="*/ 1687397 w 1687397"/>
              <a:gd name="csY21" fmla="*/ 1366887 h 1366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87397" h="1366887">
                <a:moveTo>
                  <a:pt x="0" y="0"/>
                </a:moveTo>
                <a:cubicBezTo>
                  <a:pt x="23317" y="58294"/>
                  <a:pt x="51404" y="132299"/>
                  <a:pt x="84841" y="179110"/>
                </a:cubicBezTo>
                <a:cubicBezTo>
                  <a:pt x="100552" y="201106"/>
                  <a:pt x="116981" y="222606"/>
                  <a:pt x="131975" y="245097"/>
                </a:cubicBezTo>
                <a:cubicBezTo>
                  <a:pt x="148419" y="269763"/>
                  <a:pt x="159694" y="298110"/>
                  <a:pt x="179109" y="320512"/>
                </a:cubicBezTo>
                <a:cubicBezTo>
                  <a:pt x="200985" y="345754"/>
                  <a:pt x="230199" y="363606"/>
                  <a:pt x="254523" y="386499"/>
                </a:cubicBezTo>
                <a:cubicBezTo>
                  <a:pt x="283647" y="413910"/>
                  <a:pt x="311954" y="442217"/>
                  <a:pt x="339365" y="471341"/>
                </a:cubicBezTo>
                <a:cubicBezTo>
                  <a:pt x="362258" y="495665"/>
                  <a:pt x="380843" y="524061"/>
                  <a:pt x="405352" y="546755"/>
                </a:cubicBezTo>
                <a:cubicBezTo>
                  <a:pt x="465873" y="602793"/>
                  <a:pt x="535565" y="648688"/>
                  <a:pt x="593888" y="707011"/>
                </a:cubicBezTo>
                <a:cubicBezTo>
                  <a:pt x="801976" y="915099"/>
                  <a:pt x="575804" y="698226"/>
                  <a:pt x="744717" y="838986"/>
                </a:cubicBezTo>
                <a:cubicBezTo>
                  <a:pt x="761786" y="853210"/>
                  <a:pt x="774240" y="872573"/>
                  <a:pt x="791851" y="886120"/>
                </a:cubicBezTo>
                <a:cubicBezTo>
                  <a:pt x="815348" y="904194"/>
                  <a:pt x="843361" y="915723"/>
                  <a:pt x="867266" y="933254"/>
                </a:cubicBezTo>
                <a:cubicBezTo>
                  <a:pt x="985397" y="1019884"/>
                  <a:pt x="879321" y="963565"/>
                  <a:pt x="999241" y="1027522"/>
                </a:cubicBezTo>
                <a:cubicBezTo>
                  <a:pt x="1024040" y="1040748"/>
                  <a:pt x="1049025" y="1053696"/>
                  <a:pt x="1074655" y="1065229"/>
                </a:cubicBezTo>
                <a:cubicBezTo>
                  <a:pt x="1111907" y="1081992"/>
                  <a:pt x="1152749" y="1091346"/>
                  <a:pt x="1187777" y="1112363"/>
                </a:cubicBezTo>
                <a:cubicBezTo>
                  <a:pt x="1203488" y="1121790"/>
                  <a:pt x="1218523" y="1132450"/>
                  <a:pt x="1234911" y="1140644"/>
                </a:cubicBezTo>
                <a:cubicBezTo>
                  <a:pt x="1256315" y="1151346"/>
                  <a:pt x="1279213" y="1158804"/>
                  <a:pt x="1300899" y="1168924"/>
                </a:cubicBezTo>
                <a:cubicBezTo>
                  <a:pt x="1326367" y="1180809"/>
                  <a:pt x="1350218" y="1196193"/>
                  <a:pt x="1376313" y="1206631"/>
                </a:cubicBezTo>
                <a:cubicBezTo>
                  <a:pt x="1392024" y="1212916"/>
                  <a:pt x="1408937" y="1216779"/>
                  <a:pt x="1423447" y="1225485"/>
                </a:cubicBezTo>
                <a:cubicBezTo>
                  <a:pt x="1440700" y="1235837"/>
                  <a:pt x="1453328" y="1252840"/>
                  <a:pt x="1470581" y="1263192"/>
                </a:cubicBezTo>
                <a:cubicBezTo>
                  <a:pt x="1485091" y="1271898"/>
                  <a:pt x="1502580" y="1274478"/>
                  <a:pt x="1517715" y="1282046"/>
                </a:cubicBezTo>
                <a:cubicBezTo>
                  <a:pt x="1579897" y="1313137"/>
                  <a:pt x="1521379" y="1318312"/>
                  <a:pt x="1640263" y="1348033"/>
                </a:cubicBezTo>
                <a:cubicBezTo>
                  <a:pt x="1682282" y="1358538"/>
                  <a:pt x="1668810" y="1348298"/>
                  <a:pt x="1687397" y="1366887"/>
                </a:cubicBezTo>
              </a:path>
            </a:pathLst>
          </a:custGeom>
          <a:ln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73E3D5-1183-DE41-D657-703671DB4298}"/>
              </a:ext>
            </a:extLst>
          </p:cNvPr>
          <p:cNvSpPr txBox="1"/>
          <p:nvPr/>
        </p:nvSpPr>
        <p:spPr>
          <a:xfrm>
            <a:off x="5122099" y="1459468"/>
            <a:ext cx="5781368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i="1" dirty="0"/>
              <a:t>…estimate of what the decision-maker gets on average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C08BC7-C75B-8261-45BC-2E3FAAA84E89}"/>
              </a:ext>
            </a:extLst>
          </p:cNvPr>
          <p:cNvSpPr txBox="1"/>
          <p:nvPr/>
        </p:nvSpPr>
        <p:spPr>
          <a:xfrm>
            <a:off x="7522590" y="4447273"/>
            <a:ext cx="1442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egoe Script" panose="030B0504020000000003" pitchFamily="66" charset="0"/>
              </a:rPr>
              <a:t>…modify?</a:t>
            </a:r>
          </a:p>
        </p:txBody>
      </p:sp>
    </p:spTree>
    <p:extLst>
      <p:ext uri="{BB962C8B-B14F-4D97-AF65-F5344CB8AC3E}">
        <p14:creationId xmlns:p14="http://schemas.microsoft.com/office/powerpoint/2010/main" val="805496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 animBg="1"/>
      <p:bldP spid="12" grpId="0" animBg="1"/>
      <p:bldP spid="13" grpId="0" animBg="1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B30308-CB48-40FB-C14D-418021909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5" name="Rectangle 154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 descr="A wireframe of lines and dots&#10;&#10;Description automatically generated">
            <a:extLst>
              <a:ext uri="{FF2B5EF4-FFF2-40B4-BE49-F238E27FC236}">
                <a16:creationId xmlns:a16="http://schemas.microsoft.com/office/drawing/2014/main" id="{7E1CBD58-C2FE-7606-BF8F-01A18B21B3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23333" r="-1" b="2900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56" name="Rectangle 155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7C143-D24B-2579-EAE4-77E256383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IN" sz="1800" dirty="0">
                <a:solidFill>
                  <a:srgbClr val="C00000"/>
                </a:solidFill>
              </a:rPr>
              <a:t>MODULE 3</a:t>
            </a:r>
            <a:r>
              <a:rPr lang="en-IN" sz="4800" dirty="0">
                <a:solidFill>
                  <a:srgbClr val="C00000"/>
                </a:solidFill>
              </a:rPr>
              <a:t> </a:t>
            </a:r>
            <a:r>
              <a:rPr lang="en-IN" sz="4800" dirty="0">
                <a:solidFill>
                  <a:srgbClr val="0070C0"/>
                </a:solidFill>
                <a:latin typeface="Segoe Script" panose="030B0504020000000003" pitchFamily="66" charset="0"/>
              </a:rPr>
              <a:t>Continuous</a:t>
            </a:r>
            <a:r>
              <a:rPr lang="en-IN" sz="4800" dirty="0"/>
              <a:t> </a:t>
            </a:r>
            <a:r>
              <a:rPr lang="en-IN" sz="4800" dirty="0">
                <a:solidFill>
                  <a:srgbClr val="00B050"/>
                </a:solidFill>
              </a:rPr>
              <a:t>Outcome</a:t>
            </a:r>
            <a:r>
              <a:rPr lang="en-IN" sz="4800" dirty="0"/>
              <a:t> Spaces</a:t>
            </a:r>
            <a:endParaRPr lang="en-US" sz="4800" dirty="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3AD9B63-23B4-2D77-5E46-1A2042072E02}"/>
              </a:ext>
            </a:extLst>
          </p:cNvPr>
          <p:cNvGrpSpPr/>
          <p:nvPr/>
        </p:nvGrpSpPr>
        <p:grpSpPr>
          <a:xfrm rot="492825">
            <a:off x="10327660" y="345713"/>
            <a:ext cx="1430031" cy="1702330"/>
            <a:chOff x="669036" y="2023164"/>
            <a:chExt cx="3371850" cy="3343275"/>
          </a:xfrm>
        </p:grpSpPr>
        <p:pic>
          <p:nvPicPr>
            <p:cNvPr id="5" name="Picture 4" descr="Orange Juice Bottle Cartoon Vector Illustration">
              <a:extLst>
                <a:ext uri="{FF2B5EF4-FFF2-40B4-BE49-F238E27FC236}">
                  <a16:creationId xmlns:a16="http://schemas.microsoft.com/office/drawing/2014/main" id="{0F5E645A-D8BD-77F5-3B3E-E9ACF4C4BF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67" r="22683"/>
            <a:stretch/>
          </p:blipFill>
          <p:spPr bwMode="auto">
            <a:xfrm>
              <a:off x="669036" y="2023164"/>
              <a:ext cx="3371850" cy="334327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D6FB57F-FC44-974E-FF24-CEBEDB96CEB0}"/>
                </a:ext>
              </a:extLst>
            </p:cNvPr>
            <p:cNvSpPr/>
            <p:nvPr/>
          </p:nvSpPr>
          <p:spPr>
            <a:xfrm>
              <a:off x="1710528" y="3584928"/>
              <a:ext cx="1402049" cy="872846"/>
            </a:xfrm>
            <a:prstGeom prst="roundRect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500 mL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2040931-79D1-5C3C-CDA7-751352F0D5AD}"/>
              </a:ext>
            </a:extLst>
          </p:cNvPr>
          <p:cNvSpPr txBox="1"/>
          <p:nvPr/>
        </p:nvSpPr>
        <p:spPr>
          <a:xfrm>
            <a:off x="7848284" y="4785631"/>
            <a:ext cx="1640457" cy="369332"/>
          </a:xfrm>
          <a:custGeom>
            <a:avLst/>
            <a:gdLst>
              <a:gd name="csX0" fmla="*/ 0 w 1640457"/>
              <a:gd name="csY0" fmla="*/ 0 h 369332"/>
              <a:gd name="csX1" fmla="*/ 579628 w 1640457"/>
              <a:gd name="csY1" fmla="*/ 0 h 369332"/>
              <a:gd name="csX2" fmla="*/ 1142852 w 1640457"/>
              <a:gd name="csY2" fmla="*/ 0 h 369332"/>
              <a:gd name="csX3" fmla="*/ 1640457 w 1640457"/>
              <a:gd name="csY3" fmla="*/ 0 h 369332"/>
              <a:gd name="csX4" fmla="*/ 1640457 w 1640457"/>
              <a:gd name="csY4" fmla="*/ 369332 h 369332"/>
              <a:gd name="csX5" fmla="*/ 1126447 w 1640457"/>
              <a:gd name="csY5" fmla="*/ 369332 h 369332"/>
              <a:gd name="csX6" fmla="*/ 579628 w 1640457"/>
              <a:gd name="csY6" fmla="*/ 369332 h 369332"/>
              <a:gd name="csX7" fmla="*/ 0 w 1640457"/>
              <a:gd name="csY7" fmla="*/ 369332 h 369332"/>
              <a:gd name="csX8" fmla="*/ 0 w 1640457"/>
              <a:gd name="csY8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40457" h="369332" fill="none" extrusionOk="0">
                <a:moveTo>
                  <a:pt x="0" y="0"/>
                </a:moveTo>
                <a:cubicBezTo>
                  <a:pt x="137291" y="-13830"/>
                  <a:pt x="331732" y="63635"/>
                  <a:pt x="579628" y="0"/>
                </a:cubicBezTo>
                <a:cubicBezTo>
                  <a:pt x="827524" y="-63635"/>
                  <a:pt x="997264" y="6387"/>
                  <a:pt x="1142852" y="0"/>
                </a:cubicBezTo>
                <a:cubicBezTo>
                  <a:pt x="1288440" y="-6387"/>
                  <a:pt x="1527963" y="3504"/>
                  <a:pt x="1640457" y="0"/>
                </a:cubicBezTo>
                <a:cubicBezTo>
                  <a:pt x="1644495" y="158233"/>
                  <a:pt x="1604163" y="205698"/>
                  <a:pt x="1640457" y="369332"/>
                </a:cubicBezTo>
                <a:cubicBezTo>
                  <a:pt x="1443730" y="424981"/>
                  <a:pt x="1236081" y="312131"/>
                  <a:pt x="1126447" y="369332"/>
                </a:cubicBezTo>
                <a:cubicBezTo>
                  <a:pt x="1016813" y="426533"/>
                  <a:pt x="822940" y="319241"/>
                  <a:pt x="579628" y="369332"/>
                </a:cubicBezTo>
                <a:cubicBezTo>
                  <a:pt x="336316" y="419423"/>
                  <a:pt x="209677" y="322365"/>
                  <a:pt x="0" y="369332"/>
                </a:cubicBezTo>
                <a:cubicBezTo>
                  <a:pt x="-34018" y="280347"/>
                  <a:pt x="27486" y="156341"/>
                  <a:pt x="0" y="0"/>
                </a:cubicBezTo>
                <a:close/>
              </a:path>
              <a:path w="1640457" h="369332" stroke="0" extrusionOk="0">
                <a:moveTo>
                  <a:pt x="0" y="0"/>
                </a:moveTo>
                <a:cubicBezTo>
                  <a:pt x="154035" y="-31128"/>
                  <a:pt x="307935" y="15565"/>
                  <a:pt x="530414" y="0"/>
                </a:cubicBezTo>
                <a:cubicBezTo>
                  <a:pt x="752893" y="-15565"/>
                  <a:pt x="870245" y="26105"/>
                  <a:pt x="1028020" y="0"/>
                </a:cubicBezTo>
                <a:cubicBezTo>
                  <a:pt x="1185795" y="-26105"/>
                  <a:pt x="1377513" y="50648"/>
                  <a:pt x="1640457" y="0"/>
                </a:cubicBezTo>
                <a:cubicBezTo>
                  <a:pt x="1676045" y="113493"/>
                  <a:pt x="1613650" y="197069"/>
                  <a:pt x="1640457" y="369332"/>
                </a:cubicBezTo>
                <a:cubicBezTo>
                  <a:pt x="1461832" y="391016"/>
                  <a:pt x="1236997" y="337857"/>
                  <a:pt x="1126447" y="369332"/>
                </a:cubicBezTo>
                <a:cubicBezTo>
                  <a:pt x="1015897" y="400807"/>
                  <a:pt x="717302" y="354126"/>
                  <a:pt x="546819" y="369332"/>
                </a:cubicBezTo>
                <a:cubicBezTo>
                  <a:pt x="376336" y="384538"/>
                  <a:pt x="233779" y="312387"/>
                  <a:pt x="0" y="369332"/>
                </a:cubicBezTo>
                <a:cubicBezTo>
                  <a:pt x="-22716" y="225711"/>
                  <a:pt x="27200" y="158340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One 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44A1FC-B638-319F-A364-C6B27A97581E}"/>
              </a:ext>
            </a:extLst>
          </p:cNvPr>
          <p:cNvSpPr txBox="1"/>
          <p:nvPr/>
        </p:nvSpPr>
        <p:spPr>
          <a:xfrm>
            <a:off x="9545643" y="5760919"/>
            <a:ext cx="2326317" cy="646331"/>
          </a:xfrm>
          <a:custGeom>
            <a:avLst/>
            <a:gdLst>
              <a:gd name="csX0" fmla="*/ 0 w 2326317"/>
              <a:gd name="csY0" fmla="*/ 0 h 646331"/>
              <a:gd name="csX1" fmla="*/ 558316 w 2326317"/>
              <a:gd name="csY1" fmla="*/ 0 h 646331"/>
              <a:gd name="csX2" fmla="*/ 1139895 w 2326317"/>
              <a:gd name="csY2" fmla="*/ 0 h 646331"/>
              <a:gd name="csX3" fmla="*/ 1744738 w 2326317"/>
              <a:gd name="csY3" fmla="*/ 0 h 646331"/>
              <a:gd name="csX4" fmla="*/ 2326317 w 2326317"/>
              <a:gd name="csY4" fmla="*/ 0 h 646331"/>
              <a:gd name="csX5" fmla="*/ 2326317 w 2326317"/>
              <a:gd name="csY5" fmla="*/ 329629 h 646331"/>
              <a:gd name="csX6" fmla="*/ 2326317 w 2326317"/>
              <a:gd name="csY6" fmla="*/ 646331 h 646331"/>
              <a:gd name="csX7" fmla="*/ 1698211 w 2326317"/>
              <a:gd name="csY7" fmla="*/ 646331 h 646331"/>
              <a:gd name="csX8" fmla="*/ 1070106 w 2326317"/>
              <a:gd name="csY8" fmla="*/ 646331 h 646331"/>
              <a:gd name="csX9" fmla="*/ 0 w 2326317"/>
              <a:gd name="csY9" fmla="*/ 646331 h 646331"/>
              <a:gd name="csX10" fmla="*/ 0 w 2326317"/>
              <a:gd name="csY10" fmla="*/ 329629 h 646331"/>
              <a:gd name="csX11" fmla="*/ 0 w 2326317"/>
              <a:gd name="csY11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326317" h="646331" fill="none" extrusionOk="0">
                <a:moveTo>
                  <a:pt x="0" y="0"/>
                </a:moveTo>
                <a:cubicBezTo>
                  <a:pt x="149355" y="-59183"/>
                  <a:pt x="360315" y="41327"/>
                  <a:pt x="558316" y="0"/>
                </a:cubicBezTo>
                <a:cubicBezTo>
                  <a:pt x="756317" y="-41327"/>
                  <a:pt x="951139" y="5151"/>
                  <a:pt x="1139895" y="0"/>
                </a:cubicBezTo>
                <a:cubicBezTo>
                  <a:pt x="1328651" y="-5151"/>
                  <a:pt x="1589156" y="69575"/>
                  <a:pt x="1744738" y="0"/>
                </a:cubicBezTo>
                <a:cubicBezTo>
                  <a:pt x="1900320" y="-69575"/>
                  <a:pt x="2054718" y="48017"/>
                  <a:pt x="2326317" y="0"/>
                </a:cubicBezTo>
                <a:cubicBezTo>
                  <a:pt x="2357756" y="138098"/>
                  <a:pt x="2310740" y="172318"/>
                  <a:pt x="2326317" y="329629"/>
                </a:cubicBezTo>
                <a:cubicBezTo>
                  <a:pt x="2341894" y="486940"/>
                  <a:pt x="2291128" y="518547"/>
                  <a:pt x="2326317" y="646331"/>
                </a:cubicBezTo>
                <a:cubicBezTo>
                  <a:pt x="2070675" y="720637"/>
                  <a:pt x="1964123" y="607209"/>
                  <a:pt x="1698211" y="646331"/>
                </a:cubicBezTo>
                <a:cubicBezTo>
                  <a:pt x="1432299" y="685453"/>
                  <a:pt x="1379944" y="584142"/>
                  <a:pt x="1070106" y="646331"/>
                </a:cubicBezTo>
                <a:cubicBezTo>
                  <a:pt x="760268" y="708520"/>
                  <a:pt x="302628" y="641737"/>
                  <a:pt x="0" y="646331"/>
                </a:cubicBezTo>
                <a:cubicBezTo>
                  <a:pt x="-33952" y="494166"/>
                  <a:pt x="19450" y="412375"/>
                  <a:pt x="0" y="329629"/>
                </a:cubicBezTo>
                <a:cubicBezTo>
                  <a:pt x="-19450" y="246883"/>
                  <a:pt x="11518" y="109323"/>
                  <a:pt x="0" y="0"/>
                </a:cubicBezTo>
                <a:close/>
              </a:path>
              <a:path w="2326317" h="646331" stroke="0" extrusionOk="0">
                <a:moveTo>
                  <a:pt x="0" y="0"/>
                </a:moveTo>
                <a:cubicBezTo>
                  <a:pt x="184094" y="-42899"/>
                  <a:pt x="280750" y="21301"/>
                  <a:pt x="558316" y="0"/>
                </a:cubicBezTo>
                <a:cubicBezTo>
                  <a:pt x="835882" y="-21301"/>
                  <a:pt x="871068" y="39543"/>
                  <a:pt x="1070106" y="0"/>
                </a:cubicBezTo>
                <a:cubicBezTo>
                  <a:pt x="1269144" y="-39543"/>
                  <a:pt x="1462361" y="27772"/>
                  <a:pt x="1698211" y="0"/>
                </a:cubicBezTo>
                <a:cubicBezTo>
                  <a:pt x="1934061" y="-27772"/>
                  <a:pt x="2025762" y="62259"/>
                  <a:pt x="2326317" y="0"/>
                </a:cubicBezTo>
                <a:cubicBezTo>
                  <a:pt x="2335000" y="66160"/>
                  <a:pt x="2301605" y="249942"/>
                  <a:pt x="2326317" y="316702"/>
                </a:cubicBezTo>
                <a:cubicBezTo>
                  <a:pt x="2351029" y="383462"/>
                  <a:pt x="2304476" y="564609"/>
                  <a:pt x="2326317" y="646331"/>
                </a:cubicBezTo>
                <a:cubicBezTo>
                  <a:pt x="2069519" y="700703"/>
                  <a:pt x="1920408" y="603980"/>
                  <a:pt x="1744738" y="646331"/>
                </a:cubicBezTo>
                <a:cubicBezTo>
                  <a:pt x="1569068" y="688682"/>
                  <a:pt x="1375375" y="627766"/>
                  <a:pt x="1116632" y="646331"/>
                </a:cubicBezTo>
                <a:cubicBezTo>
                  <a:pt x="857889" y="664896"/>
                  <a:pt x="847342" y="596202"/>
                  <a:pt x="604842" y="646331"/>
                </a:cubicBezTo>
                <a:cubicBezTo>
                  <a:pt x="362342" y="696460"/>
                  <a:pt x="146067" y="584913"/>
                  <a:pt x="0" y="646331"/>
                </a:cubicBezTo>
                <a:cubicBezTo>
                  <a:pt x="-5824" y="570951"/>
                  <a:pt x="1433" y="401953"/>
                  <a:pt x="0" y="323166"/>
                </a:cubicBezTo>
                <a:cubicBezTo>
                  <a:pt x="-1433" y="244380"/>
                  <a:pt x="23279" y="115607"/>
                  <a:pt x="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50000"/>
                  </a:srgbClr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Infinitely-many outcomes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7DBCF13-EAFD-DE1C-A747-62AE3F87A07F}"/>
              </a:ext>
            </a:extLst>
          </p:cNvPr>
          <p:cNvSpPr/>
          <p:nvPr/>
        </p:nvSpPr>
        <p:spPr>
          <a:xfrm>
            <a:off x="9060873" y="5190836"/>
            <a:ext cx="618836" cy="554651"/>
          </a:xfrm>
          <a:custGeom>
            <a:avLst/>
            <a:gdLst>
              <a:gd name="connsiteX0" fmla="*/ 0 w 618836"/>
              <a:gd name="connsiteY0" fmla="*/ 0 h 554651"/>
              <a:gd name="connsiteX1" fmla="*/ 175491 w 618836"/>
              <a:gd name="connsiteY1" fmla="*/ 258619 h 554651"/>
              <a:gd name="connsiteX2" fmla="*/ 221672 w 618836"/>
              <a:gd name="connsiteY2" fmla="*/ 323273 h 554651"/>
              <a:gd name="connsiteX3" fmla="*/ 286327 w 618836"/>
              <a:gd name="connsiteY3" fmla="*/ 369455 h 554651"/>
              <a:gd name="connsiteX4" fmla="*/ 378691 w 618836"/>
              <a:gd name="connsiteY4" fmla="*/ 443346 h 554651"/>
              <a:gd name="connsiteX5" fmla="*/ 434109 w 618836"/>
              <a:gd name="connsiteY5" fmla="*/ 480291 h 554651"/>
              <a:gd name="connsiteX6" fmla="*/ 471054 w 618836"/>
              <a:gd name="connsiteY6" fmla="*/ 489528 h 554651"/>
              <a:gd name="connsiteX7" fmla="*/ 563418 w 618836"/>
              <a:gd name="connsiteY7" fmla="*/ 535709 h 554651"/>
              <a:gd name="connsiteX8" fmla="*/ 618836 w 618836"/>
              <a:gd name="connsiteY8" fmla="*/ 554182 h 554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8836" h="554651">
                <a:moveTo>
                  <a:pt x="0" y="0"/>
                </a:moveTo>
                <a:cubicBezTo>
                  <a:pt x="127811" y="237367"/>
                  <a:pt x="-9433" y="-278"/>
                  <a:pt x="175491" y="258619"/>
                </a:cubicBezTo>
                <a:cubicBezTo>
                  <a:pt x="190885" y="280170"/>
                  <a:pt x="202945" y="304546"/>
                  <a:pt x="221672" y="323273"/>
                </a:cubicBezTo>
                <a:cubicBezTo>
                  <a:pt x="240400" y="342001"/>
                  <a:pt x="265334" y="353307"/>
                  <a:pt x="286327" y="369455"/>
                </a:cubicBezTo>
                <a:cubicBezTo>
                  <a:pt x="352463" y="420329"/>
                  <a:pt x="323217" y="404515"/>
                  <a:pt x="378691" y="443346"/>
                </a:cubicBezTo>
                <a:cubicBezTo>
                  <a:pt x="396879" y="456078"/>
                  <a:pt x="414252" y="470362"/>
                  <a:pt x="434109" y="480291"/>
                </a:cubicBezTo>
                <a:cubicBezTo>
                  <a:pt x="445463" y="485968"/>
                  <a:pt x="458739" y="486449"/>
                  <a:pt x="471054" y="489528"/>
                </a:cubicBezTo>
                <a:cubicBezTo>
                  <a:pt x="599512" y="566602"/>
                  <a:pt x="437712" y="472857"/>
                  <a:pt x="563418" y="535709"/>
                </a:cubicBezTo>
                <a:cubicBezTo>
                  <a:pt x="610612" y="559305"/>
                  <a:pt x="570209" y="554182"/>
                  <a:pt x="618836" y="554182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03F486-9039-4D78-237C-93C41F466214}"/>
              </a:ext>
            </a:extLst>
          </p:cNvPr>
          <p:cNvSpPr txBox="1"/>
          <p:nvPr/>
        </p:nvSpPr>
        <p:spPr>
          <a:xfrm rot="20929282">
            <a:off x="7660599" y="5647854"/>
            <a:ext cx="1397079" cy="646331"/>
          </a:xfrm>
          <a:custGeom>
            <a:avLst/>
            <a:gdLst>
              <a:gd name="csX0" fmla="*/ 0 w 1397079"/>
              <a:gd name="csY0" fmla="*/ 0 h 646331"/>
              <a:gd name="csX1" fmla="*/ 451722 w 1397079"/>
              <a:gd name="csY1" fmla="*/ 0 h 646331"/>
              <a:gd name="csX2" fmla="*/ 875503 w 1397079"/>
              <a:gd name="csY2" fmla="*/ 0 h 646331"/>
              <a:gd name="csX3" fmla="*/ 1397079 w 1397079"/>
              <a:gd name="csY3" fmla="*/ 0 h 646331"/>
              <a:gd name="csX4" fmla="*/ 1397079 w 1397079"/>
              <a:gd name="csY4" fmla="*/ 316702 h 646331"/>
              <a:gd name="csX5" fmla="*/ 1397079 w 1397079"/>
              <a:gd name="csY5" fmla="*/ 646331 h 646331"/>
              <a:gd name="csX6" fmla="*/ 959328 w 1397079"/>
              <a:gd name="csY6" fmla="*/ 646331 h 646331"/>
              <a:gd name="csX7" fmla="*/ 521576 w 1397079"/>
              <a:gd name="csY7" fmla="*/ 646331 h 646331"/>
              <a:gd name="csX8" fmla="*/ 0 w 1397079"/>
              <a:gd name="csY8" fmla="*/ 646331 h 646331"/>
              <a:gd name="csX9" fmla="*/ 0 w 1397079"/>
              <a:gd name="csY9" fmla="*/ 342555 h 646331"/>
              <a:gd name="csX10" fmla="*/ 0 w 1397079"/>
              <a:gd name="csY10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397079" h="646331" extrusionOk="0">
                <a:moveTo>
                  <a:pt x="0" y="0"/>
                </a:moveTo>
                <a:cubicBezTo>
                  <a:pt x="128446" y="-50572"/>
                  <a:pt x="356211" y="15232"/>
                  <a:pt x="451722" y="0"/>
                </a:cubicBezTo>
                <a:cubicBezTo>
                  <a:pt x="547233" y="-15232"/>
                  <a:pt x="768843" y="29220"/>
                  <a:pt x="875503" y="0"/>
                </a:cubicBezTo>
                <a:cubicBezTo>
                  <a:pt x="982163" y="-29220"/>
                  <a:pt x="1224979" y="1374"/>
                  <a:pt x="1397079" y="0"/>
                </a:cubicBezTo>
                <a:cubicBezTo>
                  <a:pt x="1424462" y="121065"/>
                  <a:pt x="1383509" y="238935"/>
                  <a:pt x="1397079" y="316702"/>
                </a:cubicBezTo>
                <a:cubicBezTo>
                  <a:pt x="1410649" y="394469"/>
                  <a:pt x="1390222" y="514100"/>
                  <a:pt x="1397079" y="646331"/>
                </a:cubicBezTo>
                <a:cubicBezTo>
                  <a:pt x="1240230" y="650220"/>
                  <a:pt x="1077676" y="644830"/>
                  <a:pt x="959328" y="646331"/>
                </a:cubicBezTo>
                <a:cubicBezTo>
                  <a:pt x="840980" y="647832"/>
                  <a:pt x="627649" y="632077"/>
                  <a:pt x="521576" y="646331"/>
                </a:cubicBezTo>
                <a:cubicBezTo>
                  <a:pt x="415503" y="660585"/>
                  <a:pt x="151237" y="611455"/>
                  <a:pt x="0" y="646331"/>
                </a:cubicBezTo>
                <a:cubicBezTo>
                  <a:pt x="-26174" y="508757"/>
                  <a:pt x="23894" y="459392"/>
                  <a:pt x="0" y="342555"/>
                </a:cubicBezTo>
                <a:cubicBezTo>
                  <a:pt x="-23894" y="225718"/>
                  <a:pt x="27255" y="138134"/>
                  <a:pt x="0" y="0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50000"/>
                  </a:srgbClr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Expected payoffs?</a:t>
            </a:r>
          </a:p>
        </p:txBody>
      </p:sp>
    </p:spTree>
    <p:extLst>
      <p:ext uri="{BB962C8B-B14F-4D97-AF65-F5344CB8AC3E}">
        <p14:creationId xmlns:p14="http://schemas.microsoft.com/office/powerpoint/2010/main" val="1049634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21E707-BFF6-56F8-A951-A87F67ABF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7FB9E37-D5F9-C11D-E9F7-9E646D30B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2ED78FFC-5085-9C05-E8B8-268F7851A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30F51B8-6C4E-0BF6-0F50-AF3C5E496FCD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60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36795B03-923B-D1EA-20FB-B1096E65217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EA892E8-9705-AC13-C3BE-7A2315060A4E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EXAMPLE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A34816-5DE5-CE57-1CE2-789673815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DECISION PROBLEM</a:t>
            </a:r>
            <a:br>
              <a:rPr lang="en-US" sz="5400" dirty="0"/>
            </a:br>
            <a:r>
              <a:rPr lang="en-US" sz="5400" dirty="0"/>
              <a:t>Exam Prep &amp; Grades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1865A1-320E-871E-396E-D35D59F58DAC}"/>
              </a:ext>
            </a:extLst>
          </p:cNvPr>
          <p:cNvSpPr txBox="1"/>
          <p:nvPr/>
        </p:nvSpPr>
        <p:spPr>
          <a:xfrm>
            <a:off x="1553719" y="1372428"/>
            <a:ext cx="20887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Chapters: 1, 2,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C27148-8D36-6EDC-2D1D-6EEB2634A884}"/>
              </a:ext>
            </a:extLst>
          </p:cNvPr>
          <p:cNvSpPr txBox="1"/>
          <p:nvPr/>
        </p:nvSpPr>
        <p:spPr>
          <a:xfrm>
            <a:off x="4696362" y="1379105"/>
            <a:ext cx="1603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A, B, C, D, 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298778-F10A-A630-441A-1C799445D212}"/>
              </a:ext>
            </a:extLst>
          </p:cNvPr>
          <p:cNvSpPr txBox="1"/>
          <p:nvPr/>
        </p:nvSpPr>
        <p:spPr>
          <a:xfrm>
            <a:off x="669036" y="2729802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52CDFC-03C8-B5F3-801B-F22B0218EEDE}"/>
              </a:ext>
            </a:extLst>
          </p:cNvPr>
          <p:cNvSpPr txBox="1"/>
          <p:nvPr/>
        </p:nvSpPr>
        <p:spPr>
          <a:xfrm>
            <a:off x="1628266" y="2729802"/>
            <a:ext cx="402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Each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leads to a single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outcome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A6DDD4-A0CA-FCAC-D5A4-1AC508F26502}"/>
              </a:ext>
            </a:extLst>
          </p:cNvPr>
          <p:cNvSpPr txBox="1"/>
          <p:nvPr/>
        </p:nvSpPr>
        <p:spPr>
          <a:xfrm>
            <a:off x="6617453" y="2729801"/>
            <a:ext cx="4095371" cy="369332"/>
          </a:xfrm>
          <a:custGeom>
            <a:avLst/>
            <a:gdLst>
              <a:gd name="csX0" fmla="*/ 0 w 4095371"/>
              <a:gd name="csY0" fmla="*/ 0 h 369332"/>
              <a:gd name="csX1" fmla="*/ 544099 w 4095371"/>
              <a:gd name="csY1" fmla="*/ 0 h 369332"/>
              <a:gd name="csX2" fmla="*/ 1006291 w 4095371"/>
              <a:gd name="csY2" fmla="*/ 0 h 369332"/>
              <a:gd name="csX3" fmla="*/ 1509437 w 4095371"/>
              <a:gd name="csY3" fmla="*/ 0 h 369332"/>
              <a:gd name="csX4" fmla="*/ 2135443 w 4095371"/>
              <a:gd name="csY4" fmla="*/ 0 h 369332"/>
              <a:gd name="csX5" fmla="*/ 2679543 w 4095371"/>
              <a:gd name="csY5" fmla="*/ 0 h 369332"/>
              <a:gd name="csX6" fmla="*/ 3182688 w 4095371"/>
              <a:gd name="csY6" fmla="*/ 0 h 369332"/>
              <a:gd name="csX7" fmla="*/ 4095371 w 4095371"/>
              <a:gd name="csY7" fmla="*/ 0 h 369332"/>
              <a:gd name="csX8" fmla="*/ 4095371 w 4095371"/>
              <a:gd name="csY8" fmla="*/ 369332 h 369332"/>
              <a:gd name="csX9" fmla="*/ 3510318 w 4095371"/>
              <a:gd name="csY9" fmla="*/ 369332 h 369332"/>
              <a:gd name="csX10" fmla="*/ 3007172 w 4095371"/>
              <a:gd name="csY10" fmla="*/ 369332 h 369332"/>
              <a:gd name="csX11" fmla="*/ 2340212 w 4095371"/>
              <a:gd name="csY11" fmla="*/ 369332 h 369332"/>
              <a:gd name="csX12" fmla="*/ 1796113 w 4095371"/>
              <a:gd name="csY12" fmla="*/ 369332 h 369332"/>
              <a:gd name="csX13" fmla="*/ 1333921 w 4095371"/>
              <a:gd name="csY13" fmla="*/ 369332 h 369332"/>
              <a:gd name="csX14" fmla="*/ 707914 w 4095371"/>
              <a:gd name="csY14" fmla="*/ 369332 h 369332"/>
              <a:gd name="csX15" fmla="*/ 0 w 4095371"/>
              <a:gd name="csY15" fmla="*/ 369332 h 369332"/>
              <a:gd name="csX16" fmla="*/ 0 w 4095371"/>
              <a:gd name="csY16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095371" h="369332" fill="none" extrusionOk="0">
                <a:moveTo>
                  <a:pt x="0" y="0"/>
                </a:moveTo>
                <a:cubicBezTo>
                  <a:pt x="263380" y="-55661"/>
                  <a:pt x="300698" y="7505"/>
                  <a:pt x="544099" y="0"/>
                </a:cubicBezTo>
                <a:cubicBezTo>
                  <a:pt x="787500" y="-7505"/>
                  <a:pt x="885207" y="22498"/>
                  <a:pt x="1006291" y="0"/>
                </a:cubicBezTo>
                <a:cubicBezTo>
                  <a:pt x="1127375" y="-22498"/>
                  <a:pt x="1331174" y="57326"/>
                  <a:pt x="1509437" y="0"/>
                </a:cubicBezTo>
                <a:cubicBezTo>
                  <a:pt x="1687700" y="-57326"/>
                  <a:pt x="1907540" y="2710"/>
                  <a:pt x="2135443" y="0"/>
                </a:cubicBezTo>
                <a:cubicBezTo>
                  <a:pt x="2363346" y="-2710"/>
                  <a:pt x="2542251" y="12157"/>
                  <a:pt x="2679543" y="0"/>
                </a:cubicBezTo>
                <a:cubicBezTo>
                  <a:pt x="2816835" y="-12157"/>
                  <a:pt x="3042554" y="54011"/>
                  <a:pt x="3182688" y="0"/>
                </a:cubicBezTo>
                <a:cubicBezTo>
                  <a:pt x="3322823" y="-54011"/>
                  <a:pt x="3872175" y="56724"/>
                  <a:pt x="4095371" y="0"/>
                </a:cubicBezTo>
                <a:cubicBezTo>
                  <a:pt x="4104829" y="157059"/>
                  <a:pt x="4082311" y="189560"/>
                  <a:pt x="4095371" y="369332"/>
                </a:cubicBezTo>
                <a:cubicBezTo>
                  <a:pt x="3862400" y="386073"/>
                  <a:pt x="3740911" y="324224"/>
                  <a:pt x="3510318" y="369332"/>
                </a:cubicBezTo>
                <a:cubicBezTo>
                  <a:pt x="3279725" y="414440"/>
                  <a:pt x="3116199" y="310524"/>
                  <a:pt x="3007172" y="369332"/>
                </a:cubicBezTo>
                <a:cubicBezTo>
                  <a:pt x="2898145" y="428140"/>
                  <a:pt x="2644272" y="303865"/>
                  <a:pt x="2340212" y="369332"/>
                </a:cubicBezTo>
                <a:cubicBezTo>
                  <a:pt x="2036152" y="434799"/>
                  <a:pt x="1930407" y="335731"/>
                  <a:pt x="1796113" y="369332"/>
                </a:cubicBezTo>
                <a:cubicBezTo>
                  <a:pt x="1661819" y="402933"/>
                  <a:pt x="1556242" y="333240"/>
                  <a:pt x="1333921" y="369332"/>
                </a:cubicBezTo>
                <a:cubicBezTo>
                  <a:pt x="1111600" y="405424"/>
                  <a:pt x="886901" y="345437"/>
                  <a:pt x="707914" y="369332"/>
                </a:cubicBezTo>
                <a:cubicBezTo>
                  <a:pt x="528927" y="393227"/>
                  <a:pt x="262019" y="299577"/>
                  <a:pt x="0" y="369332"/>
                </a:cubicBezTo>
                <a:cubicBezTo>
                  <a:pt x="-4874" y="252959"/>
                  <a:pt x="30731" y="108862"/>
                  <a:pt x="0" y="0"/>
                </a:cubicBezTo>
                <a:close/>
              </a:path>
              <a:path w="4095371" h="369332" stroke="0" extrusionOk="0">
                <a:moveTo>
                  <a:pt x="0" y="0"/>
                </a:moveTo>
                <a:cubicBezTo>
                  <a:pt x="121994" y="-57187"/>
                  <a:pt x="348902" y="26668"/>
                  <a:pt x="544099" y="0"/>
                </a:cubicBezTo>
                <a:cubicBezTo>
                  <a:pt x="739296" y="-26668"/>
                  <a:pt x="843616" y="23605"/>
                  <a:pt x="1006291" y="0"/>
                </a:cubicBezTo>
                <a:cubicBezTo>
                  <a:pt x="1168966" y="-23605"/>
                  <a:pt x="1372027" y="22217"/>
                  <a:pt x="1673252" y="0"/>
                </a:cubicBezTo>
                <a:cubicBezTo>
                  <a:pt x="1974477" y="-22217"/>
                  <a:pt x="2014296" y="47237"/>
                  <a:pt x="2217351" y="0"/>
                </a:cubicBezTo>
                <a:cubicBezTo>
                  <a:pt x="2420406" y="-47237"/>
                  <a:pt x="2532431" y="19584"/>
                  <a:pt x="2761450" y="0"/>
                </a:cubicBezTo>
                <a:cubicBezTo>
                  <a:pt x="2990469" y="-19584"/>
                  <a:pt x="3257461" y="23256"/>
                  <a:pt x="3428411" y="0"/>
                </a:cubicBezTo>
                <a:cubicBezTo>
                  <a:pt x="3599361" y="-23256"/>
                  <a:pt x="3897414" y="39685"/>
                  <a:pt x="4095371" y="0"/>
                </a:cubicBezTo>
                <a:cubicBezTo>
                  <a:pt x="4134445" y="170087"/>
                  <a:pt x="4051317" y="228284"/>
                  <a:pt x="4095371" y="369332"/>
                </a:cubicBezTo>
                <a:cubicBezTo>
                  <a:pt x="3970501" y="394530"/>
                  <a:pt x="3835623" y="342100"/>
                  <a:pt x="3592225" y="369332"/>
                </a:cubicBezTo>
                <a:cubicBezTo>
                  <a:pt x="3348827" y="396564"/>
                  <a:pt x="3241982" y="309155"/>
                  <a:pt x="3007172" y="369332"/>
                </a:cubicBezTo>
                <a:cubicBezTo>
                  <a:pt x="2772362" y="429509"/>
                  <a:pt x="2618457" y="354026"/>
                  <a:pt x="2422119" y="369332"/>
                </a:cubicBezTo>
                <a:cubicBezTo>
                  <a:pt x="2225781" y="384638"/>
                  <a:pt x="2087285" y="316850"/>
                  <a:pt x="1878020" y="369332"/>
                </a:cubicBezTo>
                <a:cubicBezTo>
                  <a:pt x="1668755" y="421814"/>
                  <a:pt x="1488382" y="297418"/>
                  <a:pt x="1211060" y="369332"/>
                </a:cubicBezTo>
                <a:cubicBezTo>
                  <a:pt x="933738" y="441246"/>
                  <a:pt x="739964" y="361069"/>
                  <a:pt x="544099" y="369332"/>
                </a:cubicBezTo>
                <a:cubicBezTo>
                  <a:pt x="348234" y="377595"/>
                  <a:pt x="186303" y="327942"/>
                  <a:pt x="0" y="369332"/>
                </a:cubicBezTo>
                <a:cubicBezTo>
                  <a:pt x="-38655" y="245768"/>
                  <a:pt x="11552" y="91692"/>
                  <a:pt x="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Outcomes are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deterministic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variables.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5C1977FB-AB2C-2F30-F90F-43F249CB7CE6}"/>
              </a:ext>
            </a:extLst>
          </p:cNvPr>
          <p:cNvSpPr/>
          <p:nvPr/>
        </p:nvSpPr>
        <p:spPr>
          <a:xfrm>
            <a:off x="5780711" y="2824700"/>
            <a:ext cx="627530" cy="179535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5DCB01-D68F-BC18-472B-1FB56D473298}"/>
              </a:ext>
            </a:extLst>
          </p:cNvPr>
          <p:cNvSpPr txBox="1"/>
          <p:nvPr/>
        </p:nvSpPr>
        <p:spPr>
          <a:xfrm>
            <a:off x="7353409" y="1132680"/>
            <a:ext cx="4169555" cy="338554"/>
          </a:xfrm>
          <a:custGeom>
            <a:avLst/>
            <a:gdLst>
              <a:gd name="csX0" fmla="*/ 0 w 4169555"/>
              <a:gd name="csY0" fmla="*/ 0 h 338554"/>
              <a:gd name="csX1" fmla="*/ 553955 w 4169555"/>
              <a:gd name="csY1" fmla="*/ 0 h 338554"/>
              <a:gd name="csX2" fmla="*/ 1024519 w 4169555"/>
              <a:gd name="csY2" fmla="*/ 0 h 338554"/>
              <a:gd name="csX3" fmla="*/ 1536779 w 4169555"/>
              <a:gd name="csY3" fmla="*/ 0 h 338554"/>
              <a:gd name="csX4" fmla="*/ 2174125 w 4169555"/>
              <a:gd name="csY4" fmla="*/ 0 h 338554"/>
              <a:gd name="csX5" fmla="*/ 2728080 w 4169555"/>
              <a:gd name="csY5" fmla="*/ 0 h 338554"/>
              <a:gd name="csX6" fmla="*/ 3240340 w 4169555"/>
              <a:gd name="csY6" fmla="*/ 0 h 338554"/>
              <a:gd name="csX7" fmla="*/ 4169555 w 4169555"/>
              <a:gd name="csY7" fmla="*/ 0 h 338554"/>
              <a:gd name="csX8" fmla="*/ 4169555 w 4169555"/>
              <a:gd name="csY8" fmla="*/ 338554 h 338554"/>
              <a:gd name="csX9" fmla="*/ 3573904 w 4169555"/>
              <a:gd name="csY9" fmla="*/ 338554 h 338554"/>
              <a:gd name="csX10" fmla="*/ 3061645 w 4169555"/>
              <a:gd name="csY10" fmla="*/ 338554 h 338554"/>
              <a:gd name="csX11" fmla="*/ 2382603 w 4169555"/>
              <a:gd name="csY11" fmla="*/ 338554 h 338554"/>
              <a:gd name="csX12" fmla="*/ 1828648 w 4169555"/>
              <a:gd name="csY12" fmla="*/ 338554 h 338554"/>
              <a:gd name="csX13" fmla="*/ 1358084 w 4169555"/>
              <a:gd name="csY13" fmla="*/ 338554 h 338554"/>
              <a:gd name="csX14" fmla="*/ 720737 w 4169555"/>
              <a:gd name="csY14" fmla="*/ 338554 h 338554"/>
              <a:gd name="csX15" fmla="*/ 0 w 4169555"/>
              <a:gd name="csY15" fmla="*/ 338554 h 338554"/>
              <a:gd name="csX16" fmla="*/ 0 w 4169555"/>
              <a:gd name="csY16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169555" h="338554" fill="none" extrusionOk="0">
                <a:moveTo>
                  <a:pt x="0" y="0"/>
                </a:moveTo>
                <a:cubicBezTo>
                  <a:pt x="184610" y="-15352"/>
                  <a:pt x="306860" y="60898"/>
                  <a:pt x="553955" y="0"/>
                </a:cubicBezTo>
                <a:cubicBezTo>
                  <a:pt x="801050" y="-60898"/>
                  <a:pt x="861241" y="3755"/>
                  <a:pt x="1024519" y="0"/>
                </a:cubicBezTo>
                <a:cubicBezTo>
                  <a:pt x="1187797" y="-3755"/>
                  <a:pt x="1401197" y="59508"/>
                  <a:pt x="1536779" y="0"/>
                </a:cubicBezTo>
                <a:cubicBezTo>
                  <a:pt x="1672361" y="-59508"/>
                  <a:pt x="1971294" y="11931"/>
                  <a:pt x="2174125" y="0"/>
                </a:cubicBezTo>
                <a:cubicBezTo>
                  <a:pt x="2376956" y="-11931"/>
                  <a:pt x="2557745" y="22242"/>
                  <a:pt x="2728080" y="0"/>
                </a:cubicBezTo>
                <a:cubicBezTo>
                  <a:pt x="2898416" y="-22242"/>
                  <a:pt x="3043738" y="46711"/>
                  <a:pt x="3240340" y="0"/>
                </a:cubicBezTo>
                <a:cubicBezTo>
                  <a:pt x="3436942" y="-46711"/>
                  <a:pt x="3865190" y="7744"/>
                  <a:pt x="4169555" y="0"/>
                </a:cubicBezTo>
                <a:cubicBezTo>
                  <a:pt x="4206395" y="96079"/>
                  <a:pt x="4154943" y="248329"/>
                  <a:pt x="4169555" y="338554"/>
                </a:cubicBezTo>
                <a:cubicBezTo>
                  <a:pt x="3980034" y="406521"/>
                  <a:pt x="3696700" y="289803"/>
                  <a:pt x="3573904" y="338554"/>
                </a:cubicBezTo>
                <a:cubicBezTo>
                  <a:pt x="3451108" y="387305"/>
                  <a:pt x="3197139" y="284421"/>
                  <a:pt x="3061645" y="338554"/>
                </a:cubicBezTo>
                <a:cubicBezTo>
                  <a:pt x="2926151" y="392687"/>
                  <a:pt x="2585699" y="273170"/>
                  <a:pt x="2382603" y="338554"/>
                </a:cubicBezTo>
                <a:cubicBezTo>
                  <a:pt x="2179507" y="403938"/>
                  <a:pt x="1953581" y="303012"/>
                  <a:pt x="1828648" y="338554"/>
                </a:cubicBezTo>
                <a:cubicBezTo>
                  <a:pt x="1703715" y="374096"/>
                  <a:pt x="1518427" y="288139"/>
                  <a:pt x="1358084" y="338554"/>
                </a:cubicBezTo>
                <a:cubicBezTo>
                  <a:pt x="1197741" y="388969"/>
                  <a:pt x="955095" y="304869"/>
                  <a:pt x="720737" y="338554"/>
                </a:cubicBezTo>
                <a:cubicBezTo>
                  <a:pt x="486379" y="372239"/>
                  <a:pt x="309096" y="300612"/>
                  <a:pt x="0" y="338554"/>
                </a:cubicBezTo>
                <a:cubicBezTo>
                  <a:pt x="-38409" y="218503"/>
                  <a:pt x="36533" y="148226"/>
                  <a:pt x="0" y="0"/>
                </a:cubicBezTo>
                <a:close/>
              </a:path>
              <a:path w="4169555" h="338554" stroke="0" extrusionOk="0">
                <a:moveTo>
                  <a:pt x="0" y="0"/>
                </a:moveTo>
                <a:cubicBezTo>
                  <a:pt x="123686" y="-57714"/>
                  <a:pt x="289115" y="45504"/>
                  <a:pt x="553955" y="0"/>
                </a:cubicBezTo>
                <a:cubicBezTo>
                  <a:pt x="818796" y="-45504"/>
                  <a:pt x="900835" y="12365"/>
                  <a:pt x="1024519" y="0"/>
                </a:cubicBezTo>
                <a:cubicBezTo>
                  <a:pt x="1148203" y="-12365"/>
                  <a:pt x="1375450" y="49199"/>
                  <a:pt x="1703561" y="0"/>
                </a:cubicBezTo>
                <a:cubicBezTo>
                  <a:pt x="2031672" y="-49199"/>
                  <a:pt x="2135915" y="53877"/>
                  <a:pt x="2257516" y="0"/>
                </a:cubicBezTo>
                <a:cubicBezTo>
                  <a:pt x="2379118" y="-53877"/>
                  <a:pt x="2689826" y="7640"/>
                  <a:pt x="2811471" y="0"/>
                </a:cubicBezTo>
                <a:cubicBezTo>
                  <a:pt x="2933116" y="-7640"/>
                  <a:pt x="3237653" y="42159"/>
                  <a:pt x="3490513" y="0"/>
                </a:cubicBezTo>
                <a:cubicBezTo>
                  <a:pt x="3743373" y="-42159"/>
                  <a:pt x="3902601" y="4213"/>
                  <a:pt x="4169555" y="0"/>
                </a:cubicBezTo>
                <a:cubicBezTo>
                  <a:pt x="4186433" y="108997"/>
                  <a:pt x="4150059" y="194594"/>
                  <a:pt x="4169555" y="338554"/>
                </a:cubicBezTo>
                <a:cubicBezTo>
                  <a:pt x="4046605" y="342848"/>
                  <a:pt x="3791268" y="329382"/>
                  <a:pt x="3657295" y="338554"/>
                </a:cubicBezTo>
                <a:cubicBezTo>
                  <a:pt x="3523322" y="347726"/>
                  <a:pt x="3280593" y="338438"/>
                  <a:pt x="3061645" y="338554"/>
                </a:cubicBezTo>
                <a:cubicBezTo>
                  <a:pt x="2842697" y="338670"/>
                  <a:pt x="2690996" y="317297"/>
                  <a:pt x="2465994" y="338554"/>
                </a:cubicBezTo>
                <a:cubicBezTo>
                  <a:pt x="2240992" y="359811"/>
                  <a:pt x="2137041" y="296476"/>
                  <a:pt x="1912039" y="338554"/>
                </a:cubicBezTo>
                <a:cubicBezTo>
                  <a:pt x="1687037" y="380632"/>
                  <a:pt x="1569178" y="336593"/>
                  <a:pt x="1232997" y="338554"/>
                </a:cubicBezTo>
                <a:cubicBezTo>
                  <a:pt x="896816" y="340515"/>
                  <a:pt x="824031" y="320493"/>
                  <a:pt x="553955" y="338554"/>
                </a:cubicBezTo>
                <a:cubicBezTo>
                  <a:pt x="283879" y="356615"/>
                  <a:pt x="113030" y="293227"/>
                  <a:pt x="0" y="338554"/>
                </a:cubicBezTo>
                <a:cubicBezTo>
                  <a:pt x="-8967" y="239005"/>
                  <a:pt x="5325" y="122363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Goal: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 Assign a payoff to each 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03FC6834-1A37-C0EC-A3A3-359D73A4017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76505" y="3456509"/>
              <a:ext cx="7209283" cy="2123440"/>
            </p:xfrm>
            <a:graphic>
              <a:graphicData uri="http://schemas.openxmlformats.org/drawingml/2006/table">
                <a:tbl>
                  <a:tblPr firstRow="1" bandRow="1">
                    <a:tableStyleId>{68D230F3-CF80-4859-8CE7-A43EE81993B5}</a:tableStyleId>
                  </a:tblPr>
                  <a:tblGrid>
                    <a:gridCol w="902018">
                      <a:extLst>
                        <a:ext uri="{9D8B030D-6E8A-4147-A177-3AD203B41FA5}">
                          <a16:colId xmlns:a16="http://schemas.microsoft.com/office/drawing/2014/main" val="1673943165"/>
                        </a:ext>
                      </a:extLst>
                    </a:gridCol>
                    <a:gridCol w="2243265">
                      <a:extLst>
                        <a:ext uri="{9D8B030D-6E8A-4147-A177-3AD203B41FA5}">
                          <a16:colId xmlns:a16="http://schemas.microsoft.com/office/drawing/2014/main" val="2704024468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749442872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4550956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Action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Outcome</a:t>
                          </a:r>
                        </a:p>
                        <a:p>
                          <a:pPr algn="ctr"/>
                          <a:r>
                            <a:rPr lang="en-IN" b="0" dirty="0"/>
                            <a:t>(Grade)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Payoff</a:t>
                          </a:r>
                        </a:p>
                        <a:p>
                          <a:pPr algn="ctr"/>
                          <a:r>
                            <a:rPr lang="en-IN" b="0" dirty="0"/>
                            <a:t>(Grade Point)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71481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Don’t study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31819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Study chapter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36975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Study chapters 1 &amp;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97380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=3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Study all 3 chapters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46722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03FC6834-1A37-C0EC-A3A3-359D73A401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7513694"/>
                  </p:ext>
                </p:extLst>
              </p:nvPr>
            </p:nvGraphicFramePr>
            <p:xfrm>
              <a:off x="1776505" y="3456509"/>
              <a:ext cx="7209283" cy="2123440"/>
            </p:xfrm>
            <a:graphic>
              <a:graphicData uri="http://schemas.openxmlformats.org/drawingml/2006/table">
                <a:tbl>
                  <a:tblPr firstRow="1" bandRow="1">
                    <a:tableStyleId>{68D230F3-CF80-4859-8CE7-A43EE81993B5}</a:tableStyleId>
                  </a:tblPr>
                  <a:tblGrid>
                    <a:gridCol w="902018">
                      <a:extLst>
                        <a:ext uri="{9D8B030D-6E8A-4147-A177-3AD203B41FA5}">
                          <a16:colId xmlns:a16="http://schemas.microsoft.com/office/drawing/2014/main" val="1673943165"/>
                        </a:ext>
                      </a:extLst>
                    </a:gridCol>
                    <a:gridCol w="2243265">
                      <a:extLst>
                        <a:ext uri="{9D8B030D-6E8A-4147-A177-3AD203B41FA5}">
                          <a16:colId xmlns:a16="http://schemas.microsoft.com/office/drawing/2014/main" val="2704024468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749442872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455095600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Action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Outcome</a:t>
                          </a:r>
                        </a:p>
                        <a:p>
                          <a:pPr algn="ctr"/>
                          <a:r>
                            <a:rPr lang="en-IN" b="0" dirty="0"/>
                            <a:t>(Grade)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Payoff</a:t>
                          </a:r>
                        </a:p>
                        <a:p>
                          <a:pPr algn="ctr"/>
                          <a:r>
                            <a:rPr lang="en-IN" b="0" dirty="0"/>
                            <a:t>(Grade Point)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71481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178689" r="-700676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Don’t study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5255" t="-178689" r="-100601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4491" t="-178689" r="-299" b="-3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1819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278689" r="-700676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Study chapter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5255" t="-278689" r="-100601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4491" t="-278689" r="-299" b="-2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36975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378689" r="-700676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Study chapters 1 &amp;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5255" t="-378689" r="-100601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4491" t="-378689" r="-299" b="-1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7380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478689" r="-700676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Study all 3 chapters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5255" t="-478689" r="-100601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4491" t="-478689" r="-299" b="-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467227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3" name="Oval 32">
            <a:extLst>
              <a:ext uri="{FF2B5EF4-FFF2-40B4-BE49-F238E27FC236}">
                <a16:creationId xmlns:a16="http://schemas.microsoft.com/office/drawing/2014/main" id="{6AA3972B-D078-A39A-A71E-6CEB85D5C504}"/>
              </a:ext>
            </a:extLst>
          </p:cNvPr>
          <p:cNvSpPr/>
          <p:nvPr/>
        </p:nvSpPr>
        <p:spPr>
          <a:xfrm>
            <a:off x="1776505" y="5197583"/>
            <a:ext cx="868083" cy="3576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7E681DF-8141-A67E-1203-2AC141AD7CF4}"/>
              </a:ext>
            </a:extLst>
          </p:cNvPr>
          <p:cNvSpPr/>
          <p:nvPr/>
        </p:nvSpPr>
        <p:spPr>
          <a:xfrm>
            <a:off x="7573605" y="5197582"/>
            <a:ext cx="868083" cy="3576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5D50FA0-8DAD-B366-CF7D-09B49FF66449}"/>
              </a:ext>
            </a:extLst>
          </p:cNvPr>
          <p:cNvSpPr txBox="1"/>
          <p:nvPr/>
        </p:nvSpPr>
        <p:spPr>
          <a:xfrm>
            <a:off x="9731787" y="3745428"/>
            <a:ext cx="2142633" cy="646331"/>
          </a:xfrm>
          <a:custGeom>
            <a:avLst/>
            <a:gdLst>
              <a:gd name="csX0" fmla="*/ 0 w 2142633"/>
              <a:gd name="csY0" fmla="*/ 0 h 646331"/>
              <a:gd name="csX1" fmla="*/ 514232 w 2142633"/>
              <a:gd name="csY1" fmla="*/ 0 h 646331"/>
              <a:gd name="csX2" fmla="*/ 985611 w 2142633"/>
              <a:gd name="csY2" fmla="*/ 0 h 646331"/>
              <a:gd name="csX3" fmla="*/ 1564122 w 2142633"/>
              <a:gd name="csY3" fmla="*/ 0 h 646331"/>
              <a:gd name="csX4" fmla="*/ 2142633 w 2142633"/>
              <a:gd name="csY4" fmla="*/ 0 h 646331"/>
              <a:gd name="csX5" fmla="*/ 2142633 w 2142633"/>
              <a:gd name="csY5" fmla="*/ 316702 h 646331"/>
              <a:gd name="csX6" fmla="*/ 2142633 w 2142633"/>
              <a:gd name="csY6" fmla="*/ 646331 h 646331"/>
              <a:gd name="csX7" fmla="*/ 1606975 w 2142633"/>
              <a:gd name="csY7" fmla="*/ 646331 h 646331"/>
              <a:gd name="csX8" fmla="*/ 1028464 w 2142633"/>
              <a:gd name="csY8" fmla="*/ 646331 h 646331"/>
              <a:gd name="csX9" fmla="*/ 557085 w 2142633"/>
              <a:gd name="csY9" fmla="*/ 646331 h 646331"/>
              <a:gd name="csX10" fmla="*/ 0 w 2142633"/>
              <a:gd name="csY10" fmla="*/ 646331 h 646331"/>
              <a:gd name="csX11" fmla="*/ 0 w 2142633"/>
              <a:gd name="csY11" fmla="*/ 323166 h 646331"/>
              <a:gd name="csX12" fmla="*/ 0 w 2142633"/>
              <a:gd name="csY12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142633" h="646331" extrusionOk="0">
                <a:moveTo>
                  <a:pt x="0" y="0"/>
                </a:moveTo>
                <a:cubicBezTo>
                  <a:pt x="110879" y="-20906"/>
                  <a:pt x="304534" y="45786"/>
                  <a:pt x="514232" y="0"/>
                </a:cubicBezTo>
                <a:cubicBezTo>
                  <a:pt x="723930" y="-45786"/>
                  <a:pt x="833145" y="13514"/>
                  <a:pt x="985611" y="0"/>
                </a:cubicBezTo>
                <a:cubicBezTo>
                  <a:pt x="1138077" y="-13514"/>
                  <a:pt x="1414895" y="49609"/>
                  <a:pt x="1564122" y="0"/>
                </a:cubicBezTo>
                <a:cubicBezTo>
                  <a:pt x="1713349" y="-49609"/>
                  <a:pt x="1895209" y="68351"/>
                  <a:pt x="2142633" y="0"/>
                </a:cubicBezTo>
                <a:cubicBezTo>
                  <a:pt x="2151316" y="66160"/>
                  <a:pt x="2117921" y="249942"/>
                  <a:pt x="2142633" y="316702"/>
                </a:cubicBezTo>
                <a:cubicBezTo>
                  <a:pt x="2167345" y="383462"/>
                  <a:pt x="2120792" y="564609"/>
                  <a:pt x="2142633" y="646331"/>
                </a:cubicBezTo>
                <a:cubicBezTo>
                  <a:pt x="2010113" y="651503"/>
                  <a:pt x="1717903" y="644272"/>
                  <a:pt x="1606975" y="646331"/>
                </a:cubicBezTo>
                <a:cubicBezTo>
                  <a:pt x="1496047" y="648390"/>
                  <a:pt x="1167551" y="606712"/>
                  <a:pt x="1028464" y="646331"/>
                </a:cubicBezTo>
                <a:cubicBezTo>
                  <a:pt x="889377" y="685950"/>
                  <a:pt x="770625" y="631095"/>
                  <a:pt x="557085" y="646331"/>
                </a:cubicBezTo>
                <a:cubicBezTo>
                  <a:pt x="343545" y="661567"/>
                  <a:pt x="251139" y="585746"/>
                  <a:pt x="0" y="646331"/>
                </a:cubicBezTo>
                <a:cubicBezTo>
                  <a:pt x="-5824" y="570951"/>
                  <a:pt x="1433" y="401953"/>
                  <a:pt x="0" y="323166"/>
                </a:cubicBezTo>
                <a:cubicBezTo>
                  <a:pt x="-1433" y="244380"/>
                  <a:pt x="23279" y="115607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One Action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One Outcome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BF9EC5-4F37-4952-DE4D-8E2178E1D6C3}"/>
              </a:ext>
            </a:extLst>
          </p:cNvPr>
          <p:cNvSpPr txBox="1"/>
          <p:nvPr/>
        </p:nvSpPr>
        <p:spPr>
          <a:xfrm>
            <a:off x="9748276" y="4533619"/>
            <a:ext cx="2142633" cy="369332"/>
          </a:xfrm>
          <a:custGeom>
            <a:avLst/>
            <a:gdLst>
              <a:gd name="csX0" fmla="*/ 0 w 2142633"/>
              <a:gd name="csY0" fmla="*/ 0 h 369332"/>
              <a:gd name="csX1" fmla="*/ 514232 w 2142633"/>
              <a:gd name="csY1" fmla="*/ 0 h 369332"/>
              <a:gd name="csX2" fmla="*/ 985611 w 2142633"/>
              <a:gd name="csY2" fmla="*/ 0 h 369332"/>
              <a:gd name="csX3" fmla="*/ 1564122 w 2142633"/>
              <a:gd name="csY3" fmla="*/ 0 h 369332"/>
              <a:gd name="csX4" fmla="*/ 2142633 w 2142633"/>
              <a:gd name="csY4" fmla="*/ 0 h 369332"/>
              <a:gd name="csX5" fmla="*/ 2142633 w 2142633"/>
              <a:gd name="csY5" fmla="*/ 369332 h 369332"/>
              <a:gd name="csX6" fmla="*/ 1649827 w 2142633"/>
              <a:gd name="csY6" fmla="*/ 369332 h 369332"/>
              <a:gd name="csX7" fmla="*/ 1157022 w 2142633"/>
              <a:gd name="csY7" fmla="*/ 369332 h 369332"/>
              <a:gd name="csX8" fmla="*/ 578511 w 2142633"/>
              <a:gd name="csY8" fmla="*/ 369332 h 369332"/>
              <a:gd name="csX9" fmla="*/ 0 w 2142633"/>
              <a:gd name="csY9" fmla="*/ 369332 h 369332"/>
              <a:gd name="csX10" fmla="*/ 0 w 2142633"/>
              <a:gd name="csY10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142633" h="369332" extrusionOk="0">
                <a:moveTo>
                  <a:pt x="0" y="0"/>
                </a:moveTo>
                <a:cubicBezTo>
                  <a:pt x="110879" y="-20906"/>
                  <a:pt x="304534" y="45786"/>
                  <a:pt x="514232" y="0"/>
                </a:cubicBezTo>
                <a:cubicBezTo>
                  <a:pt x="723930" y="-45786"/>
                  <a:pt x="833145" y="13514"/>
                  <a:pt x="985611" y="0"/>
                </a:cubicBezTo>
                <a:cubicBezTo>
                  <a:pt x="1138077" y="-13514"/>
                  <a:pt x="1414895" y="49609"/>
                  <a:pt x="1564122" y="0"/>
                </a:cubicBezTo>
                <a:cubicBezTo>
                  <a:pt x="1713349" y="-49609"/>
                  <a:pt x="1895209" y="68351"/>
                  <a:pt x="2142633" y="0"/>
                </a:cubicBezTo>
                <a:cubicBezTo>
                  <a:pt x="2163432" y="91456"/>
                  <a:pt x="2127553" y="211595"/>
                  <a:pt x="2142633" y="369332"/>
                </a:cubicBezTo>
                <a:cubicBezTo>
                  <a:pt x="1936138" y="426321"/>
                  <a:pt x="1768729" y="366680"/>
                  <a:pt x="1649827" y="369332"/>
                </a:cubicBezTo>
                <a:cubicBezTo>
                  <a:pt x="1530925" y="371984"/>
                  <a:pt x="1381504" y="351107"/>
                  <a:pt x="1157022" y="369332"/>
                </a:cubicBezTo>
                <a:cubicBezTo>
                  <a:pt x="932541" y="387557"/>
                  <a:pt x="717598" y="329713"/>
                  <a:pt x="578511" y="369332"/>
                </a:cubicBezTo>
                <a:cubicBezTo>
                  <a:pt x="439424" y="408951"/>
                  <a:pt x="239348" y="359932"/>
                  <a:pt x="0" y="369332"/>
                </a:cubicBezTo>
                <a:cubicBezTo>
                  <a:pt x="-29239" y="231265"/>
                  <a:pt x="21229" y="17578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No uncertainty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B651DE7-8019-B2D6-0AC4-9B4264564B66}"/>
              </a:ext>
            </a:extLst>
          </p:cNvPr>
          <p:cNvGrpSpPr/>
          <p:nvPr/>
        </p:nvGrpSpPr>
        <p:grpSpPr>
          <a:xfrm>
            <a:off x="669036" y="1924776"/>
            <a:ext cx="2766026" cy="369332"/>
            <a:chOff x="838200" y="1690688"/>
            <a:chExt cx="2766026" cy="369332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D4F57D3-1302-70E1-19EA-E55BABB91BD7}"/>
                </a:ext>
              </a:extLst>
            </p:cNvPr>
            <p:cNvSpPr txBox="1"/>
            <p:nvPr/>
          </p:nvSpPr>
          <p:spPr>
            <a:xfrm>
              <a:off x="838200" y="1690688"/>
              <a:ext cx="101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Actions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B836AAA8-3005-F510-0394-46AA31FD5752}"/>
                    </a:ext>
                  </a:extLst>
                </p:cNvPr>
                <p:cNvSpPr txBox="1"/>
                <p:nvPr/>
              </p:nvSpPr>
              <p:spPr>
                <a:xfrm>
                  <a:off x="2156843" y="1734658"/>
                  <a:ext cx="144738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0, 1, 2, 3</m:t>
                            </m:r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B836AAA8-3005-F510-0394-46AA31FD57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6843" y="1734658"/>
                  <a:ext cx="1447383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376" b="-6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DF904752-B9BF-8E62-54EB-FD20E47C2B7D}"/>
              </a:ext>
            </a:extLst>
          </p:cNvPr>
          <p:cNvSpPr txBox="1"/>
          <p:nvPr/>
        </p:nvSpPr>
        <p:spPr>
          <a:xfrm>
            <a:off x="4186517" y="1922579"/>
            <a:ext cx="33079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Number of chapters studied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36E95C-6D1A-9BDB-4CA0-E22E4055D813}"/>
              </a:ext>
            </a:extLst>
          </p:cNvPr>
          <p:cNvSpPr txBox="1"/>
          <p:nvPr/>
        </p:nvSpPr>
        <p:spPr>
          <a:xfrm>
            <a:off x="7784198" y="1920871"/>
            <a:ext cx="22117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Discrete action set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6EB94E4-3C1D-0E19-564D-F922883D21A1}"/>
              </a:ext>
            </a:extLst>
          </p:cNvPr>
          <p:cNvSpPr/>
          <p:nvPr/>
        </p:nvSpPr>
        <p:spPr>
          <a:xfrm>
            <a:off x="2276061" y="5605670"/>
            <a:ext cx="5606327" cy="387964"/>
          </a:xfrm>
          <a:custGeom>
            <a:avLst/>
            <a:gdLst>
              <a:gd name="csX0" fmla="*/ 0 w 5606327"/>
              <a:gd name="csY0" fmla="*/ 49695 h 387964"/>
              <a:gd name="csX1" fmla="*/ 29817 w 5606327"/>
              <a:gd name="csY1" fmla="*/ 99391 h 387964"/>
              <a:gd name="csX2" fmla="*/ 69574 w 5606327"/>
              <a:gd name="csY2" fmla="*/ 149087 h 387964"/>
              <a:gd name="csX3" fmla="*/ 89452 w 5606327"/>
              <a:gd name="csY3" fmla="*/ 198782 h 387964"/>
              <a:gd name="csX4" fmla="*/ 129209 w 5606327"/>
              <a:gd name="csY4" fmla="*/ 238539 h 387964"/>
              <a:gd name="csX5" fmla="*/ 149087 w 5606327"/>
              <a:gd name="csY5" fmla="*/ 268356 h 387964"/>
              <a:gd name="csX6" fmla="*/ 198782 w 5606327"/>
              <a:gd name="csY6" fmla="*/ 298173 h 387964"/>
              <a:gd name="csX7" fmla="*/ 347869 w 5606327"/>
              <a:gd name="csY7" fmla="*/ 347869 h 387964"/>
              <a:gd name="csX8" fmla="*/ 397565 w 5606327"/>
              <a:gd name="csY8" fmla="*/ 367747 h 387964"/>
              <a:gd name="csX9" fmla="*/ 934278 w 5606327"/>
              <a:gd name="csY9" fmla="*/ 367747 h 387964"/>
              <a:gd name="csX10" fmla="*/ 1282148 w 5606327"/>
              <a:gd name="csY10" fmla="*/ 377687 h 387964"/>
              <a:gd name="csX11" fmla="*/ 1590261 w 5606327"/>
              <a:gd name="csY11" fmla="*/ 387626 h 387964"/>
              <a:gd name="csX12" fmla="*/ 2216426 w 5606327"/>
              <a:gd name="csY12" fmla="*/ 357808 h 387964"/>
              <a:gd name="csX13" fmla="*/ 4065104 w 5606327"/>
              <a:gd name="csY13" fmla="*/ 357808 h 387964"/>
              <a:gd name="csX14" fmla="*/ 4144617 w 5606327"/>
              <a:gd name="csY14" fmla="*/ 347869 h 387964"/>
              <a:gd name="csX15" fmla="*/ 4363278 w 5606327"/>
              <a:gd name="csY15" fmla="*/ 337930 h 387964"/>
              <a:gd name="csX16" fmla="*/ 4691269 w 5606327"/>
              <a:gd name="csY16" fmla="*/ 318052 h 387964"/>
              <a:gd name="csX17" fmla="*/ 4800600 w 5606327"/>
              <a:gd name="csY17" fmla="*/ 298173 h 387964"/>
              <a:gd name="csX18" fmla="*/ 4890052 w 5606327"/>
              <a:gd name="csY18" fmla="*/ 288234 h 387964"/>
              <a:gd name="csX19" fmla="*/ 4969565 w 5606327"/>
              <a:gd name="csY19" fmla="*/ 258417 h 387964"/>
              <a:gd name="csX20" fmla="*/ 5049078 w 5606327"/>
              <a:gd name="csY20" fmla="*/ 238539 h 387964"/>
              <a:gd name="csX21" fmla="*/ 5108713 w 5606327"/>
              <a:gd name="csY21" fmla="*/ 208721 h 387964"/>
              <a:gd name="csX22" fmla="*/ 5247861 w 5606327"/>
              <a:gd name="csY22" fmla="*/ 188843 h 387964"/>
              <a:gd name="csX23" fmla="*/ 5396948 w 5606327"/>
              <a:gd name="csY23" fmla="*/ 139147 h 387964"/>
              <a:gd name="csX24" fmla="*/ 5436704 w 5606327"/>
              <a:gd name="csY24" fmla="*/ 119269 h 387964"/>
              <a:gd name="csX25" fmla="*/ 5546035 w 5606327"/>
              <a:gd name="csY25" fmla="*/ 69573 h 387964"/>
              <a:gd name="csX26" fmla="*/ 5605669 w 5606327"/>
              <a:gd name="csY26" fmla="*/ 9939 h 387964"/>
              <a:gd name="csX27" fmla="*/ 5605669 w 5606327"/>
              <a:gd name="csY27" fmla="*/ 0 h 387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5606327" h="387964">
                <a:moveTo>
                  <a:pt x="0" y="49695"/>
                </a:moveTo>
                <a:cubicBezTo>
                  <a:pt x="9939" y="66260"/>
                  <a:pt x="18739" y="83565"/>
                  <a:pt x="29817" y="99391"/>
                </a:cubicBezTo>
                <a:cubicBezTo>
                  <a:pt x="41982" y="116770"/>
                  <a:pt x="58659" y="130896"/>
                  <a:pt x="69574" y="149087"/>
                </a:cubicBezTo>
                <a:cubicBezTo>
                  <a:pt x="78753" y="164386"/>
                  <a:pt x="79556" y="183937"/>
                  <a:pt x="89452" y="198782"/>
                </a:cubicBezTo>
                <a:cubicBezTo>
                  <a:pt x="99848" y="214376"/>
                  <a:pt x="117012" y="224309"/>
                  <a:pt x="129209" y="238539"/>
                </a:cubicBezTo>
                <a:cubicBezTo>
                  <a:pt x="136983" y="247608"/>
                  <a:pt x="140018" y="260582"/>
                  <a:pt x="149087" y="268356"/>
                </a:cubicBezTo>
                <a:cubicBezTo>
                  <a:pt x="163754" y="280928"/>
                  <a:pt x="181504" y="289534"/>
                  <a:pt x="198782" y="298173"/>
                </a:cubicBezTo>
                <a:cubicBezTo>
                  <a:pt x="288673" y="343118"/>
                  <a:pt x="267152" y="334416"/>
                  <a:pt x="347869" y="347869"/>
                </a:cubicBezTo>
                <a:cubicBezTo>
                  <a:pt x="364434" y="354495"/>
                  <a:pt x="379995" y="364646"/>
                  <a:pt x="397565" y="367747"/>
                </a:cubicBezTo>
                <a:cubicBezTo>
                  <a:pt x="535582" y="392103"/>
                  <a:pt x="895477" y="368671"/>
                  <a:pt x="934278" y="367747"/>
                </a:cubicBezTo>
                <a:lnTo>
                  <a:pt x="1282148" y="377687"/>
                </a:lnTo>
                <a:cubicBezTo>
                  <a:pt x="1384859" y="380800"/>
                  <a:pt x="1487526" y="389812"/>
                  <a:pt x="1590261" y="387626"/>
                </a:cubicBezTo>
                <a:cubicBezTo>
                  <a:pt x="1799172" y="383181"/>
                  <a:pt x="2007704" y="367747"/>
                  <a:pt x="2216426" y="357808"/>
                </a:cubicBezTo>
                <a:cubicBezTo>
                  <a:pt x="3089054" y="367613"/>
                  <a:pt x="3169418" y="374868"/>
                  <a:pt x="4065104" y="357808"/>
                </a:cubicBezTo>
                <a:cubicBezTo>
                  <a:pt x="4091810" y="357299"/>
                  <a:pt x="4117966" y="349646"/>
                  <a:pt x="4144617" y="347869"/>
                </a:cubicBezTo>
                <a:cubicBezTo>
                  <a:pt x="4217418" y="343016"/>
                  <a:pt x="4290424" y="341904"/>
                  <a:pt x="4363278" y="337930"/>
                </a:cubicBezTo>
                <a:lnTo>
                  <a:pt x="4691269" y="318052"/>
                </a:lnTo>
                <a:cubicBezTo>
                  <a:pt x="4727713" y="311426"/>
                  <a:pt x="4763969" y="303668"/>
                  <a:pt x="4800600" y="298173"/>
                </a:cubicBezTo>
                <a:cubicBezTo>
                  <a:pt x="4830269" y="293723"/>
                  <a:pt x="4860849" y="295105"/>
                  <a:pt x="4890052" y="288234"/>
                </a:cubicBezTo>
                <a:cubicBezTo>
                  <a:pt x="4917606" y="281751"/>
                  <a:pt x="4942547" y="266860"/>
                  <a:pt x="4969565" y="258417"/>
                </a:cubicBezTo>
                <a:cubicBezTo>
                  <a:pt x="4995641" y="250268"/>
                  <a:pt x="5022574" y="245165"/>
                  <a:pt x="5049078" y="238539"/>
                </a:cubicBezTo>
                <a:cubicBezTo>
                  <a:pt x="5068956" y="228600"/>
                  <a:pt x="5087629" y="215749"/>
                  <a:pt x="5108713" y="208721"/>
                </a:cubicBezTo>
                <a:cubicBezTo>
                  <a:pt x="5125909" y="202989"/>
                  <a:pt x="5239522" y="189885"/>
                  <a:pt x="5247861" y="188843"/>
                </a:cubicBezTo>
                <a:cubicBezTo>
                  <a:pt x="5362937" y="142813"/>
                  <a:pt x="5312263" y="156085"/>
                  <a:pt x="5396948" y="139147"/>
                </a:cubicBezTo>
                <a:cubicBezTo>
                  <a:pt x="5410200" y="132521"/>
                  <a:pt x="5423165" y="125286"/>
                  <a:pt x="5436704" y="119269"/>
                </a:cubicBezTo>
                <a:cubicBezTo>
                  <a:pt x="5488123" y="96416"/>
                  <a:pt x="5494001" y="100794"/>
                  <a:pt x="5546035" y="69573"/>
                </a:cubicBezTo>
                <a:cubicBezTo>
                  <a:pt x="5575668" y="51793"/>
                  <a:pt x="5590793" y="39691"/>
                  <a:pt x="5605669" y="9939"/>
                </a:cubicBezTo>
                <a:cubicBezTo>
                  <a:pt x="5607151" y="6976"/>
                  <a:pt x="5605669" y="3313"/>
                  <a:pt x="5605669" y="0"/>
                </a:cubicBezTo>
              </a:path>
            </a:pathLst>
          </a:custGeom>
          <a:noFill/>
          <a:ln>
            <a:headEnd type="stealth" w="lg" len="lg"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29F190E-673C-D562-DA96-85A431B17B04}"/>
              </a:ext>
            </a:extLst>
          </p:cNvPr>
          <p:cNvSpPr/>
          <p:nvPr/>
        </p:nvSpPr>
        <p:spPr>
          <a:xfrm>
            <a:off x="195834" y="154211"/>
            <a:ext cx="1115568" cy="32004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adley Hand ITC" panose="03070402050302030203" pitchFamily="66" charset="0"/>
                <a:ea typeface="+mn-ea"/>
                <a:cs typeface="+mn-cs"/>
              </a:rPr>
              <a:t>REVIEW</a:t>
            </a:r>
          </a:p>
        </p:txBody>
      </p:sp>
      <p:pic>
        <p:nvPicPr>
          <p:cNvPr id="5" name="Picture 4" descr="A head with gears in it&#10;&#10;Description automatically generated">
            <a:extLst>
              <a:ext uri="{FF2B5EF4-FFF2-40B4-BE49-F238E27FC236}">
                <a16:creationId xmlns:a16="http://schemas.microsoft.com/office/drawing/2014/main" id="{8A60F1F7-162F-82CB-EFB6-6B464BE4C2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1323" y="5992056"/>
            <a:ext cx="733519" cy="73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103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 animBg="1"/>
      <p:bldP spid="24" grpId="0" animBg="1"/>
      <p:bldP spid="25" grpId="0" animBg="1"/>
      <p:bldP spid="33" grpId="0" animBg="1"/>
      <p:bldP spid="34" grpId="0" animBg="1"/>
      <p:bldP spid="45" grpId="0" animBg="1"/>
      <p:bldP spid="46" grpId="0" animBg="1"/>
      <p:bldP spid="50" grpId="0"/>
      <p:bldP spid="51" grpId="0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93B91E-40B0-8D5E-98D9-0D49C2D49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234B818-B716-C7F2-F7AD-0ACA607E2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4997EBA3-DF23-BB11-4860-7E59F73B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F8A191D-C9A8-4392-771A-F8538A494FE3}"/>
              </a:ext>
            </a:extLst>
          </p:cNvPr>
          <p:cNvGrpSpPr/>
          <p:nvPr/>
        </p:nvGrpSpPr>
        <p:grpSpPr>
          <a:xfrm>
            <a:off x="669036" y="1924776"/>
            <a:ext cx="2766026" cy="369332"/>
            <a:chOff x="838200" y="1690688"/>
            <a:chExt cx="2766026" cy="36933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5C109FA-8143-993B-FBF2-F0F5C66F53F3}"/>
                </a:ext>
              </a:extLst>
            </p:cNvPr>
            <p:cNvSpPr txBox="1"/>
            <p:nvPr/>
          </p:nvSpPr>
          <p:spPr>
            <a:xfrm>
              <a:off x="838200" y="1690688"/>
              <a:ext cx="101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Actions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40FAE187-B691-DC82-7B3F-5E807B6CB788}"/>
                    </a:ext>
                  </a:extLst>
                </p:cNvPr>
                <p:cNvSpPr txBox="1"/>
                <p:nvPr/>
              </p:nvSpPr>
              <p:spPr>
                <a:xfrm>
                  <a:off x="2156843" y="1734658"/>
                  <a:ext cx="144738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0, 1, 2, 3</m:t>
                            </m:r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40FAE187-B691-DC82-7B3F-5E807B6CB7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6843" y="1734658"/>
                  <a:ext cx="1447383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3376" b="-6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02997ED-FFB7-11FC-031F-1FA01FCE39E8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60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0FB1DCA4-036F-62EC-2FEC-7B4F93D042E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E3316AD-3257-CF28-005C-69B4D0C0B3C4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EXAMPLE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5E040EB-CFCF-AC95-5778-A4A205825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DECISION PROBLEM</a:t>
            </a:r>
            <a:br>
              <a:rPr lang="en-US" sz="5400" dirty="0"/>
            </a:br>
            <a:r>
              <a:rPr lang="en-US" sz="5400" dirty="0"/>
              <a:t>Exam Prep &amp; Grades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CF539E-8C78-402B-38E7-7360ED53D315}"/>
              </a:ext>
            </a:extLst>
          </p:cNvPr>
          <p:cNvSpPr txBox="1"/>
          <p:nvPr/>
        </p:nvSpPr>
        <p:spPr>
          <a:xfrm>
            <a:off x="4186517" y="1922579"/>
            <a:ext cx="33079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Number of chapters studied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6824AD-9DD1-74F0-B04F-7B391EA22B97}"/>
              </a:ext>
            </a:extLst>
          </p:cNvPr>
          <p:cNvSpPr txBox="1"/>
          <p:nvPr/>
        </p:nvSpPr>
        <p:spPr>
          <a:xfrm>
            <a:off x="1553719" y="1372428"/>
            <a:ext cx="20887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Chapters: 1, 2,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E4A15D-F885-2A0A-3E15-FB0A63AEE713}"/>
              </a:ext>
            </a:extLst>
          </p:cNvPr>
          <p:cNvSpPr txBox="1"/>
          <p:nvPr/>
        </p:nvSpPr>
        <p:spPr>
          <a:xfrm>
            <a:off x="4696362" y="1379105"/>
            <a:ext cx="1603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A, B, C, D, 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63E5B9-C75D-D98A-C3F6-FC2E113BCB2E}"/>
              </a:ext>
            </a:extLst>
          </p:cNvPr>
          <p:cNvSpPr txBox="1"/>
          <p:nvPr/>
        </p:nvSpPr>
        <p:spPr>
          <a:xfrm>
            <a:off x="555812" y="2729802"/>
            <a:ext cx="1129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2.1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50F614-C416-67E7-D78B-51B4C8959876}"/>
              </a:ext>
            </a:extLst>
          </p:cNvPr>
          <p:cNvSpPr txBox="1"/>
          <p:nvPr/>
        </p:nvSpPr>
        <p:spPr>
          <a:xfrm>
            <a:off x="1628266" y="2729802"/>
            <a:ext cx="4355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Each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leads to multiple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outcomes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1CF51B-9F1C-48E8-870D-86ABAC689813}"/>
              </a:ext>
            </a:extLst>
          </p:cNvPr>
          <p:cNvSpPr txBox="1"/>
          <p:nvPr/>
        </p:nvSpPr>
        <p:spPr>
          <a:xfrm>
            <a:off x="6823641" y="2729801"/>
            <a:ext cx="3581185" cy="369332"/>
          </a:xfrm>
          <a:custGeom>
            <a:avLst/>
            <a:gdLst>
              <a:gd name="csX0" fmla="*/ 0 w 3581185"/>
              <a:gd name="csY0" fmla="*/ 0 h 369332"/>
              <a:gd name="csX1" fmla="*/ 668488 w 3581185"/>
              <a:gd name="csY1" fmla="*/ 0 h 369332"/>
              <a:gd name="csX2" fmla="*/ 1301164 w 3581185"/>
              <a:gd name="csY2" fmla="*/ 0 h 369332"/>
              <a:gd name="csX3" fmla="*/ 1933840 w 3581185"/>
              <a:gd name="csY3" fmla="*/ 0 h 369332"/>
              <a:gd name="csX4" fmla="*/ 2423269 w 3581185"/>
              <a:gd name="csY4" fmla="*/ 0 h 369332"/>
              <a:gd name="csX5" fmla="*/ 2948509 w 3581185"/>
              <a:gd name="csY5" fmla="*/ 0 h 369332"/>
              <a:gd name="csX6" fmla="*/ 3581185 w 3581185"/>
              <a:gd name="csY6" fmla="*/ 0 h 369332"/>
              <a:gd name="csX7" fmla="*/ 3581185 w 3581185"/>
              <a:gd name="csY7" fmla="*/ 369332 h 369332"/>
              <a:gd name="csX8" fmla="*/ 2984321 w 3581185"/>
              <a:gd name="csY8" fmla="*/ 369332 h 369332"/>
              <a:gd name="csX9" fmla="*/ 2494892 w 3581185"/>
              <a:gd name="csY9" fmla="*/ 369332 h 369332"/>
              <a:gd name="csX10" fmla="*/ 2005464 w 3581185"/>
              <a:gd name="csY10" fmla="*/ 369332 h 369332"/>
              <a:gd name="csX11" fmla="*/ 1372788 w 3581185"/>
              <a:gd name="csY11" fmla="*/ 369332 h 369332"/>
              <a:gd name="csX12" fmla="*/ 847547 w 3581185"/>
              <a:gd name="csY12" fmla="*/ 369332 h 369332"/>
              <a:gd name="csX13" fmla="*/ 0 w 3581185"/>
              <a:gd name="csY13" fmla="*/ 369332 h 369332"/>
              <a:gd name="csX14" fmla="*/ 0 w 3581185"/>
              <a:gd name="csY1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581185" h="369332" fill="none" extrusionOk="0">
                <a:moveTo>
                  <a:pt x="0" y="0"/>
                </a:moveTo>
                <a:cubicBezTo>
                  <a:pt x="226137" y="-54471"/>
                  <a:pt x="357444" y="34301"/>
                  <a:pt x="668488" y="0"/>
                </a:cubicBezTo>
                <a:cubicBezTo>
                  <a:pt x="979532" y="-34301"/>
                  <a:pt x="1132443" y="47940"/>
                  <a:pt x="1301164" y="0"/>
                </a:cubicBezTo>
                <a:cubicBezTo>
                  <a:pt x="1469885" y="-47940"/>
                  <a:pt x="1771418" y="48375"/>
                  <a:pt x="1933840" y="0"/>
                </a:cubicBezTo>
                <a:cubicBezTo>
                  <a:pt x="2096262" y="-48375"/>
                  <a:pt x="2262334" y="13931"/>
                  <a:pt x="2423269" y="0"/>
                </a:cubicBezTo>
                <a:cubicBezTo>
                  <a:pt x="2584204" y="-13931"/>
                  <a:pt x="2766475" y="52781"/>
                  <a:pt x="2948509" y="0"/>
                </a:cubicBezTo>
                <a:cubicBezTo>
                  <a:pt x="3130543" y="-52781"/>
                  <a:pt x="3382216" y="29870"/>
                  <a:pt x="3581185" y="0"/>
                </a:cubicBezTo>
                <a:cubicBezTo>
                  <a:pt x="3600716" y="147089"/>
                  <a:pt x="3539967" y="212636"/>
                  <a:pt x="3581185" y="369332"/>
                </a:cubicBezTo>
                <a:cubicBezTo>
                  <a:pt x="3301882" y="399918"/>
                  <a:pt x="3184752" y="364752"/>
                  <a:pt x="2984321" y="369332"/>
                </a:cubicBezTo>
                <a:cubicBezTo>
                  <a:pt x="2783890" y="373912"/>
                  <a:pt x="2683600" y="363332"/>
                  <a:pt x="2494892" y="369332"/>
                </a:cubicBezTo>
                <a:cubicBezTo>
                  <a:pt x="2306184" y="375332"/>
                  <a:pt x="2244975" y="362490"/>
                  <a:pt x="2005464" y="369332"/>
                </a:cubicBezTo>
                <a:cubicBezTo>
                  <a:pt x="1765953" y="376174"/>
                  <a:pt x="1635487" y="348036"/>
                  <a:pt x="1372788" y="369332"/>
                </a:cubicBezTo>
                <a:cubicBezTo>
                  <a:pt x="1110089" y="390628"/>
                  <a:pt x="1052810" y="313771"/>
                  <a:pt x="847547" y="369332"/>
                </a:cubicBezTo>
                <a:cubicBezTo>
                  <a:pt x="642284" y="424893"/>
                  <a:pt x="289961" y="304208"/>
                  <a:pt x="0" y="369332"/>
                </a:cubicBezTo>
                <a:cubicBezTo>
                  <a:pt x="-34692" y="235166"/>
                  <a:pt x="26681" y="80336"/>
                  <a:pt x="0" y="0"/>
                </a:cubicBezTo>
                <a:close/>
              </a:path>
              <a:path w="3581185" h="369332" stroke="0" extrusionOk="0">
                <a:moveTo>
                  <a:pt x="0" y="0"/>
                </a:moveTo>
                <a:cubicBezTo>
                  <a:pt x="129900" y="-19001"/>
                  <a:pt x="430746" y="13814"/>
                  <a:pt x="561052" y="0"/>
                </a:cubicBezTo>
                <a:cubicBezTo>
                  <a:pt x="691358" y="-13814"/>
                  <a:pt x="928679" y="31419"/>
                  <a:pt x="1050481" y="0"/>
                </a:cubicBezTo>
                <a:cubicBezTo>
                  <a:pt x="1172283" y="-31419"/>
                  <a:pt x="1522368" y="30743"/>
                  <a:pt x="1718969" y="0"/>
                </a:cubicBezTo>
                <a:cubicBezTo>
                  <a:pt x="1915570" y="-30743"/>
                  <a:pt x="2110215" y="52267"/>
                  <a:pt x="2280021" y="0"/>
                </a:cubicBezTo>
                <a:cubicBezTo>
                  <a:pt x="2449827" y="-52267"/>
                  <a:pt x="2592938" y="54208"/>
                  <a:pt x="2841073" y="0"/>
                </a:cubicBezTo>
                <a:cubicBezTo>
                  <a:pt x="3089208" y="-54208"/>
                  <a:pt x="3293296" y="86582"/>
                  <a:pt x="3581185" y="0"/>
                </a:cubicBezTo>
                <a:cubicBezTo>
                  <a:pt x="3602864" y="103222"/>
                  <a:pt x="3548024" y="284950"/>
                  <a:pt x="3581185" y="369332"/>
                </a:cubicBezTo>
                <a:cubicBezTo>
                  <a:pt x="3362327" y="407541"/>
                  <a:pt x="3104279" y="303833"/>
                  <a:pt x="2984321" y="369332"/>
                </a:cubicBezTo>
                <a:cubicBezTo>
                  <a:pt x="2864363" y="434831"/>
                  <a:pt x="2656737" y="359045"/>
                  <a:pt x="2494892" y="369332"/>
                </a:cubicBezTo>
                <a:cubicBezTo>
                  <a:pt x="2333047" y="379619"/>
                  <a:pt x="2114110" y="312210"/>
                  <a:pt x="1898028" y="369332"/>
                </a:cubicBezTo>
                <a:cubicBezTo>
                  <a:pt x="1681946" y="426454"/>
                  <a:pt x="1421091" y="347263"/>
                  <a:pt x="1301164" y="369332"/>
                </a:cubicBezTo>
                <a:cubicBezTo>
                  <a:pt x="1181237" y="391401"/>
                  <a:pt x="992038" y="324318"/>
                  <a:pt x="740112" y="369332"/>
                </a:cubicBezTo>
                <a:cubicBezTo>
                  <a:pt x="488186" y="414346"/>
                  <a:pt x="346109" y="353151"/>
                  <a:pt x="0" y="369332"/>
                </a:cubicBezTo>
                <a:cubicBezTo>
                  <a:pt x="-8026" y="274434"/>
                  <a:pt x="20480" y="124469"/>
                  <a:pt x="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Outcomes are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random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variables.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A5AF5643-37BC-316D-C7C6-B13B0B8FF391}"/>
              </a:ext>
            </a:extLst>
          </p:cNvPr>
          <p:cNvSpPr/>
          <p:nvPr/>
        </p:nvSpPr>
        <p:spPr>
          <a:xfrm>
            <a:off x="5986899" y="2824700"/>
            <a:ext cx="627530" cy="179535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DCF518-A031-241B-F2F8-147B79562CAD}"/>
              </a:ext>
            </a:extLst>
          </p:cNvPr>
          <p:cNvSpPr txBox="1"/>
          <p:nvPr/>
        </p:nvSpPr>
        <p:spPr>
          <a:xfrm>
            <a:off x="7353409" y="1132680"/>
            <a:ext cx="4169555" cy="338554"/>
          </a:xfrm>
          <a:custGeom>
            <a:avLst/>
            <a:gdLst>
              <a:gd name="csX0" fmla="*/ 0 w 4169555"/>
              <a:gd name="csY0" fmla="*/ 0 h 338554"/>
              <a:gd name="csX1" fmla="*/ 553955 w 4169555"/>
              <a:gd name="csY1" fmla="*/ 0 h 338554"/>
              <a:gd name="csX2" fmla="*/ 1024519 w 4169555"/>
              <a:gd name="csY2" fmla="*/ 0 h 338554"/>
              <a:gd name="csX3" fmla="*/ 1536779 w 4169555"/>
              <a:gd name="csY3" fmla="*/ 0 h 338554"/>
              <a:gd name="csX4" fmla="*/ 2174125 w 4169555"/>
              <a:gd name="csY4" fmla="*/ 0 h 338554"/>
              <a:gd name="csX5" fmla="*/ 2728080 w 4169555"/>
              <a:gd name="csY5" fmla="*/ 0 h 338554"/>
              <a:gd name="csX6" fmla="*/ 3240340 w 4169555"/>
              <a:gd name="csY6" fmla="*/ 0 h 338554"/>
              <a:gd name="csX7" fmla="*/ 4169555 w 4169555"/>
              <a:gd name="csY7" fmla="*/ 0 h 338554"/>
              <a:gd name="csX8" fmla="*/ 4169555 w 4169555"/>
              <a:gd name="csY8" fmla="*/ 338554 h 338554"/>
              <a:gd name="csX9" fmla="*/ 3573904 w 4169555"/>
              <a:gd name="csY9" fmla="*/ 338554 h 338554"/>
              <a:gd name="csX10" fmla="*/ 3061645 w 4169555"/>
              <a:gd name="csY10" fmla="*/ 338554 h 338554"/>
              <a:gd name="csX11" fmla="*/ 2382603 w 4169555"/>
              <a:gd name="csY11" fmla="*/ 338554 h 338554"/>
              <a:gd name="csX12" fmla="*/ 1828648 w 4169555"/>
              <a:gd name="csY12" fmla="*/ 338554 h 338554"/>
              <a:gd name="csX13" fmla="*/ 1358084 w 4169555"/>
              <a:gd name="csY13" fmla="*/ 338554 h 338554"/>
              <a:gd name="csX14" fmla="*/ 720737 w 4169555"/>
              <a:gd name="csY14" fmla="*/ 338554 h 338554"/>
              <a:gd name="csX15" fmla="*/ 0 w 4169555"/>
              <a:gd name="csY15" fmla="*/ 338554 h 338554"/>
              <a:gd name="csX16" fmla="*/ 0 w 4169555"/>
              <a:gd name="csY16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169555" h="338554" fill="none" extrusionOk="0">
                <a:moveTo>
                  <a:pt x="0" y="0"/>
                </a:moveTo>
                <a:cubicBezTo>
                  <a:pt x="184610" y="-15352"/>
                  <a:pt x="306860" y="60898"/>
                  <a:pt x="553955" y="0"/>
                </a:cubicBezTo>
                <a:cubicBezTo>
                  <a:pt x="801050" y="-60898"/>
                  <a:pt x="861241" y="3755"/>
                  <a:pt x="1024519" y="0"/>
                </a:cubicBezTo>
                <a:cubicBezTo>
                  <a:pt x="1187797" y="-3755"/>
                  <a:pt x="1401197" y="59508"/>
                  <a:pt x="1536779" y="0"/>
                </a:cubicBezTo>
                <a:cubicBezTo>
                  <a:pt x="1672361" y="-59508"/>
                  <a:pt x="1971294" y="11931"/>
                  <a:pt x="2174125" y="0"/>
                </a:cubicBezTo>
                <a:cubicBezTo>
                  <a:pt x="2376956" y="-11931"/>
                  <a:pt x="2557745" y="22242"/>
                  <a:pt x="2728080" y="0"/>
                </a:cubicBezTo>
                <a:cubicBezTo>
                  <a:pt x="2898416" y="-22242"/>
                  <a:pt x="3043738" y="46711"/>
                  <a:pt x="3240340" y="0"/>
                </a:cubicBezTo>
                <a:cubicBezTo>
                  <a:pt x="3436942" y="-46711"/>
                  <a:pt x="3865190" y="7744"/>
                  <a:pt x="4169555" y="0"/>
                </a:cubicBezTo>
                <a:cubicBezTo>
                  <a:pt x="4206395" y="96079"/>
                  <a:pt x="4154943" y="248329"/>
                  <a:pt x="4169555" y="338554"/>
                </a:cubicBezTo>
                <a:cubicBezTo>
                  <a:pt x="3980034" y="406521"/>
                  <a:pt x="3696700" y="289803"/>
                  <a:pt x="3573904" y="338554"/>
                </a:cubicBezTo>
                <a:cubicBezTo>
                  <a:pt x="3451108" y="387305"/>
                  <a:pt x="3197139" y="284421"/>
                  <a:pt x="3061645" y="338554"/>
                </a:cubicBezTo>
                <a:cubicBezTo>
                  <a:pt x="2926151" y="392687"/>
                  <a:pt x="2585699" y="273170"/>
                  <a:pt x="2382603" y="338554"/>
                </a:cubicBezTo>
                <a:cubicBezTo>
                  <a:pt x="2179507" y="403938"/>
                  <a:pt x="1953581" y="303012"/>
                  <a:pt x="1828648" y="338554"/>
                </a:cubicBezTo>
                <a:cubicBezTo>
                  <a:pt x="1703715" y="374096"/>
                  <a:pt x="1518427" y="288139"/>
                  <a:pt x="1358084" y="338554"/>
                </a:cubicBezTo>
                <a:cubicBezTo>
                  <a:pt x="1197741" y="388969"/>
                  <a:pt x="955095" y="304869"/>
                  <a:pt x="720737" y="338554"/>
                </a:cubicBezTo>
                <a:cubicBezTo>
                  <a:pt x="486379" y="372239"/>
                  <a:pt x="309096" y="300612"/>
                  <a:pt x="0" y="338554"/>
                </a:cubicBezTo>
                <a:cubicBezTo>
                  <a:pt x="-38409" y="218503"/>
                  <a:pt x="36533" y="148226"/>
                  <a:pt x="0" y="0"/>
                </a:cubicBezTo>
                <a:close/>
              </a:path>
              <a:path w="4169555" h="338554" stroke="0" extrusionOk="0">
                <a:moveTo>
                  <a:pt x="0" y="0"/>
                </a:moveTo>
                <a:cubicBezTo>
                  <a:pt x="123686" y="-57714"/>
                  <a:pt x="289115" y="45504"/>
                  <a:pt x="553955" y="0"/>
                </a:cubicBezTo>
                <a:cubicBezTo>
                  <a:pt x="818796" y="-45504"/>
                  <a:pt x="900835" y="12365"/>
                  <a:pt x="1024519" y="0"/>
                </a:cubicBezTo>
                <a:cubicBezTo>
                  <a:pt x="1148203" y="-12365"/>
                  <a:pt x="1375450" y="49199"/>
                  <a:pt x="1703561" y="0"/>
                </a:cubicBezTo>
                <a:cubicBezTo>
                  <a:pt x="2031672" y="-49199"/>
                  <a:pt x="2135915" y="53877"/>
                  <a:pt x="2257516" y="0"/>
                </a:cubicBezTo>
                <a:cubicBezTo>
                  <a:pt x="2379118" y="-53877"/>
                  <a:pt x="2689826" y="7640"/>
                  <a:pt x="2811471" y="0"/>
                </a:cubicBezTo>
                <a:cubicBezTo>
                  <a:pt x="2933116" y="-7640"/>
                  <a:pt x="3237653" y="42159"/>
                  <a:pt x="3490513" y="0"/>
                </a:cubicBezTo>
                <a:cubicBezTo>
                  <a:pt x="3743373" y="-42159"/>
                  <a:pt x="3902601" y="4213"/>
                  <a:pt x="4169555" y="0"/>
                </a:cubicBezTo>
                <a:cubicBezTo>
                  <a:pt x="4186433" y="108997"/>
                  <a:pt x="4150059" y="194594"/>
                  <a:pt x="4169555" y="338554"/>
                </a:cubicBezTo>
                <a:cubicBezTo>
                  <a:pt x="4046605" y="342848"/>
                  <a:pt x="3791268" y="329382"/>
                  <a:pt x="3657295" y="338554"/>
                </a:cubicBezTo>
                <a:cubicBezTo>
                  <a:pt x="3523322" y="347726"/>
                  <a:pt x="3280593" y="338438"/>
                  <a:pt x="3061645" y="338554"/>
                </a:cubicBezTo>
                <a:cubicBezTo>
                  <a:pt x="2842697" y="338670"/>
                  <a:pt x="2690996" y="317297"/>
                  <a:pt x="2465994" y="338554"/>
                </a:cubicBezTo>
                <a:cubicBezTo>
                  <a:pt x="2240992" y="359811"/>
                  <a:pt x="2137041" y="296476"/>
                  <a:pt x="1912039" y="338554"/>
                </a:cubicBezTo>
                <a:cubicBezTo>
                  <a:pt x="1687037" y="380632"/>
                  <a:pt x="1569178" y="336593"/>
                  <a:pt x="1232997" y="338554"/>
                </a:cubicBezTo>
                <a:cubicBezTo>
                  <a:pt x="896816" y="340515"/>
                  <a:pt x="824031" y="320493"/>
                  <a:pt x="553955" y="338554"/>
                </a:cubicBezTo>
                <a:cubicBezTo>
                  <a:pt x="283879" y="356615"/>
                  <a:pt x="113030" y="293227"/>
                  <a:pt x="0" y="338554"/>
                </a:cubicBezTo>
                <a:cubicBezTo>
                  <a:pt x="-8967" y="239005"/>
                  <a:pt x="5325" y="122363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Goal: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 Assign a payoff to each 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B422F4-5D46-AA83-3C6D-841CF5943BE3}"/>
                  </a:ext>
                </a:extLst>
              </p:cNvPr>
              <p:cNvSpPr txBox="1"/>
              <p:nvPr/>
            </p:nvSpPr>
            <p:spPr>
              <a:xfrm>
                <a:off x="1248731" y="4701567"/>
                <a:ext cx="6099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=2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B422F4-5D46-AA83-3C6D-841CF5943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8731" y="4701567"/>
                <a:ext cx="609975" cy="276999"/>
              </a:xfrm>
              <a:prstGeom prst="rect">
                <a:avLst/>
              </a:prstGeom>
              <a:blipFill>
                <a:blip r:embed="rId4"/>
                <a:stretch>
                  <a:fillRect l="-6000" r="-9000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EE2A2D-24DD-5C23-2387-C880A70D8706}"/>
                  </a:ext>
                </a:extLst>
              </p:cNvPr>
              <p:cNvSpPr txBox="1"/>
              <p:nvPr/>
            </p:nvSpPr>
            <p:spPr>
              <a:xfrm>
                <a:off x="2786857" y="3627391"/>
                <a:ext cx="7191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EE2A2D-24DD-5C23-2387-C880A70D8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857" y="3627391"/>
                <a:ext cx="719171" cy="276999"/>
              </a:xfrm>
              <a:prstGeom prst="rect">
                <a:avLst/>
              </a:prstGeom>
              <a:blipFill>
                <a:blip r:embed="rId5"/>
                <a:stretch>
                  <a:fillRect l="-5085" r="-8475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38486A-6FE9-6BC2-064A-C27E48CDBED7}"/>
                  </a:ext>
                </a:extLst>
              </p:cNvPr>
              <p:cNvSpPr txBox="1"/>
              <p:nvPr/>
            </p:nvSpPr>
            <p:spPr>
              <a:xfrm>
                <a:off x="2786857" y="4106477"/>
                <a:ext cx="7295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𝐵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38486A-6FE9-6BC2-064A-C27E48CDB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857" y="4106477"/>
                <a:ext cx="729559" cy="276999"/>
              </a:xfrm>
              <a:prstGeom prst="rect">
                <a:avLst/>
              </a:prstGeom>
              <a:blipFill>
                <a:blip r:embed="rId6"/>
                <a:stretch>
                  <a:fillRect l="-5000" r="-7500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6899A3-77C8-8BBE-177D-5BFF9FF386F3}"/>
                  </a:ext>
                </a:extLst>
              </p:cNvPr>
              <p:cNvSpPr txBox="1"/>
              <p:nvPr/>
            </p:nvSpPr>
            <p:spPr>
              <a:xfrm>
                <a:off x="2786857" y="4619630"/>
                <a:ext cx="7295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𝐶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6899A3-77C8-8BBE-177D-5BFF9FF38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857" y="4619630"/>
                <a:ext cx="729559" cy="276999"/>
              </a:xfrm>
              <a:prstGeom prst="rect">
                <a:avLst/>
              </a:prstGeom>
              <a:blipFill>
                <a:blip r:embed="rId7"/>
                <a:stretch>
                  <a:fillRect l="-4167" r="-6667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C87335-896C-F511-A481-DD94791120F4}"/>
                  </a:ext>
                </a:extLst>
              </p:cNvPr>
              <p:cNvSpPr txBox="1"/>
              <p:nvPr/>
            </p:nvSpPr>
            <p:spPr>
              <a:xfrm>
                <a:off x="2786857" y="5098716"/>
                <a:ext cx="7434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sub>
                      </m:sSub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𝐷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C87335-896C-F511-A481-DD9479112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857" y="5098716"/>
                <a:ext cx="743409" cy="276999"/>
              </a:xfrm>
              <a:prstGeom prst="rect">
                <a:avLst/>
              </a:prstGeom>
              <a:blipFill>
                <a:blip r:embed="rId8"/>
                <a:stretch>
                  <a:fillRect l="-4918" r="-6557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D6E35D-6DF4-D449-F09D-6DD1A3AE41A5}"/>
                  </a:ext>
                </a:extLst>
              </p:cNvPr>
              <p:cNvSpPr txBox="1"/>
              <p:nvPr/>
            </p:nvSpPr>
            <p:spPr>
              <a:xfrm>
                <a:off x="2776469" y="5614806"/>
                <a:ext cx="7295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5</m:t>
                          </m:r>
                        </m:sub>
                      </m:sSub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D6E35D-6DF4-D449-F09D-6DD1A3AE4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6469" y="5614806"/>
                <a:ext cx="729559" cy="276999"/>
              </a:xfrm>
              <a:prstGeom prst="rect">
                <a:avLst/>
              </a:prstGeom>
              <a:blipFill>
                <a:blip r:embed="rId9"/>
                <a:stretch>
                  <a:fillRect l="-4167" r="-6667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15DD8E4-69D1-E150-D36B-DA3ACE51C085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1858706" y="3765891"/>
            <a:ext cx="928151" cy="10741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CB9D4CE-93B6-76DA-E6ED-9F9E13C6D851}"/>
              </a:ext>
            </a:extLst>
          </p:cNvPr>
          <p:cNvCxnSpPr>
            <a:cxnSpLocks/>
            <a:stCxn id="3" idx="3"/>
            <a:endCxn id="11" idx="1"/>
          </p:cNvCxnSpPr>
          <p:nvPr/>
        </p:nvCxnSpPr>
        <p:spPr>
          <a:xfrm flipV="1">
            <a:off x="1858706" y="4244977"/>
            <a:ext cx="928151" cy="5950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68310D4-6693-4364-8083-9BBEC0A53AC8}"/>
              </a:ext>
            </a:extLst>
          </p:cNvPr>
          <p:cNvCxnSpPr>
            <a:cxnSpLocks/>
            <a:stCxn id="3" idx="3"/>
            <a:endCxn id="12" idx="1"/>
          </p:cNvCxnSpPr>
          <p:nvPr/>
        </p:nvCxnSpPr>
        <p:spPr>
          <a:xfrm flipV="1">
            <a:off x="1858706" y="4758130"/>
            <a:ext cx="928151" cy="819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31B1950-2341-DA0A-6A5D-1CE49EE071E2}"/>
              </a:ext>
            </a:extLst>
          </p:cNvPr>
          <p:cNvCxnSpPr>
            <a:cxnSpLocks/>
            <a:stCxn id="3" idx="3"/>
            <a:endCxn id="13" idx="1"/>
          </p:cNvCxnSpPr>
          <p:nvPr/>
        </p:nvCxnSpPr>
        <p:spPr>
          <a:xfrm>
            <a:off x="1858706" y="4840067"/>
            <a:ext cx="928151" cy="397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2FD786E-08A4-F58A-ADF9-94843761B410}"/>
              </a:ext>
            </a:extLst>
          </p:cNvPr>
          <p:cNvCxnSpPr>
            <a:cxnSpLocks/>
            <a:stCxn id="3" idx="3"/>
            <a:endCxn id="14" idx="1"/>
          </p:cNvCxnSpPr>
          <p:nvPr/>
        </p:nvCxnSpPr>
        <p:spPr>
          <a:xfrm>
            <a:off x="1858706" y="4840067"/>
            <a:ext cx="917763" cy="9132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D569E47-CC7E-784C-D499-DA1866E2C090}"/>
              </a:ext>
            </a:extLst>
          </p:cNvPr>
          <p:cNvSpPr txBox="1"/>
          <p:nvPr/>
        </p:nvSpPr>
        <p:spPr>
          <a:xfrm>
            <a:off x="7628133" y="2441969"/>
            <a:ext cx="1235629" cy="369332"/>
          </a:xfrm>
          <a:custGeom>
            <a:avLst/>
            <a:gdLst>
              <a:gd name="csX0" fmla="*/ 0 w 1235629"/>
              <a:gd name="csY0" fmla="*/ 0 h 369332"/>
              <a:gd name="csX1" fmla="*/ 436589 w 1235629"/>
              <a:gd name="csY1" fmla="*/ 0 h 369332"/>
              <a:gd name="csX2" fmla="*/ 860822 w 1235629"/>
              <a:gd name="csY2" fmla="*/ 0 h 369332"/>
              <a:gd name="csX3" fmla="*/ 1235629 w 1235629"/>
              <a:gd name="csY3" fmla="*/ 0 h 369332"/>
              <a:gd name="csX4" fmla="*/ 1235629 w 1235629"/>
              <a:gd name="csY4" fmla="*/ 369332 h 369332"/>
              <a:gd name="csX5" fmla="*/ 848465 w 1235629"/>
              <a:gd name="csY5" fmla="*/ 369332 h 369332"/>
              <a:gd name="csX6" fmla="*/ 436589 w 1235629"/>
              <a:gd name="csY6" fmla="*/ 369332 h 369332"/>
              <a:gd name="csX7" fmla="*/ 0 w 1235629"/>
              <a:gd name="csY7" fmla="*/ 369332 h 369332"/>
              <a:gd name="csX8" fmla="*/ 0 w 1235629"/>
              <a:gd name="csY8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35629" h="369332" fill="none" extrusionOk="0">
                <a:moveTo>
                  <a:pt x="0" y="0"/>
                </a:moveTo>
                <a:cubicBezTo>
                  <a:pt x="113402" y="-27444"/>
                  <a:pt x="287934" y="41868"/>
                  <a:pt x="436589" y="0"/>
                </a:cubicBezTo>
                <a:cubicBezTo>
                  <a:pt x="585244" y="-41868"/>
                  <a:pt x="662471" y="41348"/>
                  <a:pt x="860822" y="0"/>
                </a:cubicBezTo>
                <a:cubicBezTo>
                  <a:pt x="1059173" y="-41348"/>
                  <a:pt x="1082296" y="16383"/>
                  <a:pt x="1235629" y="0"/>
                </a:cubicBezTo>
                <a:cubicBezTo>
                  <a:pt x="1239667" y="158233"/>
                  <a:pt x="1199335" y="205698"/>
                  <a:pt x="1235629" y="369332"/>
                </a:cubicBezTo>
                <a:cubicBezTo>
                  <a:pt x="1153345" y="377767"/>
                  <a:pt x="1022454" y="342813"/>
                  <a:pt x="848465" y="369332"/>
                </a:cubicBezTo>
                <a:cubicBezTo>
                  <a:pt x="674476" y="395851"/>
                  <a:pt x="560279" y="353536"/>
                  <a:pt x="436589" y="369332"/>
                </a:cubicBezTo>
                <a:cubicBezTo>
                  <a:pt x="312899" y="385128"/>
                  <a:pt x="170037" y="317989"/>
                  <a:pt x="0" y="369332"/>
                </a:cubicBezTo>
                <a:cubicBezTo>
                  <a:pt x="-34018" y="280347"/>
                  <a:pt x="27486" y="156341"/>
                  <a:pt x="0" y="0"/>
                </a:cubicBezTo>
                <a:close/>
              </a:path>
              <a:path w="1235629" h="369332" stroke="0" extrusionOk="0">
                <a:moveTo>
                  <a:pt x="0" y="0"/>
                </a:moveTo>
                <a:cubicBezTo>
                  <a:pt x="117179" y="-10026"/>
                  <a:pt x="236558" y="29565"/>
                  <a:pt x="399520" y="0"/>
                </a:cubicBezTo>
                <a:cubicBezTo>
                  <a:pt x="562482" y="-29565"/>
                  <a:pt x="636643" y="13709"/>
                  <a:pt x="774328" y="0"/>
                </a:cubicBezTo>
                <a:cubicBezTo>
                  <a:pt x="912013" y="-13709"/>
                  <a:pt x="1112601" y="24938"/>
                  <a:pt x="1235629" y="0"/>
                </a:cubicBezTo>
                <a:cubicBezTo>
                  <a:pt x="1271217" y="113493"/>
                  <a:pt x="1208822" y="197069"/>
                  <a:pt x="1235629" y="369332"/>
                </a:cubicBezTo>
                <a:cubicBezTo>
                  <a:pt x="1111767" y="385420"/>
                  <a:pt x="936497" y="334321"/>
                  <a:pt x="848465" y="369332"/>
                </a:cubicBezTo>
                <a:cubicBezTo>
                  <a:pt x="760433" y="404343"/>
                  <a:pt x="515837" y="333191"/>
                  <a:pt x="411876" y="369332"/>
                </a:cubicBezTo>
                <a:cubicBezTo>
                  <a:pt x="307915" y="405473"/>
                  <a:pt x="120411" y="324068"/>
                  <a:pt x="0" y="369332"/>
                </a:cubicBezTo>
                <a:cubicBezTo>
                  <a:pt x="-22716" y="225711"/>
                  <a:pt x="27200" y="158340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DISCRETE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ACB3314-76B3-E170-B269-FD291009A526}"/>
                  </a:ext>
                </a:extLst>
              </p:cNvPr>
              <p:cNvSpPr txBox="1"/>
              <p:nvPr/>
            </p:nvSpPr>
            <p:spPr>
              <a:xfrm>
                <a:off x="4186517" y="3627391"/>
                <a:ext cx="11982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=0.3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ACB3314-76B3-E170-B269-FD291009A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517" y="3627391"/>
                <a:ext cx="1198277" cy="276999"/>
              </a:xfrm>
              <a:prstGeom prst="rect">
                <a:avLst/>
              </a:prstGeom>
              <a:blipFill>
                <a:blip r:embed="rId10"/>
                <a:stretch>
                  <a:fillRect l="-4592" r="-459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D4CFF-DBBC-11C0-BEF5-BB200ECA90B3}"/>
                  </a:ext>
                </a:extLst>
              </p:cNvPr>
              <p:cNvSpPr txBox="1"/>
              <p:nvPr/>
            </p:nvSpPr>
            <p:spPr>
              <a:xfrm>
                <a:off x="4186517" y="4106476"/>
                <a:ext cx="11982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=0.5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D4CFF-DBBC-11C0-BEF5-BB200ECA9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517" y="4106476"/>
                <a:ext cx="1198277" cy="276999"/>
              </a:xfrm>
              <a:prstGeom prst="rect">
                <a:avLst/>
              </a:prstGeom>
              <a:blipFill>
                <a:blip r:embed="rId11"/>
                <a:stretch>
                  <a:fillRect l="-5102" r="-561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A8D13C7-B8EC-14BB-63C9-E420867886DF}"/>
                  </a:ext>
                </a:extLst>
              </p:cNvPr>
              <p:cNvSpPr txBox="1"/>
              <p:nvPr/>
            </p:nvSpPr>
            <p:spPr>
              <a:xfrm>
                <a:off x="4186517" y="4619630"/>
                <a:ext cx="11982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=0.2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A8D13C7-B8EC-14BB-63C9-E42086788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517" y="4619630"/>
                <a:ext cx="1198277" cy="276999"/>
              </a:xfrm>
              <a:prstGeom prst="rect">
                <a:avLst/>
              </a:prstGeom>
              <a:blipFill>
                <a:blip r:embed="rId12"/>
                <a:stretch>
                  <a:fillRect l="-5102" r="-510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73E3889-47B6-6336-B472-EC9F4E21E97F}"/>
                  </a:ext>
                </a:extLst>
              </p:cNvPr>
              <p:cNvSpPr txBox="1"/>
              <p:nvPr/>
            </p:nvSpPr>
            <p:spPr>
              <a:xfrm>
                <a:off x="4186517" y="5098716"/>
                <a:ext cx="11982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=0.0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73E3889-47B6-6336-B472-EC9F4E21E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517" y="5098716"/>
                <a:ext cx="1198277" cy="276999"/>
              </a:xfrm>
              <a:prstGeom prst="rect">
                <a:avLst/>
              </a:prstGeom>
              <a:blipFill>
                <a:blip r:embed="rId13"/>
                <a:stretch>
                  <a:fillRect l="-5102" r="-5102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C510E99-30CA-C82D-775B-1136E46DB537}"/>
                  </a:ext>
                </a:extLst>
              </p:cNvPr>
              <p:cNvSpPr txBox="1"/>
              <p:nvPr/>
            </p:nvSpPr>
            <p:spPr>
              <a:xfrm>
                <a:off x="4186517" y="5614806"/>
                <a:ext cx="12035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=0.0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C510E99-30CA-C82D-775B-1136E46DB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517" y="5614806"/>
                <a:ext cx="1203599" cy="276999"/>
              </a:xfrm>
              <a:prstGeom prst="rect">
                <a:avLst/>
              </a:prstGeom>
              <a:blipFill>
                <a:blip r:embed="rId14"/>
                <a:stretch>
                  <a:fillRect l="-4569" r="-4569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05E3E68-308B-3959-BF2B-0FCA801DCB71}"/>
                  </a:ext>
                </a:extLst>
              </p:cNvPr>
              <p:cNvSpPr txBox="1"/>
              <p:nvPr/>
            </p:nvSpPr>
            <p:spPr>
              <a:xfrm>
                <a:off x="6312277" y="3634593"/>
                <a:ext cx="11580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𝑢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=10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05E3E68-308B-3959-BF2B-0FCA801DC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277" y="3634593"/>
                <a:ext cx="1158009" cy="276999"/>
              </a:xfrm>
              <a:prstGeom prst="rect">
                <a:avLst/>
              </a:prstGeom>
              <a:blipFill>
                <a:blip r:embed="rId15"/>
                <a:stretch>
                  <a:fillRect l="-2632" r="-5263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2ADC615-EA52-1D94-1556-140BE6FAD5C9}"/>
                  </a:ext>
                </a:extLst>
              </p:cNvPr>
              <p:cNvSpPr txBox="1"/>
              <p:nvPr/>
            </p:nvSpPr>
            <p:spPr>
              <a:xfrm>
                <a:off x="6312277" y="4113678"/>
                <a:ext cx="10350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𝑢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=8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2ADC615-EA52-1D94-1556-140BE6FAD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277" y="4113678"/>
                <a:ext cx="1035092" cy="276999"/>
              </a:xfrm>
              <a:prstGeom prst="rect">
                <a:avLst/>
              </a:prstGeom>
              <a:blipFill>
                <a:blip r:embed="rId16"/>
                <a:stretch>
                  <a:fillRect l="-2941" r="-5294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36055C7-6B4F-7338-3502-94EB0A922177}"/>
                  </a:ext>
                </a:extLst>
              </p:cNvPr>
              <p:cNvSpPr txBox="1"/>
              <p:nvPr/>
            </p:nvSpPr>
            <p:spPr>
              <a:xfrm>
                <a:off x="6312277" y="4626832"/>
                <a:ext cx="10350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𝑢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=6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36055C7-6B4F-7338-3502-94EB0A922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277" y="4626832"/>
                <a:ext cx="1035092" cy="276999"/>
              </a:xfrm>
              <a:prstGeom prst="rect">
                <a:avLst/>
              </a:prstGeom>
              <a:blipFill>
                <a:blip r:embed="rId17"/>
                <a:stretch>
                  <a:fillRect l="-2941" r="-5294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0424C72-7162-98A8-70B9-8CCAEB0F40D4}"/>
                  </a:ext>
                </a:extLst>
              </p:cNvPr>
              <p:cNvSpPr txBox="1"/>
              <p:nvPr/>
            </p:nvSpPr>
            <p:spPr>
              <a:xfrm>
                <a:off x="6312277" y="5105918"/>
                <a:ext cx="10350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𝑢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=4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0424C72-7162-98A8-70B9-8CCAEB0F4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277" y="5105918"/>
                <a:ext cx="1035092" cy="276999"/>
              </a:xfrm>
              <a:prstGeom prst="rect">
                <a:avLst/>
              </a:prstGeom>
              <a:blipFill>
                <a:blip r:embed="rId18"/>
                <a:stretch>
                  <a:fillRect l="-2941" r="-5294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FB99CC6-5758-DE0E-13C5-9E9FD5467BEC}"/>
                  </a:ext>
                </a:extLst>
              </p:cNvPr>
              <p:cNvSpPr txBox="1"/>
              <p:nvPr/>
            </p:nvSpPr>
            <p:spPr>
              <a:xfrm>
                <a:off x="6312277" y="5622008"/>
                <a:ext cx="10350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𝑢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FB99CC6-5758-DE0E-13C5-9E9FD5467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277" y="5622008"/>
                <a:ext cx="1035092" cy="276999"/>
              </a:xfrm>
              <a:prstGeom prst="rect">
                <a:avLst/>
              </a:prstGeom>
              <a:blipFill>
                <a:blip r:embed="rId19"/>
                <a:stretch>
                  <a:fillRect l="-2941" r="-5294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154E35B-0216-522F-AF08-90D2A44781B1}"/>
                  </a:ext>
                </a:extLst>
              </p:cNvPr>
              <p:cNvSpPr txBox="1"/>
              <p:nvPr/>
            </p:nvSpPr>
            <p:spPr>
              <a:xfrm>
                <a:off x="8002095" y="3377331"/>
                <a:ext cx="2321918" cy="78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5</m:t>
                          </m:r>
                        </m:sup>
                        <m:e>
                          <m:r>
                            <a:rPr lang="en-IN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IN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</m:t>
                          </m:r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B05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B05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B05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154E35B-0216-522F-AF08-90D2A4478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2095" y="3377331"/>
                <a:ext cx="2321918" cy="78265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70E7334-C32D-A9FF-476B-49ADA5244D2B}"/>
                  </a:ext>
                </a:extLst>
              </p:cNvPr>
              <p:cNvSpPr txBox="1"/>
              <p:nvPr/>
            </p:nvSpPr>
            <p:spPr>
              <a:xfrm>
                <a:off x="8002095" y="4432757"/>
                <a:ext cx="36078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IN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0.3</m:t>
                      </m:r>
                      <m:r>
                        <a:rPr lang="en-IN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10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0.5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8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0.2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6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70E7334-C32D-A9FF-476B-49ADA5244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2095" y="4432757"/>
                <a:ext cx="3607846" cy="276999"/>
              </a:xfrm>
              <a:prstGeom prst="rect">
                <a:avLst/>
              </a:prstGeom>
              <a:blipFill>
                <a:blip r:embed="rId21"/>
                <a:stretch>
                  <a:fillRect l="-1182" r="-101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7B4D445-42ED-DE7E-4681-206C52ED28D2}"/>
                  </a:ext>
                </a:extLst>
              </p:cNvPr>
              <p:cNvSpPr txBox="1"/>
              <p:nvPr/>
            </p:nvSpPr>
            <p:spPr>
              <a:xfrm>
                <a:off x="7997894" y="4966973"/>
                <a:ext cx="1328377" cy="276999"/>
              </a:xfrm>
              <a:custGeom>
                <a:avLst/>
                <a:gdLst>
                  <a:gd name="csX0" fmla="*/ 0 w 1328377"/>
                  <a:gd name="csY0" fmla="*/ 0 h 276999"/>
                  <a:gd name="csX1" fmla="*/ 469360 w 1328377"/>
                  <a:gd name="csY1" fmla="*/ 0 h 276999"/>
                  <a:gd name="csX2" fmla="*/ 925436 w 1328377"/>
                  <a:gd name="csY2" fmla="*/ 0 h 276999"/>
                  <a:gd name="csX3" fmla="*/ 1328377 w 1328377"/>
                  <a:gd name="csY3" fmla="*/ 0 h 276999"/>
                  <a:gd name="csX4" fmla="*/ 1328377 w 1328377"/>
                  <a:gd name="csY4" fmla="*/ 276999 h 276999"/>
                  <a:gd name="csX5" fmla="*/ 912152 w 1328377"/>
                  <a:gd name="csY5" fmla="*/ 276999 h 276999"/>
                  <a:gd name="csX6" fmla="*/ 469360 w 1328377"/>
                  <a:gd name="csY6" fmla="*/ 276999 h 276999"/>
                  <a:gd name="csX7" fmla="*/ 0 w 1328377"/>
                  <a:gd name="csY7" fmla="*/ 276999 h 276999"/>
                  <a:gd name="csX8" fmla="*/ 0 w 1328377"/>
                  <a:gd name="csY8" fmla="*/ 0 h 2769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8377" h="276999" fill="none" extrusionOk="0">
                    <a:moveTo>
                      <a:pt x="0" y="0"/>
                    </a:moveTo>
                    <a:cubicBezTo>
                      <a:pt x="105515" y="-12075"/>
                      <a:pt x="251383" y="10702"/>
                      <a:pt x="469360" y="0"/>
                    </a:cubicBezTo>
                    <a:cubicBezTo>
                      <a:pt x="687337" y="-10702"/>
                      <a:pt x="802892" y="3982"/>
                      <a:pt x="925436" y="0"/>
                    </a:cubicBezTo>
                    <a:cubicBezTo>
                      <a:pt x="1047980" y="-3982"/>
                      <a:pt x="1228677" y="37641"/>
                      <a:pt x="1328377" y="0"/>
                    </a:cubicBezTo>
                    <a:cubicBezTo>
                      <a:pt x="1354575" y="80700"/>
                      <a:pt x="1314243" y="202672"/>
                      <a:pt x="1328377" y="276999"/>
                    </a:cubicBezTo>
                    <a:cubicBezTo>
                      <a:pt x="1173127" y="279163"/>
                      <a:pt x="1059140" y="245405"/>
                      <a:pt x="912152" y="276999"/>
                    </a:cubicBezTo>
                    <a:cubicBezTo>
                      <a:pt x="765165" y="308593"/>
                      <a:pt x="577267" y="248181"/>
                      <a:pt x="469360" y="276999"/>
                    </a:cubicBezTo>
                    <a:cubicBezTo>
                      <a:pt x="361453" y="305817"/>
                      <a:pt x="196890" y="245135"/>
                      <a:pt x="0" y="276999"/>
                    </a:cubicBezTo>
                    <a:cubicBezTo>
                      <a:pt x="-11858" y="214994"/>
                      <a:pt x="27486" y="89139"/>
                      <a:pt x="0" y="0"/>
                    </a:cubicBezTo>
                    <a:close/>
                  </a:path>
                  <a:path w="1328377" h="276999" stroke="0" extrusionOk="0">
                    <a:moveTo>
                      <a:pt x="0" y="0"/>
                    </a:moveTo>
                    <a:cubicBezTo>
                      <a:pt x="144170" y="-50563"/>
                      <a:pt x="287148" y="34946"/>
                      <a:pt x="429509" y="0"/>
                    </a:cubicBezTo>
                    <a:cubicBezTo>
                      <a:pt x="571870" y="-34946"/>
                      <a:pt x="746505" y="6204"/>
                      <a:pt x="832450" y="0"/>
                    </a:cubicBezTo>
                    <a:cubicBezTo>
                      <a:pt x="918395" y="-6204"/>
                      <a:pt x="1156433" y="22713"/>
                      <a:pt x="1328377" y="0"/>
                    </a:cubicBezTo>
                    <a:cubicBezTo>
                      <a:pt x="1341805" y="90708"/>
                      <a:pt x="1312650" y="144548"/>
                      <a:pt x="1328377" y="276999"/>
                    </a:cubicBezTo>
                    <a:cubicBezTo>
                      <a:pt x="1219832" y="323647"/>
                      <a:pt x="1107056" y="266582"/>
                      <a:pt x="912152" y="276999"/>
                    </a:cubicBezTo>
                    <a:cubicBezTo>
                      <a:pt x="717248" y="287416"/>
                      <a:pt x="568268" y="268221"/>
                      <a:pt x="442792" y="276999"/>
                    </a:cubicBezTo>
                    <a:cubicBezTo>
                      <a:pt x="317316" y="285777"/>
                      <a:pt x="137973" y="270990"/>
                      <a:pt x="0" y="276999"/>
                    </a:cubicBezTo>
                    <a:cubicBezTo>
                      <a:pt x="-11636" y="182021"/>
                      <a:pt x="27200" y="119714"/>
                      <a:pt x="0" y="0"/>
                    </a:cubicBez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1">
                    <a:shade val="1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∴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=8.2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7B4D445-42ED-DE7E-4681-206C52ED2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7894" y="4966973"/>
                <a:ext cx="1328377" cy="276999"/>
              </a:xfrm>
              <a:prstGeom prst="rect">
                <a:avLst/>
              </a:prstGeom>
              <a:blipFill>
                <a:blip r:embed="rId22"/>
                <a:stretch>
                  <a:fillRect l="-1345" r="-2242"/>
                </a:stretch>
              </a:blipFill>
              <a:ln>
                <a:solidFill>
                  <a:schemeClr val="accent1">
                    <a:shade val="1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1328377"/>
                          <a:gd name="csY0" fmla="*/ 0 h 276999"/>
                          <a:gd name="csX1" fmla="*/ 469360 w 1328377"/>
                          <a:gd name="csY1" fmla="*/ 0 h 276999"/>
                          <a:gd name="csX2" fmla="*/ 925436 w 1328377"/>
                          <a:gd name="csY2" fmla="*/ 0 h 276999"/>
                          <a:gd name="csX3" fmla="*/ 1328377 w 1328377"/>
                          <a:gd name="csY3" fmla="*/ 0 h 276999"/>
                          <a:gd name="csX4" fmla="*/ 1328377 w 1328377"/>
                          <a:gd name="csY4" fmla="*/ 276999 h 276999"/>
                          <a:gd name="csX5" fmla="*/ 912152 w 1328377"/>
                          <a:gd name="csY5" fmla="*/ 276999 h 276999"/>
                          <a:gd name="csX6" fmla="*/ 469360 w 1328377"/>
                          <a:gd name="csY6" fmla="*/ 276999 h 276999"/>
                          <a:gd name="csX7" fmla="*/ 0 w 1328377"/>
                          <a:gd name="csY7" fmla="*/ 276999 h 276999"/>
                          <a:gd name="csX8" fmla="*/ 0 w 1328377"/>
                          <a:gd name="csY8" fmla="*/ 0 h 276999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</a:cxnLst>
                        <a:rect l="l" t="t" r="r" b="b"/>
                        <a:pathLst>
                          <a:path w="1328377" h="276999" fill="none" extrusionOk="0">
                            <a:moveTo>
                              <a:pt x="0" y="0"/>
                            </a:moveTo>
                            <a:cubicBezTo>
                              <a:pt x="105515" y="-12075"/>
                              <a:pt x="251383" y="10702"/>
                              <a:pt x="469360" y="0"/>
                            </a:cubicBezTo>
                            <a:cubicBezTo>
                              <a:pt x="687337" y="-10702"/>
                              <a:pt x="802892" y="3982"/>
                              <a:pt x="925436" y="0"/>
                            </a:cubicBezTo>
                            <a:cubicBezTo>
                              <a:pt x="1047980" y="-3982"/>
                              <a:pt x="1228677" y="37641"/>
                              <a:pt x="1328377" y="0"/>
                            </a:cubicBezTo>
                            <a:cubicBezTo>
                              <a:pt x="1354575" y="80700"/>
                              <a:pt x="1314243" y="202672"/>
                              <a:pt x="1328377" y="276999"/>
                            </a:cubicBezTo>
                            <a:cubicBezTo>
                              <a:pt x="1173127" y="279163"/>
                              <a:pt x="1059140" y="245405"/>
                              <a:pt x="912152" y="276999"/>
                            </a:cubicBezTo>
                            <a:cubicBezTo>
                              <a:pt x="765165" y="308593"/>
                              <a:pt x="577267" y="248181"/>
                              <a:pt x="469360" y="276999"/>
                            </a:cubicBezTo>
                            <a:cubicBezTo>
                              <a:pt x="361453" y="305817"/>
                              <a:pt x="196890" y="245135"/>
                              <a:pt x="0" y="276999"/>
                            </a:cubicBezTo>
                            <a:cubicBezTo>
                              <a:pt x="-11858" y="214994"/>
                              <a:pt x="27486" y="89139"/>
                              <a:pt x="0" y="0"/>
                            </a:cubicBezTo>
                            <a:close/>
                          </a:path>
                          <a:path w="1328377" h="276999" stroke="0" extrusionOk="0">
                            <a:moveTo>
                              <a:pt x="0" y="0"/>
                            </a:moveTo>
                            <a:cubicBezTo>
                              <a:pt x="144170" y="-50563"/>
                              <a:pt x="287148" y="34946"/>
                              <a:pt x="429509" y="0"/>
                            </a:cubicBezTo>
                            <a:cubicBezTo>
                              <a:pt x="571870" y="-34946"/>
                              <a:pt x="746505" y="6204"/>
                              <a:pt x="832450" y="0"/>
                            </a:cubicBezTo>
                            <a:cubicBezTo>
                              <a:pt x="918395" y="-6204"/>
                              <a:pt x="1156433" y="22713"/>
                              <a:pt x="1328377" y="0"/>
                            </a:cubicBezTo>
                            <a:cubicBezTo>
                              <a:pt x="1341805" y="90708"/>
                              <a:pt x="1312650" y="144548"/>
                              <a:pt x="1328377" y="276999"/>
                            </a:cubicBezTo>
                            <a:cubicBezTo>
                              <a:pt x="1219832" y="323647"/>
                              <a:pt x="1107056" y="266582"/>
                              <a:pt x="912152" y="276999"/>
                            </a:cubicBezTo>
                            <a:cubicBezTo>
                              <a:pt x="717248" y="287416"/>
                              <a:pt x="568268" y="268221"/>
                              <a:pt x="442792" y="276999"/>
                            </a:cubicBezTo>
                            <a:cubicBezTo>
                              <a:pt x="317316" y="285777"/>
                              <a:pt x="137973" y="270990"/>
                              <a:pt x="0" y="276999"/>
                            </a:cubicBezTo>
                            <a:cubicBezTo>
                              <a:pt x="-11636" y="182021"/>
                              <a:pt x="27200" y="119714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>
            <a:extLst>
              <a:ext uri="{FF2B5EF4-FFF2-40B4-BE49-F238E27FC236}">
                <a16:creationId xmlns:a16="http://schemas.microsoft.com/office/drawing/2014/main" id="{0B07E5E0-96C3-1B20-E48D-DE602C382125}"/>
              </a:ext>
            </a:extLst>
          </p:cNvPr>
          <p:cNvSpPr txBox="1"/>
          <p:nvPr/>
        </p:nvSpPr>
        <p:spPr>
          <a:xfrm>
            <a:off x="7714264" y="5494293"/>
            <a:ext cx="423071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…and so on for the remaining three actions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3786016-3065-F326-997D-08086005B101}"/>
              </a:ext>
            </a:extLst>
          </p:cNvPr>
          <p:cNvSpPr txBox="1"/>
          <p:nvPr/>
        </p:nvSpPr>
        <p:spPr>
          <a:xfrm>
            <a:off x="4291267" y="6127960"/>
            <a:ext cx="988776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50000"/>
                  </a:srgbClr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Lottery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EC7C610-1335-76A9-38B9-4068D366B045}"/>
              </a:ext>
            </a:extLst>
          </p:cNvPr>
          <p:cNvSpPr txBox="1"/>
          <p:nvPr/>
        </p:nvSpPr>
        <p:spPr>
          <a:xfrm>
            <a:off x="7784198" y="1920871"/>
            <a:ext cx="22117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Discrete action set</a:t>
            </a:r>
          </a:p>
        </p:txBody>
      </p:sp>
      <p:pic>
        <p:nvPicPr>
          <p:cNvPr id="1026" name="Picture 2" descr="Measuring Beliefs about Risk | St. Louis Fed">
            <a:extLst>
              <a:ext uri="{FF2B5EF4-FFF2-40B4-BE49-F238E27FC236}">
                <a16:creationId xmlns:a16="http://schemas.microsoft.com/office/drawing/2014/main" id="{D5A883C9-68EF-B3AD-9317-8AFE25C5BD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1" r="9842"/>
          <a:stretch/>
        </p:blipFill>
        <p:spPr bwMode="auto">
          <a:xfrm>
            <a:off x="10661470" y="1692603"/>
            <a:ext cx="1268074" cy="136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A2E9127-E322-EA83-932A-8BB8D6C51280}"/>
              </a:ext>
            </a:extLst>
          </p:cNvPr>
          <p:cNvSpPr txBox="1"/>
          <p:nvPr/>
        </p:nvSpPr>
        <p:spPr>
          <a:xfrm>
            <a:off x="70946" y="5980053"/>
            <a:ext cx="4092131" cy="830997"/>
          </a:xfrm>
          <a:custGeom>
            <a:avLst/>
            <a:gdLst>
              <a:gd name="csX0" fmla="*/ 0 w 4092131"/>
              <a:gd name="csY0" fmla="*/ 0 h 830997"/>
              <a:gd name="csX1" fmla="*/ 543669 w 4092131"/>
              <a:gd name="csY1" fmla="*/ 0 h 830997"/>
              <a:gd name="csX2" fmla="*/ 1005495 w 4092131"/>
              <a:gd name="csY2" fmla="*/ 0 h 830997"/>
              <a:gd name="csX3" fmla="*/ 1671928 w 4092131"/>
              <a:gd name="csY3" fmla="*/ 0 h 830997"/>
              <a:gd name="csX4" fmla="*/ 2215597 w 4092131"/>
              <a:gd name="csY4" fmla="*/ 0 h 830997"/>
              <a:gd name="csX5" fmla="*/ 2759265 w 4092131"/>
              <a:gd name="csY5" fmla="*/ 0 h 830997"/>
              <a:gd name="csX6" fmla="*/ 3425698 w 4092131"/>
              <a:gd name="csY6" fmla="*/ 0 h 830997"/>
              <a:gd name="csX7" fmla="*/ 4092131 w 4092131"/>
              <a:gd name="csY7" fmla="*/ 0 h 830997"/>
              <a:gd name="csX8" fmla="*/ 4092131 w 4092131"/>
              <a:gd name="csY8" fmla="*/ 432118 h 830997"/>
              <a:gd name="csX9" fmla="*/ 4092131 w 4092131"/>
              <a:gd name="csY9" fmla="*/ 830997 h 830997"/>
              <a:gd name="csX10" fmla="*/ 3589383 w 4092131"/>
              <a:gd name="csY10" fmla="*/ 830997 h 830997"/>
              <a:gd name="csX11" fmla="*/ 3004793 w 4092131"/>
              <a:gd name="csY11" fmla="*/ 830997 h 830997"/>
              <a:gd name="csX12" fmla="*/ 2461125 w 4092131"/>
              <a:gd name="csY12" fmla="*/ 830997 h 830997"/>
              <a:gd name="csX13" fmla="*/ 1794692 w 4092131"/>
              <a:gd name="csY13" fmla="*/ 830997 h 830997"/>
              <a:gd name="csX14" fmla="*/ 1128259 w 4092131"/>
              <a:gd name="csY14" fmla="*/ 830997 h 830997"/>
              <a:gd name="csX15" fmla="*/ 625511 w 4092131"/>
              <a:gd name="csY15" fmla="*/ 830997 h 830997"/>
              <a:gd name="csX16" fmla="*/ 0 w 4092131"/>
              <a:gd name="csY16" fmla="*/ 830997 h 830997"/>
              <a:gd name="csX17" fmla="*/ 0 w 4092131"/>
              <a:gd name="csY17" fmla="*/ 398879 h 830997"/>
              <a:gd name="csX18" fmla="*/ 0 w 4092131"/>
              <a:gd name="csY18" fmla="*/ 0 h 8309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092131" h="830997" extrusionOk="0">
                <a:moveTo>
                  <a:pt x="0" y="0"/>
                </a:moveTo>
                <a:cubicBezTo>
                  <a:pt x="129374" y="-62720"/>
                  <a:pt x="322779" y="46581"/>
                  <a:pt x="543669" y="0"/>
                </a:cubicBezTo>
                <a:cubicBezTo>
                  <a:pt x="764559" y="-46581"/>
                  <a:pt x="883747" y="52654"/>
                  <a:pt x="1005495" y="0"/>
                </a:cubicBezTo>
                <a:cubicBezTo>
                  <a:pt x="1127243" y="-52654"/>
                  <a:pt x="1383141" y="70747"/>
                  <a:pt x="1671928" y="0"/>
                </a:cubicBezTo>
                <a:cubicBezTo>
                  <a:pt x="1960715" y="-70747"/>
                  <a:pt x="2005600" y="55647"/>
                  <a:pt x="2215597" y="0"/>
                </a:cubicBezTo>
                <a:cubicBezTo>
                  <a:pt x="2425594" y="-55647"/>
                  <a:pt x="2523984" y="31213"/>
                  <a:pt x="2759265" y="0"/>
                </a:cubicBezTo>
                <a:cubicBezTo>
                  <a:pt x="2994546" y="-31213"/>
                  <a:pt x="3276796" y="21651"/>
                  <a:pt x="3425698" y="0"/>
                </a:cubicBezTo>
                <a:cubicBezTo>
                  <a:pt x="3574600" y="-21651"/>
                  <a:pt x="3950482" y="19894"/>
                  <a:pt x="4092131" y="0"/>
                </a:cubicBezTo>
                <a:cubicBezTo>
                  <a:pt x="4097041" y="91743"/>
                  <a:pt x="4086625" y="224361"/>
                  <a:pt x="4092131" y="432118"/>
                </a:cubicBezTo>
                <a:cubicBezTo>
                  <a:pt x="4097637" y="639875"/>
                  <a:pt x="4091153" y="668997"/>
                  <a:pt x="4092131" y="830997"/>
                </a:cubicBezTo>
                <a:cubicBezTo>
                  <a:pt x="3948403" y="882066"/>
                  <a:pt x="3799484" y="827557"/>
                  <a:pt x="3589383" y="830997"/>
                </a:cubicBezTo>
                <a:cubicBezTo>
                  <a:pt x="3379282" y="834437"/>
                  <a:pt x="3281026" y="798359"/>
                  <a:pt x="3004793" y="830997"/>
                </a:cubicBezTo>
                <a:cubicBezTo>
                  <a:pt x="2728560" y="863635"/>
                  <a:pt x="2651858" y="771147"/>
                  <a:pt x="2461125" y="830997"/>
                </a:cubicBezTo>
                <a:cubicBezTo>
                  <a:pt x="2270392" y="890847"/>
                  <a:pt x="2025034" y="756044"/>
                  <a:pt x="1794692" y="830997"/>
                </a:cubicBezTo>
                <a:cubicBezTo>
                  <a:pt x="1564350" y="905950"/>
                  <a:pt x="1296780" y="763614"/>
                  <a:pt x="1128259" y="830997"/>
                </a:cubicBezTo>
                <a:cubicBezTo>
                  <a:pt x="959738" y="898380"/>
                  <a:pt x="845579" y="812746"/>
                  <a:pt x="625511" y="830997"/>
                </a:cubicBezTo>
                <a:cubicBezTo>
                  <a:pt x="405443" y="849248"/>
                  <a:pt x="171440" y="783150"/>
                  <a:pt x="0" y="830997"/>
                </a:cubicBezTo>
                <a:cubicBezTo>
                  <a:pt x="-32050" y="724287"/>
                  <a:pt x="46237" y="606371"/>
                  <a:pt x="0" y="398879"/>
                </a:cubicBezTo>
                <a:cubicBezTo>
                  <a:pt x="-46237" y="191387"/>
                  <a:pt x="42725" y="185550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50000"/>
                  </a:srgbClr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Probability of each outcome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dirty="0">
                <a:solidFill>
                  <a:srgbClr val="0070C0"/>
                </a:solidFill>
                <a:latin typeface="Segoe Script" panose="030B0504020000000003" pitchFamily="66" charset="0"/>
              </a:rPr>
              <a:t>Cardinal payoff of each outcome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egoe Script" panose="030B0504020000000003" pitchFamily="66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= Expected payoff of action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0F91B2-572A-33B4-1DF7-4F4BE8F08CCD}"/>
              </a:ext>
            </a:extLst>
          </p:cNvPr>
          <p:cNvSpPr txBox="1"/>
          <p:nvPr/>
        </p:nvSpPr>
        <p:spPr>
          <a:xfrm>
            <a:off x="5331510" y="6022828"/>
            <a:ext cx="3863932" cy="584775"/>
          </a:xfrm>
          <a:custGeom>
            <a:avLst/>
            <a:gdLst>
              <a:gd name="csX0" fmla="*/ 0 w 3863932"/>
              <a:gd name="csY0" fmla="*/ 0 h 584775"/>
              <a:gd name="csX1" fmla="*/ 513351 w 3863932"/>
              <a:gd name="csY1" fmla="*/ 0 h 584775"/>
              <a:gd name="csX2" fmla="*/ 949423 w 3863932"/>
              <a:gd name="csY2" fmla="*/ 0 h 584775"/>
              <a:gd name="csX3" fmla="*/ 1578692 w 3863932"/>
              <a:gd name="csY3" fmla="*/ 0 h 584775"/>
              <a:gd name="csX4" fmla="*/ 2092043 w 3863932"/>
              <a:gd name="csY4" fmla="*/ 0 h 584775"/>
              <a:gd name="csX5" fmla="*/ 2605394 w 3863932"/>
              <a:gd name="csY5" fmla="*/ 0 h 584775"/>
              <a:gd name="csX6" fmla="*/ 3234663 w 3863932"/>
              <a:gd name="csY6" fmla="*/ 0 h 584775"/>
              <a:gd name="csX7" fmla="*/ 3863932 w 3863932"/>
              <a:gd name="csY7" fmla="*/ 0 h 584775"/>
              <a:gd name="csX8" fmla="*/ 3863932 w 3863932"/>
              <a:gd name="csY8" fmla="*/ 584775 h 584775"/>
              <a:gd name="csX9" fmla="*/ 3389220 w 3863932"/>
              <a:gd name="csY9" fmla="*/ 584775 h 584775"/>
              <a:gd name="csX10" fmla="*/ 2837230 w 3863932"/>
              <a:gd name="csY10" fmla="*/ 584775 h 584775"/>
              <a:gd name="csX11" fmla="*/ 2285240 w 3863932"/>
              <a:gd name="csY11" fmla="*/ 584775 h 584775"/>
              <a:gd name="csX12" fmla="*/ 1771889 w 3863932"/>
              <a:gd name="csY12" fmla="*/ 584775 h 584775"/>
              <a:gd name="csX13" fmla="*/ 1142620 w 3863932"/>
              <a:gd name="csY13" fmla="*/ 584775 h 584775"/>
              <a:gd name="csX14" fmla="*/ 513351 w 3863932"/>
              <a:gd name="csY14" fmla="*/ 584775 h 584775"/>
              <a:gd name="csX15" fmla="*/ 0 w 3863932"/>
              <a:gd name="csY15" fmla="*/ 584775 h 584775"/>
              <a:gd name="csX16" fmla="*/ 0 w 3863932"/>
              <a:gd name="csY16" fmla="*/ 0 h 584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863932" h="584775" extrusionOk="0">
                <a:moveTo>
                  <a:pt x="0" y="0"/>
                </a:moveTo>
                <a:cubicBezTo>
                  <a:pt x="246279" y="-12908"/>
                  <a:pt x="304487" y="56130"/>
                  <a:pt x="513351" y="0"/>
                </a:cubicBezTo>
                <a:cubicBezTo>
                  <a:pt x="722215" y="-56130"/>
                  <a:pt x="758376" y="46355"/>
                  <a:pt x="949423" y="0"/>
                </a:cubicBezTo>
                <a:cubicBezTo>
                  <a:pt x="1140470" y="-46355"/>
                  <a:pt x="1337434" y="3824"/>
                  <a:pt x="1578692" y="0"/>
                </a:cubicBezTo>
                <a:cubicBezTo>
                  <a:pt x="1819950" y="-3824"/>
                  <a:pt x="1871640" y="32646"/>
                  <a:pt x="2092043" y="0"/>
                </a:cubicBezTo>
                <a:cubicBezTo>
                  <a:pt x="2312446" y="-32646"/>
                  <a:pt x="2356457" y="32188"/>
                  <a:pt x="2605394" y="0"/>
                </a:cubicBezTo>
                <a:cubicBezTo>
                  <a:pt x="2854331" y="-32188"/>
                  <a:pt x="3095444" y="19608"/>
                  <a:pt x="3234663" y="0"/>
                </a:cubicBezTo>
                <a:cubicBezTo>
                  <a:pt x="3373882" y="-19608"/>
                  <a:pt x="3627308" y="53392"/>
                  <a:pt x="3863932" y="0"/>
                </a:cubicBezTo>
                <a:cubicBezTo>
                  <a:pt x="3917737" y="188898"/>
                  <a:pt x="3851618" y="349755"/>
                  <a:pt x="3863932" y="584775"/>
                </a:cubicBezTo>
                <a:cubicBezTo>
                  <a:pt x="3715737" y="623697"/>
                  <a:pt x="3546957" y="561461"/>
                  <a:pt x="3389220" y="584775"/>
                </a:cubicBezTo>
                <a:cubicBezTo>
                  <a:pt x="3231483" y="608089"/>
                  <a:pt x="3014486" y="552849"/>
                  <a:pt x="2837230" y="584775"/>
                </a:cubicBezTo>
                <a:cubicBezTo>
                  <a:pt x="2659974" y="616701"/>
                  <a:pt x="2410275" y="570398"/>
                  <a:pt x="2285240" y="584775"/>
                </a:cubicBezTo>
                <a:cubicBezTo>
                  <a:pt x="2160205" y="599152"/>
                  <a:pt x="1978356" y="543212"/>
                  <a:pt x="1771889" y="584775"/>
                </a:cubicBezTo>
                <a:cubicBezTo>
                  <a:pt x="1565422" y="626338"/>
                  <a:pt x="1370613" y="527649"/>
                  <a:pt x="1142620" y="584775"/>
                </a:cubicBezTo>
                <a:cubicBezTo>
                  <a:pt x="914627" y="641901"/>
                  <a:pt x="713463" y="583940"/>
                  <a:pt x="513351" y="584775"/>
                </a:cubicBezTo>
                <a:cubicBezTo>
                  <a:pt x="313239" y="585610"/>
                  <a:pt x="256428" y="558963"/>
                  <a:pt x="0" y="584775"/>
                </a:cubicBezTo>
                <a:cubicBezTo>
                  <a:pt x="-37908" y="447747"/>
                  <a:pt x="53521" y="233449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50000"/>
                  </a:srgbClr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Discrete outcomes =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E97132">
                    <a:lumMod val="50000"/>
                  </a:srgbClr>
                </a:solidFill>
                <a:latin typeface="Segoe Script" panose="030B0504020000000003" pitchFamily="66" charset="0"/>
              </a:rPr>
              <a:t>Discrete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50000"/>
                  </a:srgbClr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probability distribution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F5B1EC-DF97-EBEC-E38D-F2855CF687F5}"/>
              </a:ext>
            </a:extLst>
          </p:cNvPr>
          <p:cNvSpPr txBox="1"/>
          <p:nvPr/>
        </p:nvSpPr>
        <p:spPr>
          <a:xfrm>
            <a:off x="2051350" y="2954368"/>
            <a:ext cx="3140054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Same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50000"/>
                  </a:srgbClr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</a:rPr>
              <a:t>outcome-payoffs</a:t>
            </a:r>
            <a:endParaRPr lang="en-US" sz="1600" dirty="0">
              <a:solidFill>
                <a:srgbClr val="0070C0"/>
              </a:solidFill>
              <a:latin typeface="Segoe Script" panose="030B0504020000000003" pitchFamily="66" charset="0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Different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50000"/>
                  </a:srgbClr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 lottery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D769529-EDF9-0828-BD08-EAAE58A015C9}"/>
              </a:ext>
            </a:extLst>
          </p:cNvPr>
          <p:cNvSpPr/>
          <p:nvPr/>
        </p:nvSpPr>
        <p:spPr>
          <a:xfrm>
            <a:off x="2921347" y="2593669"/>
            <a:ext cx="395926" cy="386499"/>
          </a:xfrm>
          <a:custGeom>
            <a:avLst/>
            <a:gdLst>
              <a:gd name="csX0" fmla="*/ 395926 w 395926"/>
              <a:gd name="csY0" fmla="*/ 386499 h 386499"/>
              <a:gd name="csX1" fmla="*/ 282804 w 395926"/>
              <a:gd name="csY1" fmla="*/ 226243 h 386499"/>
              <a:gd name="csX2" fmla="*/ 216817 w 395926"/>
              <a:gd name="csY2" fmla="*/ 169682 h 386499"/>
              <a:gd name="csX3" fmla="*/ 179110 w 395926"/>
              <a:gd name="csY3" fmla="*/ 131975 h 386499"/>
              <a:gd name="csX4" fmla="*/ 94268 w 395926"/>
              <a:gd name="csY4" fmla="*/ 75414 h 386499"/>
              <a:gd name="csX5" fmla="*/ 47134 w 395926"/>
              <a:gd name="csY5" fmla="*/ 37707 h 386499"/>
              <a:gd name="csX6" fmla="*/ 0 w 395926"/>
              <a:gd name="csY6" fmla="*/ 0 h 3864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5926" h="386499">
                <a:moveTo>
                  <a:pt x="395926" y="386499"/>
                </a:moveTo>
                <a:cubicBezTo>
                  <a:pt x="337334" y="294425"/>
                  <a:pt x="343845" y="294913"/>
                  <a:pt x="282804" y="226243"/>
                </a:cubicBezTo>
                <a:cubicBezTo>
                  <a:pt x="242587" y="180999"/>
                  <a:pt x="266164" y="212861"/>
                  <a:pt x="216817" y="169682"/>
                </a:cubicBezTo>
                <a:cubicBezTo>
                  <a:pt x="203440" y="157977"/>
                  <a:pt x="193199" y="142813"/>
                  <a:pt x="179110" y="131975"/>
                </a:cubicBezTo>
                <a:cubicBezTo>
                  <a:pt x="152169" y="111252"/>
                  <a:pt x="94268" y="75414"/>
                  <a:pt x="94268" y="75414"/>
                </a:cubicBezTo>
                <a:cubicBezTo>
                  <a:pt x="40239" y="-5631"/>
                  <a:pt x="112181" y="89744"/>
                  <a:pt x="47134" y="37707"/>
                </a:cubicBezTo>
                <a:cubicBezTo>
                  <a:pt x="-13780" y="-11024"/>
                  <a:pt x="71086" y="23695"/>
                  <a:pt x="0" y="0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90760DA2-86DE-D30B-BBD7-669850F24FD1}"/>
              </a:ext>
            </a:extLst>
          </p:cNvPr>
          <p:cNvSpPr/>
          <p:nvPr/>
        </p:nvSpPr>
        <p:spPr>
          <a:xfrm rot="5400000">
            <a:off x="2774512" y="1985680"/>
            <a:ext cx="315668" cy="88563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8552A7A-CB86-5944-8DE8-3CD3FD3BABE9}"/>
              </a:ext>
            </a:extLst>
          </p:cNvPr>
          <p:cNvSpPr/>
          <p:nvPr/>
        </p:nvSpPr>
        <p:spPr>
          <a:xfrm>
            <a:off x="195834" y="154211"/>
            <a:ext cx="1115568" cy="32004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adley Hand ITC" panose="03070402050302030203" pitchFamily="66" charset="0"/>
                <a:ea typeface="+mn-ea"/>
                <a:cs typeface="+mn-cs"/>
              </a:rPr>
              <a:t>REVIEW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5FB12E-FB71-ED00-B64D-8572884EC4F1}"/>
              </a:ext>
            </a:extLst>
          </p:cNvPr>
          <p:cNvSpPr txBox="1"/>
          <p:nvPr/>
        </p:nvSpPr>
        <p:spPr>
          <a:xfrm>
            <a:off x="9692882" y="5931849"/>
            <a:ext cx="1262261" cy="584775"/>
          </a:xfrm>
          <a:custGeom>
            <a:avLst/>
            <a:gdLst>
              <a:gd name="csX0" fmla="*/ 0 w 1262261"/>
              <a:gd name="csY0" fmla="*/ 0 h 584775"/>
              <a:gd name="csX1" fmla="*/ 408131 w 1262261"/>
              <a:gd name="csY1" fmla="*/ 0 h 584775"/>
              <a:gd name="csX2" fmla="*/ 791017 w 1262261"/>
              <a:gd name="csY2" fmla="*/ 0 h 584775"/>
              <a:gd name="csX3" fmla="*/ 1262261 w 1262261"/>
              <a:gd name="csY3" fmla="*/ 0 h 584775"/>
              <a:gd name="csX4" fmla="*/ 1262261 w 1262261"/>
              <a:gd name="csY4" fmla="*/ 584775 h 584775"/>
              <a:gd name="csX5" fmla="*/ 866753 w 1262261"/>
              <a:gd name="csY5" fmla="*/ 584775 h 584775"/>
              <a:gd name="csX6" fmla="*/ 420754 w 1262261"/>
              <a:gd name="csY6" fmla="*/ 584775 h 584775"/>
              <a:gd name="csX7" fmla="*/ 0 w 1262261"/>
              <a:gd name="csY7" fmla="*/ 584775 h 584775"/>
              <a:gd name="csX8" fmla="*/ 0 w 1262261"/>
              <a:gd name="csY8" fmla="*/ 0 h 584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62261" h="584775" extrusionOk="0">
                <a:moveTo>
                  <a:pt x="0" y="0"/>
                </a:moveTo>
                <a:cubicBezTo>
                  <a:pt x="163614" y="-1654"/>
                  <a:pt x="256632" y="47602"/>
                  <a:pt x="408131" y="0"/>
                </a:cubicBezTo>
                <a:cubicBezTo>
                  <a:pt x="559630" y="-47602"/>
                  <a:pt x="699735" y="6255"/>
                  <a:pt x="791017" y="0"/>
                </a:cubicBezTo>
                <a:cubicBezTo>
                  <a:pt x="882299" y="-6255"/>
                  <a:pt x="1083576" y="24396"/>
                  <a:pt x="1262261" y="0"/>
                </a:cubicBezTo>
                <a:cubicBezTo>
                  <a:pt x="1308917" y="227626"/>
                  <a:pt x="1252756" y="341921"/>
                  <a:pt x="1262261" y="584775"/>
                </a:cubicBezTo>
                <a:cubicBezTo>
                  <a:pt x="1157415" y="621257"/>
                  <a:pt x="1044654" y="548224"/>
                  <a:pt x="866753" y="584775"/>
                </a:cubicBezTo>
                <a:cubicBezTo>
                  <a:pt x="688852" y="621326"/>
                  <a:pt x="609150" y="577793"/>
                  <a:pt x="420754" y="584775"/>
                </a:cubicBezTo>
                <a:cubicBezTo>
                  <a:pt x="232358" y="591757"/>
                  <a:pt x="169170" y="578575"/>
                  <a:pt x="0" y="584775"/>
                </a:cubicBezTo>
                <a:cubicBezTo>
                  <a:pt x="-62046" y="459023"/>
                  <a:pt x="1525" y="217936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Cardinal payoffs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3748BF7-62EE-C352-BBF7-4E965E7DB4B7}"/>
              </a:ext>
            </a:extLst>
          </p:cNvPr>
          <p:cNvSpPr/>
          <p:nvPr/>
        </p:nvSpPr>
        <p:spPr>
          <a:xfrm>
            <a:off x="7484882" y="5854041"/>
            <a:ext cx="2215299" cy="386503"/>
          </a:xfrm>
          <a:custGeom>
            <a:avLst/>
            <a:gdLst>
              <a:gd name="csX0" fmla="*/ 2215299 w 2215299"/>
              <a:gd name="csY0" fmla="*/ 386503 h 386503"/>
              <a:gd name="csX1" fmla="*/ 2092751 w 2215299"/>
              <a:gd name="csY1" fmla="*/ 358223 h 386503"/>
              <a:gd name="csX2" fmla="*/ 1951349 w 2215299"/>
              <a:gd name="csY2" fmla="*/ 329943 h 386503"/>
              <a:gd name="csX3" fmla="*/ 1791093 w 2215299"/>
              <a:gd name="csY3" fmla="*/ 311089 h 386503"/>
              <a:gd name="csX4" fmla="*/ 1621411 w 2215299"/>
              <a:gd name="csY4" fmla="*/ 282808 h 386503"/>
              <a:gd name="csX5" fmla="*/ 1470582 w 2215299"/>
              <a:gd name="csY5" fmla="*/ 263955 h 386503"/>
              <a:gd name="csX6" fmla="*/ 1225485 w 2215299"/>
              <a:gd name="csY6" fmla="*/ 226248 h 386503"/>
              <a:gd name="csX7" fmla="*/ 895547 w 2215299"/>
              <a:gd name="csY7" fmla="*/ 179114 h 386503"/>
              <a:gd name="csX8" fmla="*/ 772998 w 2215299"/>
              <a:gd name="csY8" fmla="*/ 169687 h 386503"/>
              <a:gd name="csX9" fmla="*/ 641023 w 2215299"/>
              <a:gd name="csY9" fmla="*/ 141406 h 386503"/>
              <a:gd name="csX10" fmla="*/ 546755 w 2215299"/>
              <a:gd name="csY10" fmla="*/ 131980 h 386503"/>
              <a:gd name="csX11" fmla="*/ 443060 w 2215299"/>
              <a:gd name="csY11" fmla="*/ 94272 h 386503"/>
              <a:gd name="csX12" fmla="*/ 254524 w 2215299"/>
              <a:gd name="csY12" fmla="*/ 56565 h 386503"/>
              <a:gd name="csX13" fmla="*/ 103695 w 2215299"/>
              <a:gd name="csY13" fmla="*/ 28285 h 386503"/>
              <a:gd name="csX14" fmla="*/ 65988 w 2215299"/>
              <a:gd name="csY14" fmla="*/ 9431 h 386503"/>
              <a:gd name="csX15" fmla="*/ 0 w 2215299"/>
              <a:gd name="csY15" fmla="*/ 4 h 3865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215299" h="386503">
                <a:moveTo>
                  <a:pt x="2215299" y="386503"/>
                </a:moveTo>
                <a:cubicBezTo>
                  <a:pt x="2131319" y="352912"/>
                  <a:pt x="2204904" y="377728"/>
                  <a:pt x="2092751" y="358223"/>
                </a:cubicBezTo>
                <a:cubicBezTo>
                  <a:pt x="2045394" y="349987"/>
                  <a:pt x="1998840" y="337363"/>
                  <a:pt x="1951349" y="329943"/>
                </a:cubicBezTo>
                <a:cubicBezTo>
                  <a:pt x="1898207" y="321640"/>
                  <a:pt x="1844339" y="318696"/>
                  <a:pt x="1791093" y="311089"/>
                </a:cubicBezTo>
                <a:cubicBezTo>
                  <a:pt x="1734328" y="302980"/>
                  <a:pt x="1678142" y="291151"/>
                  <a:pt x="1621411" y="282808"/>
                </a:cubicBezTo>
                <a:cubicBezTo>
                  <a:pt x="1571283" y="275436"/>
                  <a:pt x="1520560" y="272285"/>
                  <a:pt x="1470582" y="263955"/>
                </a:cubicBezTo>
                <a:cubicBezTo>
                  <a:pt x="1205052" y="219700"/>
                  <a:pt x="1464649" y="246177"/>
                  <a:pt x="1225485" y="226248"/>
                </a:cubicBezTo>
                <a:cubicBezTo>
                  <a:pt x="1044959" y="181116"/>
                  <a:pt x="1145532" y="199946"/>
                  <a:pt x="895547" y="179114"/>
                </a:cubicBezTo>
                <a:lnTo>
                  <a:pt x="772998" y="169687"/>
                </a:lnTo>
                <a:cubicBezTo>
                  <a:pt x="729006" y="160260"/>
                  <a:pt x="685401" y="148802"/>
                  <a:pt x="641023" y="141406"/>
                </a:cubicBezTo>
                <a:cubicBezTo>
                  <a:pt x="609873" y="136214"/>
                  <a:pt x="577476" y="139294"/>
                  <a:pt x="546755" y="131980"/>
                </a:cubicBezTo>
                <a:cubicBezTo>
                  <a:pt x="510976" y="123461"/>
                  <a:pt x="478673" y="103462"/>
                  <a:pt x="443060" y="94272"/>
                </a:cubicBezTo>
                <a:cubicBezTo>
                  <a:pt x="381003" y="78257"/>
                  <a:pt x="316148" y="74171"/>
                  <a:pt x="254524" y="56565"/>
                </a:cubicBezTo>
                <a:cubicBezTo>
                  <a:pt x="161177" y="29895"/>
                  <a:pt x="211273" y="40238"/>
                  <a:pt x="103695" y="28285"/>
                </a:cubicBezTo>
                <a:cubicBezTo>
                  <a:pt x="91126" y="22000"/>
                  <a:pt x="79448" y="13469"/>
                  <a:pt x="65988" y="9431"/>
                </a:cubicBezTo>
                <a:cubicBezTo>
                  <a:pt x="32843" y="-513"/>
                  <a:pt x="24181" y="4"/>
                  <a:pt x="0" y="4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CF770D-1BF2-EA14-FF50-A8D741380DAB}"/>
              </a:ext>
            </a:extLst>
          </p:cNvPr>
          <p:cNvSpPr txBox="1"/>
          <p:nvPr/>
        </p:nvSpPr>
        <p:spPr>
          <a:xfrm>
            <a:off x="6931796" y="6507904"/>
            <a:ext cx="3863932" cy="338554"/>
          </a:xfrm>
          <a:custGeom>
            <a:avLst/>
            <a:gdLst>
              <a:gd name="csX0" fmla="*/ 0 w 3863932"/>
              <a:gd name="csY0" fmla="*/ 0 h 338554"/>
              <a:gd name="csX1" fmla="*/ 513351 w 3863932"/>
              <a:gd name="csY1" fmla="*/ 0 h 338554"/>
              <a:gd name="csX2" fmla="*/ 949423 w 3863932"/>
              <a:gd name="csY2" fmla="*/ 0 h 338554"/>
              <a:gd name="csX3" fmla="*/ 1578692 w 3863932"/>
              <a:gd name="csY3" fmla="*/ 0 h 338554"/>
              <a:gd name="csX4" fmla="*/ 2092043 w 3863932"/>
              <a:gd name="csY4" fmla="*/ 0 h 338554"/>
              <a:gd name="csX5" fmla="*/ 2605394 w 3863932"/>
              <a:gd name="csY5" fmla="*/ 0 h 338554"/>
              <a:gd name="csX6" fmla="*/ 3234663 w 3863932"/>
              <a:gd name="csY6" fmla="*/ 0 h 338554"/>
              <a:gd name="csX7" fmla="*/ 3863932 w 3863932"/>
              <a:gd name="csY7" fmla="*/ 0 h 338554"/>
              <a:gd name="csX8" fmla="*/ 3863932 w 3863932"/>
              <a:gd name="csY8" fmla="*/ 338554 h 338554"/>
              <a:gd name="csX9" fmla="*/ 3389220 w 3863932"/>
              <a:gd name="csY9" fmla="*/ 338554 h 338554"/>
              <a:gd name="csX10" fmla="*/ 2837230 w 3863932"/>
              <a:gd name="csY10" fmla="*/ 338554 h 338554"/>
              <a:gd name="csX11" fmla="*/ 2285240 w 3863932"/>
              <a:gd name="csY11" fmla="*/ 338554 h 338554"/>
              <a:gd name="csX12" fmla="*/ 1771889 w 3863932"/>
              <a:gd name="csY12" fmla="*/ 338554 h 338554"/>
              <a:gd name="csX13" fmla="*/ 1142620 w 3863932"/>
              <a:gd name="csY13" fmla="*/ 338554 h 338554"/>
              <a:gd name="csX14" fmla="*/ 513351 w 3863932"/>
              <a:gd name="csY14" fmla="*/ 338554 h 338554"/>
              <a:gd name="csX15" fmla="*/ 0 w 3863932"/>
              <a:gd name="csY15" fmla="*/ 338554 h 338554"/>
              <a:gd name="csX16" fmla="*/ 0 w 3863932"/>
              <a:gd name="csY16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863932" h="338554" extrusionOk="0">
                <a:moveTo>
                  <a:pt x="0" y="0"/>
                </a:moveTo>
                <a:cubicBezTo>
                  <a:pt x="246279" y="-12908"/>
                  <a:pt x="304487" y="56130"/>
                  <a:pt x="513351" y="0"/>
                </a:cubicBezTo>
                <a:cubicBezTo>
                  <a:pt x="722215" y="-56130"/>
                  <a:pt x="758376" y="46355"/>
                  <a:pt x="949423" y="0"/>
                </a:cubicBezTo>
                <a:cubicBezTo>
                  <a:pt x="1140470" y="-46355"/>
                  <a:pt x="1337434" y="3824"/>
                  <a:pt x="1578692" y="0"/>
                </a:cubicBezTo>
                <a:cubicBezTo>
                  <a:pt x="1819950" y="-3824"/>
                  <a:pt x="1871640" y="32646"/>
                  <a:pt x="2092043" y="0"/>
                </a:cubicBezTo>
                <a:cubicBezTo>
                  <a:pt x="2312446" y="-32646"/>
                  <a:pt x="2356457" y="32188"/>
                  <a:pt x="2605394" y="0"/>
                </a:cubicBezTo>
                <a:cubicBezTo>
                  <a:pt x="2854331" y="-32188"/>
                  <a:pt x="3095444" y="19608"/>
                  <a:pt x="3234663" y="0"/>
                </a:cubicBezTo>
                <a:cubicBezTo>
                  <a:pt x="3373882" y="-19608"/>
                  <a:pt x="3627308" y="53392"/>
                  <a:pt x="3863932" y="0"/>
                </a:cubicBezTo>
                <a:cubicBezTo>
                  <a:pt x="3880810" y="108997"/>
                  <a:pt x="3844436" y="194594"/>
                  <a:pt x="3863932" y="338554"/>
                </a:cubicBezTo>
                <a:cubicBezTo>
                  <a:pt x="3715737" y="377476"/>
                  <a:pt x="3546957" y="315240"/>
                  <a:pt x="3389220" y="338554"/>
                </a:cubicBezTo>
                <a:cubicBezTo>
                  <a:pt x="3231483" y="361868"/>
                  <a:pt x="3014486" y="306628"/>
                  <a:pt x="2837230" y="338554"/>
                </a:cubicBezTo>
                <a:cubicBezTo>
                  <a:pt x="2659974" y="370480"/>
                  <a:pt x="2410275" y="324177"/>
                  <a:pt x="2285240" y="338554"/>
                </a:cubicBezTo>
                <a:cubicBezTo>
                  <a:pt x="2160205" y="352931"/>
                  <a:pt x="1978356" y="296991"/>
                  <a:pt x="1771889" y="338554"/>
                </a:cubicBezTo>
                <a:cubicBezTo>
                  <a:pt x="1565422" y="380117"/>
                  <a:pt x="1370613" y="281428"/>
                  <a:pt x="1142620" y="338554"/>
                </a:cubicBezTo>
                <a:cubicBezTo>
                  <a:pt x="914627" y="395680"/>
                  <a:pt x="713463" y="337719"/>
                  <a:pt x="513351" y="338554"/>
                </a:cubicBezTo>
                <a:cubicBezTo>
                  <a:pt x="313239" y="339389"/>
                  <a:pt x="256428" y="312742"/>
                  <a:pt x="0" y="338554"/>
                </a:cubicBezTo>
                <a:cubicBezTo>
                  <a:pt x="-8967" y="239005"/>
                  <a:pt x="5325" y="122363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" panose="020B0503020202020204" pitchFamily="34" charset="0"/>
              </a:rPr>
              <a:t>Different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Univers" panose="020B0503020202020204" pitchFamily="34" charset="0"/>
              </a:rPr>
              <a:t> for different decision-makers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Univers" panose="020B0503020202020204" pitchFamily="34" charset="0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037CA6C-7A78-7C22-269C-04B40B7D2479}"/>
              </a:ext>
            </a:extLst>
          </p:cNvPr>
          <p:cNvSpPr/>
          <p:nvPr/>
        </p:nvSpPr>
        <p:spPr>
          <a:xfrm>
            <a:off x="6429080" y="6570482"/>
            <a:ext cx="546755" cy="160942"/>
          </a:xfrm>
          <a:custGeom>
            <a:avLst/>
            <a:gdLst>
              <a:gd name="csX0" fmla="*/ 0 w 546755"/>
              <a:gd name="csY0" fmla="*/ 0 h 203922"/>
              <a:gd name="csX1" fmla="*/ 56561 w 546755"/>
              <a:gd name="csY1" fmla="*/ 75415 h 203922"/>
              <a:gd name="csX2" fmla="*/ 75415 w 546755"/>
              <a:gd name="csY2" fmla="*/ 103695 h 203922"/>
              <a:gd name="csX3" fmla="*/ 131976 w 546755"/>
              <a:gd name="csY3" fmla="*/ 141403 h 203922"/>
              <a:gd name="csX4" fmla="*/ 160256 w 546755"/>
              <a:gd name="csY4" fmla="*/ 160256 h 203922"/>
              <a:gd name="csX5" fmla="*/ 207390 w 546755"/>
              <a:gd name="csY5" fmla="*/ 169683 h 203922"/>
              <a:gd name="csX6" fmla="*/ 546755 w 546755"/>
              <a:gd name="csY6" fmla="*/ 188537 h 2039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46755" h="203922">
                <a:moveTo>
                  <a:pt x="0" y="0"/>
                </a:moveTo>
                <a:cubicBezTo>
                  <a:pt x="16324" y="81620"/>
                  <a:pt x="-8090" y="20000"/>
                  <a:pt x="56561" y="75415"/>
                </a:cubicBezTo>
                <a:cubicBezTo>
                  <a:pt x="65163" y="82788"/>
                  <a:pt x="66889" y="96234"/>
                  <a:pt x="75415" y="103695"/>
                </a:cubicBezTo>
                <a:cubicBezTo>
                  <a:pt x="92468" y="118616"/>
                  <a:pt x="113122" y="128834"/>
                  <a:pt x="131976" y="141403"/>
                </a:cubicBezTo>
                <a:cubicBezTo>
                  <a:pt x="141403" y="147687"/>
                  <a:pt x="149147" y="158034"/>
                  <a:pt x="160256" y="160256"/>
                </a:cubicBezTo>
                <a:lnTo>
                  <a:pt x="207390" y="169683"/>
                </a:lnTo>
                <a:cubicBezTo>
                  <a:pt x="335034" y="233506"/>
                  <a:pt x="231044" y="188537"/>
                  <a:pt x="546755" y="18853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4688D8F-AED3-2511-6FBB-5FA585993864}"/>
              </a:ext>
            </a:extLst>
          </p:cNvPr>
          <p:cNvSpPr/>
          <p:nvPr/>
        </p:nvSpPr>
        <p:spPr>
          <a:xfrm>
            <a:off x="10746557" y="6334812"/>
            <a:ext cx="84841" cy="311085"/>
          </a:xfrm>
          <a:custGeom>
            <a:avLst/>
            <a:gdLst>
              <a:gd name="csX0" fmla="*/ 0 w 84841"/>
              <a:gd name="csY0" fmla="*/ 0 h 311085"/>
              <a:gd name="csX1" fmla="*/ 75414 w 84841"/>
              <a:gd name="csY1" fmla="*/ 56561 h 311085"/>
              <a:gd name="csX2" fmla="*/ 84841 w 84841"/>
              <a:gd name="csY2" fmla="*/ 94268 h 311085"/>
              <a:gd name="csX3" fmla="*/ 65987 w 84841"/>
              <a:gd name="csY3" fmla="*/ 235670 h 311085"/>
              <a:gd name="csX4" fmla="*/ 47134 w 84841"/>
              <a:gd name="csY4" fmla="*/ 292231 h 311085"/>
              <a:gd name="csX5" fmla="*/ 9427 w 84841"/>
              <a:gd name="csY5" fmla="*/ 311085 h 3110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84841" h="311085">
                <a:moveTo>
                  <a:pt x="0" y="0"/>
                </a:moveTo>
                <a:cubicBezTo>
                  <a:pt x="40862" y="20431"/>
                  <a:pt x="58753" y="17684"/>
                  <a:pt x="75414" y="56561"/>
                </a:cubicBezTo>
                <a:cubicBezTo>
                  <a:pt x="80518" y="68469"/>
                  <a:pt x="81699" y="81699"/>
                  <a:pt x="84841" y="94268"/>
                </a:cubicBezTo>
                <a:cubicBezTo>
                  <a:pt x="78556" y="141402"/>
                  <a:pt x="74884" y="188959"/>
                  <a:pt x="65987" y="235670"/>
                </a:cubicBezTo>
                <a:cubicBezTo>
                  <a:pt x="62268" y="255192"/>
                  <a:pt x="64909" y="283343"/>
                  <a:pt x="47134" y="292231"/>
                </a:cubicBezTo>
                <a:lnTo>
                  <a:pt x="9427" y="311085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30AE1FA-B3A9-9E72-BD4E-59AA9EC39F4A}"/>
              </a:ext>
            </a:extLst>
          </p:cNvPr>
          <p:cNvSpPr txBox="1"/>
          <p:nvPr/>
        </p:nvSpPr>
        <p:spPr>
          <a:xfrm>
            <a:off x="4858611" y="364284"/>
            <a:ext cx="4977516" cy="338554"/>
          </a:xfrm>
          <a:custGeom>
            <a:avLst/>
            <a:gdLst>
              <a:gd name="csX0" fmla="*/ 0 w 4977516"/>
              <a:gd name="csY0" fmla="*/ 0 h 338554"/>
              <a:gd name="csX1" fmla="*/ 503282 w 4977516"/>
              <a:gd name="csY1" fmla="*/ 0 h 338554"/>
              <a:gd name="csX2" fmla="*/ 907014 w 4977516"/>
              <a:gd name="csY2" fmla="*/ 0 h 338554"/>
              <a:gd name="csX3" fmla="*/ 1559622 w 4977516"/>
              <a:gd name="csY3" fmla="*/ 0 h 338554"/>
              <a:gd name="csX4" fmla="*/ 2062904 w 4977516"/>
              <a:gd name="csY4" fmla="*/ 0 h 338554"/>
              <a:gd name="csX5" fmla="*/ 2566186 w 4977516"/>
              <a:gd name="csY5" fmla="*/ 0 h 338554"/>
              <a:gd name="csX6" fmla="*/ 3218794 w 4977516"/>
              <a:gd name="csY6" fmla="*/ 0 h 338554"/>
              <a:gd name="csX7" fmla="*/ 3672301 w 4977516"/>
              <a:gd name="csY7" fmla="*/ 0 h 338554"/>
              <a:gd name="csX8" fmla="*/ 4324908 w 4977516"/>
              <a:gd name="csY8" fmla="*/ 0 h 338554"/>
              <a:gd name="csX9" fmla="*/ 4977516 w 4977516"/>
              <a:gd name="csY9" fmla="*/ 0 h 338554"/>
              <a:gd name="csX10" fmla="*/ 4977516 w 4977516"/>
              <a:gd name="csY10" fmla="*/ 338554 h 338554"/>
              <a:gd name="csX11" fmla="*/ 4424459 w 4977516"/>
              <a:gd name="csY11" fmla="*/ 338554 h 338554"/>
              <a:gd name="csX12" fmla="*/ 3921176 w 4977516"/>
              <a:gd name="csY12" fmla="*/ 338554 h 338554"/>
              <a:gd name="csX13" fmla="*/ 3268569 w 4977516"/>
              <a:gd name="csY13" fmla="*/ 338554 h 338554"/>
              <a:gd name="csX14" fmla="*/ 2615961 w 4977516"/>
              <a:gd name="csY14" fmla="*/ 338554 h 338554"/>
              <a:gd name="csX15" fmla="*/ 2162454 w 4977516"/>
              <a:gd name="csY15" fmla="*/ 338554 h 338554"/>
              <a:gd name="csX16" fmla="*/ 1609397 w 4977516"/>
              <a:gd name="csY16" fmla="*/ 338554 h 338554"/>
              <a:gd name="csX17" fmla="*/ 956789 w 4977516"/>
              <a:gd name="csY17" fmla="*/ 338554 h 338554"/>
              <a:gd name="csX18" fmla="*/ 0 w 4977516"/>
              <a:gd name="csY18" fmla="*/ 338554 h 338554"/>
              <a:gd name="csX19" fmla="*/ 0 w 4977516"/>
              <a:gd name="csY19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4977516" h="338554" extrusionOk="0">
                <a:moveTo>
                  <a:pt x="0" y="0"/>
                </a:moveTo>
                <a:cubicBezTo>
                  <a:pt x="104303" y="-55167"/>
                  <a:pt x="333992" y="2320"/>
                  <a:pt x="503282" y="0"/>
                </a:cubicBezTo>
                <a:cubicBezTo>
                  <a:pt x="672572" y="-2320"/>
                  <a:pt x="714595" y="18262"/>
                  <a:pt x="907014" y="0"/>
                </a:cubicBezTo>
                <a:cubicBezTo>
                  <a:pt x="1099433" y="-18262"/>
                  <a:pt x="1314097" y="15292"/>
                  <a:pt x="1559622" y="0"/>
                </a:cubicBezTo>
                <a:cubicBezTo>
                  <a:pt x="1805147" y="-15292"/>
                  <a:pt x="1923179" y="103"/>
                  <a:pt x="2062904" y="0"/>
                </a:cubicBezTo>
                <a:cubicBezTo>
                  <a:pt x="2202629" y="-103"/>
                  <a:pt x="2425467" y="14506"/>
                  <a:pt x="2566186" y="0"/>
                </a:cubicBezTo>
                <a:cubicBezTo>
                  <a:pt x="2706905" y="-14506"/>
                  <a:pt x="3035284" y="60120"/>
                  <a:pt x="3218794" y="0"/>
                </a:cubicBezTo>
                <a:cubicBezTo>
                  <a:pt x="3402304" y="-60120"/>
                  <a:pt x="3451647" y="46527"/>
                  <a:pt x="3672301" y="0"/>
                </a:cubicBezTo>
                <a:cubicBezTo>
                  <a:pt x="3892955" y="-46527"/>
                  <a:pt x="4022235" y="1319"/>
                  <a:pt x="4324908" y="0"/>
                </a:cubicBezTo>
                <a:cubicBezTo>
                  <a:pt x="4627581" y="-1319"/>
                  <a:pt x="4728092" y="14065"/>
                  <a:pt x="4977516" y="0"/>
                </a:cubicBezTo>
                <a:cubicBezTo>
                  <a:pt x="5009759" y="159082"/>
                  <a:pt x="4975152" y="186429"/>
                  <a:pt x="4977516" y="338554"/>
                </a:cubicBezTo>
                <a:cubicBezTo>
                  <a:pt x="4732462" y="341489"/>
                  <a:pt x="4643819" y="331544"/>
                  <a:pt x="4424459" y="338554"/>
                </a:cubicBezTo>
                <a:cubicBezTo>
                  <a:pt x="4205099" y="345564"/>
                  <a:pt x="4127291" y="319588"/>
                  <a:pt x="3921176" y="338554"/>
                </a:cubicBezTo>
                <a:cubicBezTo>
                  <a:pt x="3715061" y="357520"/>
                  <a:pt x="3465781" y="281955"/>
                  <a:pt x="3268569" y="338554"/>
                </a:cubicBezTo>
                <a:cubicBezTo>
                  <a:pt x="3071357" y="395153"/>
                  <a:pt x="2821654" y="305276"/>
                  <a:pt x="2615961" y="338554"/>
                </a:cubicBezTo>
                <a:cubicBezTo>
                  <a:pt x="2410268" y="371832"/>
                  <a:pt x="2350951" y="290474"/>
                  <a:pt x="2162454" y="338554"/>
                </a:cubicBezTo>
                <a:cubicBezTo>
                  <a:pt x="1973957" y="386634"/>
                  <a:pt x="1836938" y="287224"/>
                  <a:pt x="1609397" y="338554"/>
                </a:cubicBezTo>
                <a:cubicBezTo>
                  <a:pt x="1381856" y="389884"/>
                  <a:pt x="1153264" y="270832"/>
                  <a:pt x="956789" y="338554"/>
                </a:cubicBezTo>
                <a:cubicBezTo>
                  <a:pt x="760314" y="406276"/>
                  <a:pt x="322909" y="280961"/>
                  <a:pt x="0" y="338554"/>
                </a:cubicBezTo>
                <a:cubicBezTo>
                  <a:pt x="-8590" y="231889"/>
                  <a:pt x="23621" y="153216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600" i="1" dirty="0">
                <a:solidFill>
                  <a:schemeClr val="accent2">
                    <a:lumMod val="50000"/>
                  </a:schemeClr>
                </a:solidFill>
                <a:latin typeface="Univers" panose="020B0503020202020204" pitchFamily="34" charset="0"/>
              </a:rPr>
              <a:t>Nature: </a:t>
            </a:r>
            <a:r>
              <a:rPr lang="en-IN" sz="1600" i="1" dirty="0">
                <a:latin typeface="Univers" panose="020B0503020202020204" pitchFamily="34" charset="0"/>
              </a:rPr>
              <a:t>Outside the control of the decision maker</a:t>
            </a:r>
            <a:endParaRPr kumimoji="0" lang="en-US" sz="16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Univers" panose="020B0503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84E726D-1795-C169-6E97-A2D299B369B4}"/>
              </a:ext>
            </a:extLst>
          </p:cNvPr>
          <p:cNvSpPr txBox="1"/>
          <p:nvPr/>
        </p:nvSpPr>
        <p:spPr>
          <a:xfrm>
            <a:off x="6155026" y="68431"/>
            <a:ext cx="1759857" cy="338554"/>
          </a:xfrm>
          <a:custGeom>
            <a:avLst/>
            <a:gdLst>
              <a:gd name="csX0" fmla="*/ 0 w 1759857"/>
              <a:gd name="csY0" fmla="*/ 0 h 338554"/>
              <a:gd name="csX1" fmla="*/ 569020 w 1759857"/>
              <a:gd name="csY1" fmla="*/ 0 h 338554"/>
              <a:gd name="csX2" fmla="*/ 1102844 w 1759857"/>
              <a:gd name="csY2" fmla="*/ 0 h 338554"/>
              <a:gd name="csX3" fmla="*/ 1759857 w 1759857"/>
              <a:gd name="csY3" fmla="*/ 0 h 338554"/>
              <a:gd name="csX4" fmla="*/ 1759857 w 1759857"/>
              <a:gd name="csY4" fmla="*/ 338554 h 338554"/>
              <a:gd name="csX5" fmla="*/ 1208435 w 1759857"/>
              <a:gd name="csY5" fmla="*/ 338554 h 338554"/>
              <a:gd name="csX6" fmla="*/ 586619 w 1759857"/>
              <a:gd name="csY6" fmla="*/ 338554 h 338554"/>
              <a:gd name="csX7" fmla="*/ 0 w 1759857"/>
              <a:gd name="csY7" fmla="*/ 338554 h 338554"/>
              <a:gd name="csX8" fmla="*/ 0 w 1759857"/>
              <a:gd name="csY8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59857" h="338554" extrusionOk="0">
                <a:moveTo>
                  <a:pt x="0" y="0"/>
                </a:moveTo>
                <a:cubicBezTo>
                  <a:pt x="164986" y="-59315"/>
                  <a:pt x="328162" y="36093"/>
                  <a:pt x="569020" y="0"/>
                </a:cubicBezTo>
                <a:cubicBezTo>
                  <a:pt x="809878" y="-36093"/>
                  <a:pt x="977550" y="33958"/>
                  <a:pt x="1102844" y="0"/>
                </a:cubicBezTo>
                <a:cubicBezTo>
                  <a:pt x="1228138" y="-33958"/>
                  <a:pt x="1627202" y="42847"/>
                  <a:pt x="1759857" y="0"/>
                </a:cubicBezTo>
                <a:cubicBezTo>
                  <a:pt x="1795435" y="98340"/>
                  <a:pt x="1732044" y="172793"/>
                  <a:pt x="1759857" y="338554"/>
                </a:cubicBezTo>
                <a:cubicBezTo>
                  <a:pt x="1648666" y="346438"/>
                  <a:pt x="1335765" y="334622"/>
                  <a:pt x="1208435" y="338554"/>
                </a:cubicBezTo>
                <a:cubicBezTo>
                  <a:pt x="1081105" y="342486"/>
                  <a:pt x="790721" y="266238"/>
                  <a:pt x="586619" y="338554"/>
                </a:cubicBezTo>
                <a:cubicBezTo>
                  <a:pt x="382517" y="410870"/>
                  <a:pt x="148272" y="332074"/>
                  <a:pt x="0" y="338554"/>
                </a:cubicBezTo>
                <a:cubicBezTo>
                  <a:pt x="-3130" y="256353"/>
                  <a:pt x="8384" y="77906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600" i="1" strike="sngStrike" dirty="0">
                <a:latin typeface="Univers" panose="020B0503020202020204" pitchFamily="34" charset="0"/>
              </a:rPr>
              <a:t>Independent</a:t>
            </a:r>
            <a:endParaRPr kumimoji="0" lang="en-US" sz="1600" b="0" i="1" u="none" strike="sngStrike" kern="1200" cap="none" spc="0" normalizeH="0" baseline="0" noProof="0" dirty="0">
              <a:ln>
                <a:noFill/>
              </a:ln>
              <a:effectLst/>
              <a:uLnTx/>
              <a:uFillTx/>
              <a:latin typeface="Univers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79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8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8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1" grpId="0"/>
      <p:bldP spid="12" grpId="0"/>
      <p:bldP spid="13" grpId="0"/>
      <p:bldP spid="14" grpId="0"/>
      <p:bldP spid="36" grpId="0"/>
      <p:bldP spid="37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59" grpId="0"/>
      <p:bldP spid="62" grpId="0"/>
      <p:bldP spid="63" grpId="0" animBg="1"/>
      <p:bldP spid="64" grpId="0"/>
      <p:bldP spid="65" grpId="0" animBg="1"/>
      <p:bldP spid="21" grpId="0"/>
      <p:bldP spid="23" grpId="0"/>
      <p:bldP spid="27" grpId="0" animBg="1"/>
      <p:bldP spid="29" grpId="0" animBg="1"/>
      <p:bldP spid="30" grpId="0" animBg="1"/>
      <p:bldP spid="20" grpId="0"/>
      <p:bldP spid="32" grpId="0" animBg="1"/>
      <p:bldP spid="33" grpId="0"/>
      <p:bldP spid="34" grpId="0" animBg="1"/>
      <p:bldP spid="50" grpId="0" animBg="1"/>
      <p:bldP spid="51" grpId="0"/>
      <p:bldP spid="51" grpId="1"/>
      <p:bldP spid="52" grpId="0"/>
      <p:bldP spid="5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D386AA-FBD6-DEF3-5466-BD6D2256E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3E6B8B3-ED88-629E-04B6-A4AB10C8B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98B3ECCC-2D34-5A55-C540-8FD7FD487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CE1231B-9868-9428-E99B-EBF1CD8AFBDE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60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E9D64BB6-A3D4-65C3-AA1A-8ACC5818998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E269D80-3205-21BB-B624-7C31AD53203C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EXAMPLE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37477C-1412-A460-3877-6E0573FDA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DECISION PROBLEM</a:t>
            </a:r>
            <a:br>
              <a:rPr lang="en-US" sz="5400" dirty="0"/>
            </a:br>
            <a:r>
              <a:rPr lang="en-US" sz="5400" dirty="0"/>
              <a:t>Exam Prep &amp; Grades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CF8287-65F9-DC9D-0619-3ADEC6714F78}"/>
              </a:ext>
            </a:extLst>
          </p:cNvPr>
          <p:cNvSpPr txBox="1"/>
          <p:nvPr/>
        </p:nvSpPr>
        <p:spPr>
          <a:xfrm>
            <a:off x="1553719" y="1372428"/>
            <a:ext cx="20887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Chapters: 1, 2,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C0D9EE-C9CA-58A9-0D96-40B40AA4A9E8}"/>
              </a:ext>
            </a:extLst>
          </p:cNvPr>
          <p:cNvSpPr txBox="1"/>
          <p:nvPr/>
        </p:nvSpPr>
        <p:spPr>
          <a:xfrm>
            <a:off x="4696362" y="1379105"/>
            <a:ext cx="1603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A, B, C, D, 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2DBC27-35DD-4D09-2092-0EEDBDE88BCF}"/>
              </a:ext>
            </a:extLst>
          </p:cNvPr>
          <p:cNvSpPr txBox="1"/>
          <p:nvPr/>
        </p:nvSpPr>
        <p:spPr>
          <a:xfrm>
            <a:off x="555699" y="2729801"/>
            <a:ext cx="1175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2.2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5A5607-86AC-C714-22C5-6CD8E41E5674}"/>
              </a:ext>
            </a:extLst>
          </p:cNvPr>
          <p:cNvSpPr txBox="1"/>
          <p:nvPr/>
        </p:nvSpPr>
        <p:spPr>
          <a:xfrm>
            <a:off x="1628266" y="2729802"/>
            <a:ext cx="4355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Each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leads to multiple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outcomes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172F2B-D168-BC81-ED2F-84870FD5569B}"/>
              </a:ext>
            </a:extLst>
          </p:cNvPr>
          <p:cNvSpPr txBox="1"/>
          <p:nvPr/>
        </p:nvSpPr>
        <p:spPr>
          <a:xfrm>
            <a:off x="6823641" y="2729801"/>
            <a:ext cx="3581185" cy="369332"/>
          </a:xfrm>
          <a:custGeom>
            <a:avLst/>
            <a:gdLst>
              <a:gd name="csX0" fmla="*/ 0 w 3581185"/>
              <a:gd name="csY0" fmla="*/ 0 h 369332"/>
              <a:gd name="csX1" fmla="*/ 668488 w 3581185"/>
              <a:gd name="csY1" fmla="*/ 0 h 369332"/>
              <a:gd name="csX2" fmla="*/ 1301164 w 3581185"/>
              <a:gd name="csY2" fmla="*/ 0 h 369332"/>
              <a:gd name="csX3" fmla="*/ 1933840 w 3581185"/>
              <a:gd name="csY3" fmla="*/ 0 h 369332"/>
              <a:gd name="csX4" fmla="*/ 2423269 w 3581185"/>
              <a:gd name="csY4" fmla="*/ 0 h 369332"/>
              <a:gd name="csX5" fmla="*/ 2948509 w 3581185"/>
              <a:gd name="csY5" fmla="*/ 0 h 369332"/>
              <a:gd name="csX6" fmla="*/ 3581185 w 3581185"/>
              <a:gd name="csY6" fmla="*/ 0 h 369332"/>
              <a:gd name="csX7" fmla="*/ 3581185 w 3581185"/>
              <a:gd name="csY7" fmla="*/ 369332 h 369332"/>
              <a:gd name="csX8" fmla="*/ 2984321 w 3581185"/>
              <a:gd name="csY8" fmla="*/ 369332 h 369332"/>
              <a:gd name="csX9" fmla="*/ 2494892 w 3581185"/>
              <a:gd name="csY9" fmla="*/ 369332 h 369332"/>
              <a:gd name="csX10" fmla="*/ 2005464 w 3581185"/>
              <a:gd name="csY10" fmla="*/ 369332 h 369332"/>
              <a:gd name="csX11" fmla="*/ 1372788 w 3581185"/>
              <a:gd name="csY11" fmla="*/ 369332 h 369332"/>
              <a:gd name="csX12" fmla="*/ 847547 w 3581185"/>
              <a:gd name="csY12" fmla="*/ 369332 h 369332"/>
              <a:gd name="csX13" fmla="*/ 0 w 3581185"/>
              <a:gd name="csY13" fmla="*/ 369332 h 369332"/>
              <a:gd name="csX14" fmla="*/ 0 w 3581185"/>
              <a:gd name="csY1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581185" h="369332" fill="none" extrusionOk="0">
                <a:moveTo>
                  <a:pt x="0" y="0"/>
                </a:moveTo>
                <a:cubicBezTo>
                  <a:pt x="226137" y="-54471"/>
                  <a:pt x="357444" y="34301"/>
                  <a:pt x="668488" y="0"/>
                </a:cubicBezTo>
                <a:cubicBezTo>
                  <a:pt x="979532" y="-34301"/>
                  <a:pt x="1132443" y="47940"/>
                  <a:pt x="1301164" y="0"/>
                </a:cubicBezTo>
                <a:cubicBezTo>
                  <a:pt x="1469885" y="-47940"/>
                  <a:pt x="1771418" y="48375"/>
                  <a:pt x="1933840" y="0"/>
                </a:cubicBezTo>
                <a:cubicBezTo>
                  <a:pt x="2096262" y="-48375"/>
                  <a:pt x="2262334" y="13931"/>
                  <a:pt x="2423269" y="0"/>
                </a:cubicBezTo>
                <a:cubicBezTo>
                  <a:pt x="2584204" y="-13931"/>
                  <a:pt x="2766475" y="52781"/>
                  <a:pt x="2948509" y="0"/>
                </a:cubicBezTo>
                <a:cubicBezTo>
                  <a:pt x="3130543" y="-52781"/>
                  <a:pt x="3382216" y="29870"/>
                  <a:pt x="3581185" y="0"/>
                </a:cubicBezTo>
                <a:cubicBezTo>
                  <a:pt x="3600716" y="147089"/>
                  <a:pt x="3539967" y="212636"/>
                  <a:pt x="3581185" y="369332"/>
                </a:cubicBezTo>
                <a:cubicBezTo>
                  <a:pt x="3301882" y="399918"/>
                  <a:pt x="3184752" y="364752"/>
                  <a:pt x="2984321" y="369332"/>
                </a:cubicBezTo>
                <a:cubicBezTo>
                  <a:pt x="2783890" y="373912"/>
                  <a:pt x="2683600" y="363332"/>
                  <a:pt x="2494892" y="369332"/>
                </a:cubicBezTo>
                <a:cubicBezTo>
                  <a:pt x="2306184" y="375332"/>
                  <a:pt x="2244975" y="362490"/>
                  <a:pt x="2005464" y="369332"/>
                </a:cubicBezTo>
                <a:cubicBezTo>
                  <a:pt x="1765953" y="376174"/>
                  <a:pt x="1635487" y="348036"/>
                  <a:pt x="1372788" y="369332"/>
                </a:cubicBezTo>
                <a:cubicBezTo>
                  <a:pt x="1110089" y="390628"/>
                  <a:pt x="1052810" y="313771"/>
                  <a:pt x="847547" y="369332"/>
                </a:cubicBezTo>
                <a:cubicBezTo>
                  <a:pt x="642284" y="424893"/>
                  <a:pt x="289961" y="304208"/>
                  <a:pt x="0" y="369332"/>
                </a:cubicBezTo>
                <a:cubicBezTo>
                  <a:pt x="-34692" y="235166"/>
                  <a:pt x="26681" y="80336"/>
                  <a:pt x="0" y="0"/>
                </a:cubicBezTo>
                <a:close/>
              </a:path>
              <a:path w="3581185" h="369332" stroke="0" extrusionOk="0">
                <a:moveTo>
                  <a:pt x="0" y="0"/>
                </a:moveTo>
                <a:cubicBezTo>
                  <a:pt x="129900" y="-19001"/>
                  <a:pt x="430746" y="13814"/>
                  <a:pt x="561052" y="0"/>
                </a:cubicBezTo>
                <a:cubicBezTo>
                  <a:pt x="691358" y="-13814"/>
                  <a:pt x="928679" y="31419"/>
                  <a:pt x="1050481" y="0"/>
                </a:cubicBezTo>
                <a:cubicBezTo>
                  <a:pt x="1172283" y="-31419"/>
                  <a:pt x="1522368" y="30743"/>
                  <a:pt x="1718969" y="0"/>
                </a:cubicBezTo>
                <a:cubicBezTo>
                  <a:pt x="1915570" y="-30743"/>
                  <a:pt x="2110215" y="52267"/>
                  <a:pt x="2280021" y="0"/>
                </a:cubicBezTo>
                <a:cubicBezTo>
                  <a:pt x="2449827" y="-52267"/>
                  <a:pt x="2592938" y="54208"/>
                  <a:pt x="2841073" y="0"/>
                </a:cubicBezTo>
                <a:cubicBezTo>
                  <a:pt x="3089208" y="-54208"/>
                  <a:pt x="3293296" y="86582"/>
                  <a:pt x="3581185" y="0"/>
                </a:cubicBezTo>
                <a:cubicBezTo>
                  <a:pt x="3602864" y="103222"/>
                  <a:pt x="3548024" y="284950"/>
                  <a:pt x="3581185" y="369332"/>
                </a:cubicBezTo>
                <a:cubicBezTo>
                  <a:pt x="3362327" y="407541"/>
                  <a:pt x="3104279" y="303833"/>
                  <a:pt x="2984321" y="369332"/>
                </a:cubicBezTo>
                <a:cubicBezTo>
                  <a:pt x="2864363" y="434831"/>
                  <a:pt x="2656737" y="359045"/>
                  <a:pt x="2494892" y="369332"/>
                </a:cubicBezTo>
                <a:cubicBezTo>
                  <a:pt x="2333047" y="379619"/>
                  <a:pt x="2114110" y="312210"/>
                  <a:pt x="1898028" y="369332"/>
                </a:cubicBezTo>
                <a:cubicBezTo>
                  <a:pt x="1681946" y="426454"/>
                  <a:pt x="1421091" y="347263"/>
                  <a:pt x="1301164" y="369332"/>
                </a:cubicBezTo>
                <a:cubicBezTo>
                  <a:pt x="1181237" y="391401"/>
                  <a:pt x="992038" y="324318"/>
                  <a:pt x="740112" y="369332"/>
                </a:cubicBezTo>
                <a:cubicBezTo>
                  <a:pt x="488186" y="414346"/>
                  <a:pt x="346109" y="353151"/>
                  <a:pt x="0" y="369332"/>
                </a:cubicBezTo>
                <a:cubicBezTo>
                  <a:pt x="-8026" y="274434"/>
                  <a:pt x="20480" y="124469"/>
                  <a:pt x="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Outcomes are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random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variables.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E446A7DC-C3DD-E291-75D8-8CC0E3C0AAB6}"/>
              </a:ext>
            </a:extLst>
          </p:cNvPr>
          <p:cNvSpPr/>
          <p:nvPr/>
        </p:nvSpPr>
        <p:spPr>
          <a:xfrm>
            <a:off x="5986899" y="2824700"/>
            <a:ext cx="627530" cy="179535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D87569-4EC7-37EC-D4B8-A20113E076AC}"/>
              </a:ext>
            </a:extLst>
          </p:cNvPr>
          <p:cNvSpPr txBox="1"/>
          <p:nvPr/>
        </p:nvSpPr>
        <p:spPr>
          <a:xfrm>
            <a:off x="7353409" y="1132680"/>
            <a:ext cx="4169555" cy="338554"/>
          </a:xfrm>
          <a:custGeom>
            <a:avLst/>
            <a:gdLst>
              <a:gd name="csX0" fmla="*/ 0 w 4169555"/>
              <a:gd name="csY0" fmla="*/ 0 h 338554"/>
              <a:gd name="csX1" fmla="*/ 553955 w 4169555"/>
              <a:gd name="csY1" fmla="*/ 0 h 338554"/>
              <a:gd name="csX2" fmla="*/ 1024519 w 4169555"/>
              <a:gd name="csY2" fmla="*/ 0 h 338554"/>
              <a:gd name="csX3" fmla="*/ 1536779 w 4169555"/>
              <a:gd name="csY3" fmla="*/ 0 h 338554"/>
              <a:gd name="csX4" fmla="*/ 2174125 w 4169555"/>
              <a:gd name="csY4" fmla="*/ 0 h 338554"/>
              <a:gd name="csX5" fmla="*/ 2728080 w 4169555"/>
              <a:gd name="csY5" fmla="*/ 0 h 338554"/>
              <a:gd name="csX6" fmla="*/ 3240340 w 4169555"/>
              <a:gd name="csY6" fmla="*/ 0 h 338554"/>
              <a:gd name="csX7" fmla="*/ 4169555 w 4169555"/>
              <a:gd name="csY7" fmla="*/ 0 h 338554"/>
              <a:gd name="csX8" fmla="*/ 4169555 w 4169555"/>
              <a:gd name="csY8" fmla="*/ 338554 h 338554"/>
              <a:gd name="csX9" fmla="*/ 3573904 w 4169555"/>
              <a:gd name="csY9" fmla="*/ 338554 h 338554"/>
              <a:gd name="csX10" fmla="*/ 3061645 w 4169555"/>
              <a:gd name="csY10" fmla="*/ 338554 h 338554"/>
              <a:gd name="csX11" fmla="*/ 2382603 w 4169555"/>
              <a:gd name="csY11" fmla="*/ 338554 h 338554"/>
              <a:gd name="csX12" fmla="*/ 1828648 w 4169555"/>
              <a:gd name="csY12" fmla="*/ 338554 h 338554"/>
              <a:gd name="csX13" fmla="*/ 1358084 w 4169555"/>
              <a:gd name="csY13" fmla="*/ 338554 h 338554"/>
              <a:gd name="csX14" fmla="*/ 720737 w 4169555"/>
              <a:gd name="csY14" fmla="*/ 338554 h 338554"/>
              <a:gd name="csX15" fmla="*/ 0 w 4169555"/>
              <a:gd name="csY15" fmla="*/ 338554 h 338554"/>
              <a:gd name="csX16" fmla="*/ 0 w 4169555"/>
              <a:gd name="csY16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169555" h="338554" fill="none" extrusionOk="0">
                <a:moveTo>
                  <a:pt x="0" y="0"/>
                </a:moveTo>
                <a:cubicBezTo>
                  <a:pt x="184610" y="-15352"/>
                  <a:pt x="306860" y="60898"/>
                  <a:pt x="553955" y="0"/>
                </a:cubicBezTo>
                <a:cubicBezTo>
                  <a:pt x="801050" y="-60898"/>
                  <a:pt x="861241" y="3755"/>
                  <a:pt x="1024519" y="0"/>
                </a:cubicBezTo>
                <a:cubicBezTo>
                  <a:pt x="1187797" y="-3755"/>
                  <a:pt x="1401197" y="59508"/>
                  <a:pt x="1536779" y="0"/>
                </a:cubicBezTo>
                <a:cubicBezTo>
                  <a:pt x="1672361" y="-59508"/>
                  <a:pt x="1971294" y="11931"/>
                  <a:pt x="2174125" y="0"/>
                </a:cubicBezTo>
                <a:cubicBezTo>
                  <a:pt x="2376956" y="-11931"/>
                  <a:pt x="2557745" y="22242"/>
                  <a:pt x="2728080" y="0"/>
                </a:cubicBezTo>
                <a:cubicBezTo>
                  <a:pt x="2898416" y="-22242"/>
                  <a:pt x="3043738" y="46711"/>
                  <a:pt x="3240340" y="0"/>
                </a:cubicBezTo>
                <a:cubicBezTo>
                  <a:pt x="3436942" y="-46711"/>
                  <a:pt x="3865190" y="7744"/>
                  <a:pt x="4169555" y="0"/>
                </a:cubicBezTo>
                <a:cubicBezTo>
                  <a:pt x="4206395" y="96079"/>
                  <a:pt x="4154943" y="248329"/>
                  <a:pt x="4169555" y="338554"/>
                </a:cubicBezTo>
                <a:cubicBezTo>
                  <a:pt x="3980034" y="406521"/>
                  <a:pt x="3696700" y="289803"/>
                  <a:pt x="3573904" y="338554"/>
                </a:cubicBezTo>
                <a:cubicBezTo>
                  <a:pt x="3451108" y="387305"/>
                  <a:pt x="3197139" y="284421"/>
                  <a:pt x="3061645" y="338554"/>
                </a:cubicBezTo>
                <a:cubicBezTo>
                  <a:pt x="2926151" y="392687"/>
                  <a:pt x="2585699" y="273170"/>
                  <a:pt x="2382603" y="338554"/>
                </a:cubicBezTo>
                <a:cubicBezTo>
                  <a:pt x="2179507" y="403938"/>
                  <a:pt x="1953581" y="303012"/>
                  <a:pt x="1828648" y="338554"/>
                </a:cubicBezTo>
                <a:cubicBezTo>
                  <a:pt x="1703715" y="374096"/>
                  <a:pt x="1518427" y="288139"/>
                  <a:pt x="1358084" y="338554"/>
                </a:cubicBezTo>
                <a:cubicBezTo>
                  <a:pt x="1197741" y="388969"/>
                  <a:pt x="955095" y="304869"/>
                  <a:pt x="720737" y="338554"/>
                </a:cubicBezTo>
                <a:cubicBezTo>
                  <a:pt x="486379" y="372239"/>
                  <a:pt x="309096" y="300612"/>
                  <a:pt x="0" y="338554"/>
                </a:cubicBezTo>
                <a:cubicBezTo>
                  <a:pt x="-38409" y="218503"/>
                  <a:pt x="36533" y="148226"/>
                  <a:pt x="0" y="0"/>
                </a:cubicBezTo>
                <a:close/>
              </a:path>
              <a:path w="4169555" h="338554" stroke="0" extrusionOk="0">
                <a:moveTo>
                  <a:pt x="0" y="0"/>
                </a:moveTo>
                <a:cubicBezTo>
                  <a:pt x="123686" y="-57714"/>
                  <a:pt x="289115" y="45504"/>
                  <a:pt x="553955" y="0"/>
                </a:cubicBezTo>
                <a:cubicBezTo>
                  <a:pt x="818796" y="-45504"/>
                  <a:pt x="900835" y="12365"/>
                  <a:pt x="1024519" y="0"/>
                </a:cubicBezTo>
                <a:cubicBezTo>
                  <a:pt x="1148203" y="-12365"/>
                  <a:pt x="1375450" y="49199"/>
                  <a:pt x="1703561" y="0"/>
                </a:cubicBezTo>
                <a:cubicBezTo>
                  <a:pt x="2031672" y="-49199"/>
                  <a:pt x="2135915" y="53877"/>
                  <a:pt x="2257516" y="0"/>
                </a:cubicBezTo>
                <a:cubicBezTo>
                  <a:pt x="2379118" y="-53877"/>
                  <a:pt x="2689826" y="7640"/>
                  <a:pt x="2811471" y="0"/>
                </a:cubicBezTo>
                <a:cubicBezTo>
                  <a:pt x="2933116" y="-7640"/>
                  <a:pt x="3237653" y="42159"/>
                  <a:pt x="3490513" y="0"/>
                </a:cubicBezTo>
                <a:cubicBezTo>
                  <a:pt x="3743373" y="-42159"/>
                  <a:pt x="3902601" y="4213"/>
                  <a:pt x="4169555" y="0"/>
                </a:cubicBezTo>
                <a:cubicBezTo>
                  <a:pt x="4186433" y="108997"/>
                  <a:pt x="4150059" y="194594"/>
                  <a:pt x="4169555" y="338554"/>
                </a:cubicBezTo>
                <a:cubicBezTo>
                  <a:pt x="4046605" y="342848"/>
                  <a:pt x="3791268" y="329382"/>
                  <a:pt x="3657295" y="338554"/>
                </a:cubicBezTo>
                <a:cubicBezTo>
                  <a:pt x="3523322" y="347726"/>
                  <a:pt x="3280593" y="338438"/>
                  <a:pt x="3061645" y="338554"/>
                </a:cubicBezTo>
                <a:cubicBezTo>
                  <a:pt x="2842697" y="338670"/>
                  <a:pt x="2690996" y="317297"/>
                  <a:pt x="2465994" y="338554"/>
                </a:cubicBezTo>
                <a:cubicBezTo>
                  <a:pt x="2240992" y="359811"/>
                  <a:pt x="2137041" y="296476"/>
                  <a:pt x="1912039" y="338554"/>
                </a:cubicBezTo>
                <a:cubicBezTo>
                  <a:pt x="1687037" y="380632"/>
                  <a:pt x="1569178" y="336593"/>
                  <a:pt x="1232997" y="338554"/>
                </a:cubicBezTo>
                <a:cubicBezTo>
                  <a:pt x="896816" y="340515"/>
                  <a:pt x="824031" y="320493"/>
                  <a:pt x="553955" y="338554"/>
                </a:cubicBezTo>
                <a:cubicBezTo>
                  <a:pt x="283879" y="356615"/>
                  <a:pt x="113030" y="293227"/>
                  <a:pt x="0" y="338554"/>
                </a:cubicBezTo>
                <a:cubicBezTo>
                  <a:pt x="-8967" y="239005"/>
                  <a:pt x="5325" y="122363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Goal: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 Assign a payoff to each action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5AEA27-2BF4-45EA-3195-3F1927CF1D68}"/>
              </a:ext>
            </a:extLst>
          </p:cNvPr>
          <p:cNvSpPr txBox="1"/>
          <p:nvPr/>
        </p:nvSpPr>
        <p:spPr>
          <a:xfrm>
            <a:off x="7628134" y="2413897"/>
            <a:ext cx="1704125" cy="369332"/>
          </a:xfrm>
          <a:custGeom>
            <a:avLst/>
            <a:gdLst>
              <a:gd name="csX0" fmla="*/ 0 w 1704125"/>
              <a:gd name="csY0" fmla="*/ 0 h 369332"/>
              <a:gd name="csX1" fmla="*/ 602124 w 1704125"/>
              <a:gd name="csY1" fmla="*/ 0 h 369332"/>
              <a:gd name="csX2" fmla="*/ 1187207 w 1704125"/>
              <a:gd name="csY2" fmla="*/ 0 h 369332"/>
              <a:gd name="csX3" fmla="*/ 1704125 w 1704125"/>
              <a:gd name="csY3" fmla="*/ 0 h 369332"/>
              <a:gd name="csX4" fmla="*/ 1704125 w 1704125"/>
              <a:gd name="csY4" fmla="*/ 369332 h 369332"/>
              <a:gd name="csX5" fmla="*/ 1170166 w 1704125"/>
              <a:gd name="csY5" fmla="*/ 369332 h 369332"/>
              <a:gd name="csX6" fmla="*/ 602124 w 1704125"/>
              <a:gd name="csY6" fmla="*/ 369332 h 369332"/>
              <a:gd name="csX7" fmla="*/ 0 w 1704125"/>
              <a:gd name="csY7" fmla="*/ 369332 h 369332"/>
              <a:gd name="csX8" fmla="*/ 0 w 1704125"/>
              <a:gd name="csY8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04125" h="369332" fill="none" extrusionOk="0">
                <a:moveTo>
                  <a:pt x="0" y="0"/>
                </a:moveTo>
                <a:cubicBezTo>
                  <a:pt x="174300" y="-17330"/>
                  <a:pt x="384546" y="56378"/>
                  <a:pt x="602124" y="0"/>
                </a:cubicBezTo>
                <a:cubicBezTo>
                  <a:pt x="819702" y="-56378"/>
                  <a:pt x="923131" y="10555"/>
                  <a:pt x="1187207" y="0"/>
                </a:cubicBezTo>
                <a:cubicBezTo>
                  <a:pt x="1451283" y="-10555"/>
                  <a:pt x="1501114" y="21811"/>
                  <a:pt x="1704125" y="0"/>
                </a:cubicBezTo>
                <a:cubicBezTo>
                  <a:pt x="1708163" y="158233"/>
                  <a:pt x="1667831" y="205698"/>
                  <a:pt x="1704125" y="369332"/>
                </a:cubicBezTo>
                <a:cubicBezTo>
                  <a:pt x="1495424" y="374260"/>
                  <a:pt x="1370756" y="318448"/>
                  <a:pt x="1170166" y="369332"/>
                </a:cubicBezTo>
                <a:cubicBezTo>
                  <a:pt x="969576" y="420216"/>
                  <a:pt x="828658" y="357913"/>
                  <a:pt x="602124" y="369332"/>
                </a:cubicBezTo>
                <a:cubicBezTo>
                  <a:pt x="375590" y="380751"/>
                  <a:pt x="261900" y="325398"/>
                  <a:pt x="0" y="369332"/>
                </a:cubicBezTo>
                <a:cubicBezTo>
                  <a:pt x="-34018" y="280347"/>
                  <a:pt x="27486" y="156341"/>
                  <a:pt x="0" y="0"/>
                </a:cubicBezTo>
                <a:close/>
              </a:path>
              <a:path w="1704125" h="369332" stroke="0" extrusionOk="0">
                <a:moveTo>
                  <a:pt x="0" y="0"/>
                </a:moveTo>
                <a:cubicBezTo>
                  <a:pt x="166897" y="-36853"/>
                  <a:pt x="324722" y="55547"/>
                  <a:pt x="551000" y="0"/>
                </a:cubicBezTo>
                <a:cubicBezTo>
                  <a:pt x="777278" y="-55547"/>
                  <a:pt x="896106" y="14083"/>
                  <a:pt x="1067918" y="0"/>
                </a:cubicBezTo>
                <a:cubicBezTo>
                  <a:pt x="1239730" y="-14083"/>
                  <a:pt x="1570223" y="58076"/>
                  <a:pt x="1704125" y="0"/>
                </a:cubicBezTo>
                <a:cubicBezTo>
                  <a:pt x="1739713" y="113493"/>
                  <a:pt x="1677318" y="197069"/>
                  <a:pt x="1704125" y="369332"/>
                </a:cubicBezTo>
                <a:cubicBezTo>
                  <a:pt x="1468518" y="416778"/>
                  <a:pt x="1330447" y="355318"/>
                  <a:pt x="1170166" y="369332"/>
                </a:cubicBezTo>
                <a:cubicBezTo>
                  <a:pt x="1009885" y="383346"/>
                  <a:pt x="848824" y="326147"/>
                  <a:pt x="568042" y="369332"/>
                </a:cubicBezTo>
                <a:cubicBezTo>
                  <a:pt x="287260" y="412517"/>
                  <a:pt x="155955" y="302535"/>
                  <a:pt x="0" y="369332"/>
                </a:cubicBezTo>
                <a:cubicBezTo>
                  <a:pt x="-22716" y="225711"/>
                  <a:pt x="27200" y="158340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CONTINUOUS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" name="Table 28">
                <a:extLst>
                  <a:ext uri="{FF2B5EF4-FFF2-40B4-BE49-F238E27FC236}">
                    <a16:creationId xmlns:a16="http://schemas.microsoft.com/office/drawing/2014/main" id="{3BF374FB-8FB6-E613-6375-8B577627CA4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65703" y="3101730"/>
              <a:ext cx="4064000" cy="3688080"/>
            </p:xfrm>
            <a:graphic>
              <a:graphicData uri="http://schemas.openxmlformats.org/drawingml/2006/table">
                <a:tbl>
                  <a:tblPr firstRow="1" bandRow="1">
                    <a:tableStyleId>{68D230F3-CF80-4859-8CE7-A43EE81993B5}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749442872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455095600"/>
                        </a:ext>
                      </a:extLst>
                    </a:gridCol>
                  </a:tblGrid>
                  <a:tr h="18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/>
                            <a:t>Outcome </a:t>
                          </a:r>
                          <a:r>
                            <a:rPr lang="en-IN" sz="1600" b="0" dirty="0"/>
                            <a:t>(Marks)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/>
                            <a:t>Probability</a:t>
                          </a:r>
                          <a:endParaRPr lang="en-IN" sz="16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7148133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i="0" smtClean="0">
                                    <a:latin typeface="Cambria Math" panose="02040503050406030204" pitchFamily="18" charset="0"/>
                                  </a:rPr>
                                  <m:t>0−10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31819494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i="0" smtClean="0">
                                    <a:latin typeface="Cambria Math" panose="02040503050406030204" pitchFamily="18" charset="0"/>
                                  </a:rPr>
                                  <m:t>10−20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i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3697543"/>
                      </a:ext>
                    </a:extLst>
                  </a:tr>
                  <a:tr h="2181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i="0" smtClean="0">
                                    <a:latin typeface="Cambria Math" panose="02040503050406030204" pitchFamily="18" charset="0"/>
                                  </a:rPr>
                                  <m:t>20−30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i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9738058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i="0" smtClean="0">
                                    <a:latin typeface="Cambria Math" panose="02040503050406030204" pitchFamily="18" charset="0"/>
                                  </a:rPr>
                                  <m:t>30−40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4672270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i="0" smtClean="0">
                                    <a:latin typeface="Cambria Math" panose="02040503050406030204" pitchFamily="18" charset="0"/>
                                  </a:rPr>
                                  <m:t>40−50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5290674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i="0" smtClean="0">
                                    <a:latin typeface="Cambria Math" panose="02040503050406030204" pitchFamily="18" charset="0"/>
                                  </a:rPr>
                                  <m:t>50−60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3122576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𝟔𝟎</m:t>
                                </m:r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𝟕𝟎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2523715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𝟕𝟎</m:t>
                                </m:r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𝟖𝟎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9993395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𝟖𝟎</m:t>
                                </m:r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𝟗𝟎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86616839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i="0" smtClean="0">
                                    <a:latin typeface="Cambria Math" panose="02040503050406030204" pitchFamily="18" charset="0"/>
                                  </a:rPr>
                                  <m:t>90−100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27705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" name="Table 28">
                <a:extLst>
                  <a:ext uri="{FF2B5EF4-FFF2-40B4-BE49-F238E27FC236}">
                    <a16:creationId xmlns:a16="http://schemas.microsoft.com/office/drawing/2014/main" id="{3BF374FB-8FB6-E613-6375-8B577627CA4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65703" y="3101730"/>
              <a:ext cx="4064000" cy="3688080"/>
            </p:xfrm>
            <a:graphic>
              <a:graphicData uri="http://schemas.openxmlformats.org/drawingml/2006/table">
                <a:tbl>
                  <a:tblPr firstRow="1" bandRow="1">
                    <a:tableStyleId>{68D230F3-CF80-4859-8CE7-A43EE81993B5}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749442872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455095600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/>
                            <a:t>Outcome </a:t>
                          </a:r>
                          <a:r>
                            <a:rPr lang="en-IN" sz="1600" b="0" dirty="0"/>
                            <a:t>(Marks)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/>
                            <a:t>Probability</a:t>
                          </a:r>
                          <a:endParaRPr lang="en-IN" sz="16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714813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103636" r="-100299" b="-9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103636" r="-299" b="-9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1819494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203636" r="-100299" b="-8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203636" r="-299" b="-8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369754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303636" r="-100299" b="-7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303636" r="-299" b="-7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73805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403636" r="-100299" b="-6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403636" r="-299" b="-6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467227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494643" r="-100299" b="-49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494643" r="-299" b="-49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5290674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605455" r="-100299" b="-40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605455" r="-299" b="-40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3122576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705455" r="-100299" b="-30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705455" r="-299" b="-30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252371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805455" r="-100299" b="-20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805455" r="-299" b="-20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999339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905455" r="-100299" b="-10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905455" r="-299" b="-10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661683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1005455" r="-100299" b="-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1005455" r="-299" b="-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277051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F034918-67AF-FF78-3EA8-14B89D1DA4C6}"/>
                  </a:ext>
                </a:extLst>
              </p:cNvPr>
              <p:cNvSpPr txBox="1"/>
              <p:nvPr/>
            </p:nvSpPr>
            <p:spPr>
              <a:xfrm>
                <a:off x="286948" y="4896364"/>
                <a:ext cx="6099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=2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F034918-67AF-FF78-3EA8-14B89D1DA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48" y="4896364"/>
                <a:ext cx="609975" cy="276999"/>
              </a:xfrm>
              <a:prstGeom prst="rect">
                <a:avLst/>
              </a:prstGeom>
              <a:blipFill>
                <a:blip r:embed="rId4"/>
                <a:stretch>
                  <a:fillRect l="-6000" r="-10000" b="-6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Arrow: Right 31">
            <a:extLst>
              <a:ext uri="{FF2B5EF4-FFF2-40B4-BE49-F238E27FC236}">
                <a16:creationId xmlns:a16="http://schemas.microsoft.com/office/drawing/2014/main" id="{824F8E74-81C1-7643-0AEE-D59DA5E003DE}"/>
              </a:ext>
            </a:extLst>
          </p:cNvPr>
          <p:cNvSpPr/>
          <p:nvPr/>
        </p:nvSpPr>
        <p:spPr>
          <a:xfrm>
            <a:off x="1217170" y="4945095"/>
            <a:ext cx="627530" cy="179535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49AE97D-41CC-BE68-635B-6337DDFE2408}"/>
              </a:ext>
            </a:extLst>
          </p:cNvPr>
          <p:cNvGrpSpPr/>
          <p:nvPr/>
        </p:nvGrpSpPr>
        <p:grpSpPr>
          <a:xfrm>
            <a:off x="669036" y="1924776"/>
            <a:ext cx="2766026" cy="369332"/>
            <a:chOff x="838200" y="1690688"/>
            <a:chExt cx="2766026" cy="369332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725D6FF-CD9A-E351-94D1-3B3EB8ADA595}"/>
                </a:ext>
              </a:extLst>
            </p:cNvPr>
            <p:cNvSpPr txBox="1"/>
            <p:nvPr/>
          </p:nvSpPr>
          <p:spPr>
            <a:xfrm>
              <a:off x="838200" y="1690688"/>
              <a:ext cx="101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Actions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795A7CDB-A6FC-02A4-88D5-99DD7347A785}"/>
                    </a:ext>
                  </a:extLst>
                </p:cNvPr>
                <p:cNvSpPr txBox="1"/>
                <p:nvPr/>
              </p:nvSpPr>
              <p:spPr>
                <a:xfrm>
                  <a:off x="2156843" y="1734658"/>
                  <a:ext cx="144738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0, 1, 2, 3</m:t>
                            </m:r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795A7CDB-A6FC-02A4-88D5-99DD7347A7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6843" y="1734658"/>
                  <a:ext cx="1447383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376" b="-6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2B0C8856-FDAA-ECAD-5ADC-B3E28DCD5BAD}"/>
              </a:ext>
            </a:extLst>
          </p:cNvPr>
          <p:cNvSpPr txBox="1"/>
          <p:nvPr/>
        </p:nvSpPr>
        <p:spPr>
          <a:xfrm>
            <a:off x="4186517" y="1922579"/>
            <a:ext cx="33079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Number of chapters studied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475B4AD-3B3A-74FC-5FE2-43DBB4E0B8F1}"/>
              </a:ext>
            </a:extLst>
          </p:cNvPr>
          <p:cNvSpPr txBox="1"/>
          <p:nvPr/>
        </p:nvSpPr>
        <p:spPr>
          <a:xfrm>
            <a:off x="7784198" y="1920871"/>
            <a:ext cx="22117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Discrete action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1FA551-6993-BE57-8FBC-51AF2B1AAF12}"/>
                  </a:ext>
                </a:extLst>
              </p:cNvPr>
              <p:cNvSpPr txBox="1"/>
              <p:nvPr/>
            </p:nvSpPr>
            <p:spPr>
              <a:xfrm>
                <a:off x="2164947" y="4894334"/>
                <a:ext cx="12636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𝑋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0, 100</m:t>
                          </m:r>
                        </m:e>
                      </m:d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1FA551-6993-BE57-8FBC-51AF2B1AA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4947" y="4894334"/>
                <a:ext cx="1263679" cy="276999"/>
              </a:xfrm>
              <a:prstGeom prst="rect">
                <a:avLst/>
              </a:prstGeom>
              <a:blipFill>
                <a:blip r:embed="rId6"/>
                <a:stretch>
                  <a:fillRect l="-3865"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0C98765-DEC0-FDF5-A5FF-257179F3990A}"/>
              </a:ext>
            </a:extLst>
          </p:cNvPr>
          <p:cNvSpPr txBox="1"/>
          <p:nvPr/>
        </p:nvSpPr>
        <p:spPr>
          <a:xfrm>
            <a:off x="3478039" y="4888079"/>
            <a:ext cx="995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Marks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cript" panose="030B0504020000000003" pitchFamily="66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AAEEE6-BF89-5133-3F85-E4DBFBE9BECA}"/>
                  </a:ext>
                </a:extLst>
              </p:cNvPr>
              <p:cNvSpPr txBox="1"/>
              <p:nvPr/>
            </p:nvSpPr>
            <p:spPr>
              <a:xfrm>
                <a:off x="3516585" y="5652386"/>
                <a:ext cx="421368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rPr>
                  <a:t>Probability of each outcome </a:t>
                </a:r>
                <a14:m>
                  <m:oMath xmlns:m="http://schemas.openxmlformats.org/officeDocument/2006/math">
                    <m:r>
                      <a:rPr kumimoji="0" lang="en-IN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=0</m:t>
                    </m:r>
                  </m:oMath>
                </a14:m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AAEEE6-BF89-5133-3F85-E4DBFBE9B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585" y="5652386"/>
                <a:ext cx="4213680" cy="338554"/>
              </a:xfrm>
              <a:prstGeom prst="rect">
                <a:avLst/>
              </a:prstGeom>
              <a:blipFill>
                <a:blip r:embed="rId7"/>
                <a:stretch>
                  <a:fillRect l="-868" t="-3571" b="-23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1124C64-04EB-019E-9A9F-239B202BD514}"/>
              </a:ext>
            </a:extLst>
          </p:cNvPr>
          <p:cNvSpPr txBox="1"/>
          <p:nvPr/>
        </p:nvSpPr>
        <p:spPr>
          <a:xfrm>
            <a:off x="3513066" y="5280237"/>
            <a:ext cx="45556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Continuous, Infinitely-many outcomes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658607-272C-74B7-0CA7-F7D45B4B108C}"/>
              </a:ext>
            </a:extLst>
          </p:cNvPr>
          <p:cNvGrpSpPr/>
          <p:nvPr/>
        </p:nvGrpSpPr>
        <p:grpSpPr>
          <a:xfrm>
            <a:off x="3649287" y="6117024"/>
            <a:ext cx="3224227" cy="338554"/>
            <a:chOff x="3649287" y="6117024"/>
            <a:chExt cx="3224227" cy="3385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D9B7484-500F-B721-ABDF-A175EFBA06FF}"/>
                    </a:ext>
                  </a:extLst>
                </p:cNvPr>
                <p:cNvSpPr txBox="1"/>
                <p:nvPr/>
              </p:nvSpPr>
              <p:spPr>
                <a:xfrm>
                  <a:off x="4296243" y="6117024"/>
                  <a:ext cx="257727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just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IN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egoe Script" panose="030B0504020000000003" pitchFamily="66" charset="0"/>
                      <a:ea typeface="+mn-ea"/>
                      <a:cs typeface="+mn-cs"/>
                    </a:rPr>
                    <a:t>Expected payoff of </a:t>
                  </a:r>
                  <a14:m>
                    <m:oMath xmlns:m="http://schemas.openxmlformats.org/officeDocument/2006/math">
                      <m:r>
                        <a:rPr kumimoji="0" lang="en-I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</m:oMath>
                  </a14:m>
                  <a:r>
                    <a:rPr kumimoji="0" lang="en-IN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egoe Script" panose="030B0504020000000003" pitchFamily="66" charset="0"/>
                      <a:ea typeface="+mn-ea"/>
                      <a:cs typeface="+mn-cs"/>
                    </a:rPr>
                    <a:t>?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D9B7484-500F-B721-ABDF-A175EFBA06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6243" y="6117024"/>
                  <a:ext cx="2577271" cy="338554"/>
                </a:xfrm>
                <a:prstGeom prst="rect">
                  <a:avLst/>
                </a:prstGeom>
                <a:blipFill>
                  <a:blip r:embed="rId8"/>
                  <a:stretch>
                    <a:fillRect l="-1418" t="-3571" b="-2321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1CECE843-0ABA-EF73-56D7-BBBD58283D00}"/>
                </a:ext>
              </a:extLst>
            </p:cNvPr>
            <p:cNvSpPr/>
            <p:nvPr/>
          </p:nvSpPr>
          <p:spPr>
            <a:xfrm>
              <a:off x="3649287" y="6182655"/>
              <a:ext cx="627530" cy="179535"/>
            </a:xfrm>
            <a:prstGeom prst="rightArrow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B4D6BC9-67A7-CC15-BA36-AFDDA15160D2}"/>
              </a:ext>
            </a:extLst>
          </p:cNvPr>
          <p:cNvSpPr txBox="1"/>
          <p:nvPr/>
        </p:nvSpPr>
        <p:spPr>
          <a:xfrm>
            <a:off x="7118209" y="3178672"/>
            <a:ext cx="4607625" cy="338554"/>
          </a:xfrm>
          <a:custGeom>
            <a:avLst/>
            <a:gdLst>
              <a:gd name="csX0" fmla="*/ 0 w 4607625"/>
              <a:gd name="csY0" fmla="*/ 0 h 338554"/>
              <a:gd name="csX1" fmla="*/ 529877 w 4607625"/>
              <a:gd name="csY1" fmla="*/ 0 h 338554"/>
              <a:gd name="csX2" fmla="*/ 967601 w 4607625"/>
              <a:gd name="csY2" fmla="*/ 0 h 338554"/>
              <a:gd name="csX3" fmla="*/ 1635707 w 4607625"/>
              <a:gd name="csY3" fmla="*/ 0 h 338554"/>
              <a:gd name="csX4" fmla="*/ 2165584 w 4607625"/>
              <a:gd name="csY4" fmla="*/ 0 h 338554"/>
              <a:gd name="csX5" fmla="*/ 2695461 w 4607625"/>
              <a:gd name="csY5" fmla="*/ 0 h 338554"/>
              <a:gd name="csX6" fmla="*/ 3363566 w 4607625"/>
              <a:gd name="csY6" fmla="*/ 0 h 338554"/>
              <a:gd name="csX7" fmla="*/ 3847367 w 4607625"/>
              <a:gd name="csY7" fmla="*/ 0 h 338554"/>
              <a:gd name="csX8" fmla="*/ 4607625 w 4607625"/>
              <a:gd name="csY8" fmla="*/ 0 h 338554"/>
              <a:gd name="csX9" fmla="*/ 4607625 w 4607625"/>
              <a:gd name="csY9" fmla="*/ 338554 h 338554"/>
              <a:gd name="csX10" fmla="*/ 4123824 w 4607625"/>
              <a:gd name="csY10" fmla="*/ 338554 h 338554"/>
              <a:gd name="csX11" fmla="*/ 3547871 w 4607625"/>
              <a:gd name="csY11" fmla="*/ 338554 h 338554"/>
              <a:gd name="csX12" fmla="*/ 3017994 w 4607625"/>
              <a:gd name="csY12" fmla="*/ 338554 h 338554"/>
              <a:gd name="csX13" fmla="*/ 2349889 w 4607625"/>
              <a:gd name="csY13" fmla="*/ 338554 h 338554"/>
              <a:gd name="csX14" fmla="*/ 1681783 w 4607625"/>
              <a:gd name="csY14" fmla="*/ 338554 h 338554"/>
              <a:gd name="csX15" fmla="*/ 1197983 w 4607625"/>
              <a:gd name="csY15" fmla="*/ 338554 h 338554"/>
              <a:gd name="csX16" fmla="*/ 622029 w 4607625"/>
              <a:gd name="csY16" fmla="*/ 338554 h 338554"/>
              <a:gd name="csX17" fmla="*/ 0 w 4607625"/>
              <a:gd name="csY17" fmla="*/ 338554 h 338554"/>
              <a:gd name="csX18" fmla="*/ 0 w 4607625"/>
              <a:gd name="csY18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607625" h="338554" extrusionOk="0">
                <a:moveTo>
                  <a:pt x="0" y="0"/>
                </a:moveTo>
                <a:cubicBezTo>
                  <a:pt x="145400" y="-59910"/>
                  <a:pt x="356413" y="44956"/>
                  <a:pt x="529877" y="0"/>
                </a:cubicBezTo>
                <a:cubicBezTo>
                  <a:pt x="703341" y="-44956"/>
                  <a:pt x="862475" y="15413"/>
                  <a:pt x="967601" y="0"/>
                </a:cubicBezTo>
                <a:cubicBezTo>
                  <a:pt x="1072727" y="-15413"/>
                  <a:pt x="1311760" y="46593"/>
                  <a:pt x="1635707" y="0"/>
                </a:cubicBezTo>
                <a:cubicBezTo>
                  <a:pt x="1959654" y="-46593"/>
                  <a:pt x="1978859" y="7493"/>
                  <a:pt x="2165584" y="0"/>
                </a:cubicBezTo>
                <a:cubicBezTo>
                  <a:pt x="2352309" y="-7493"/>
                  <a:pt x="2463700" y="47775"/>
                  <a:pt x="2695461" y="0"/>
                </a:cubicBezTo>
                <a:cubicBezTo>
                  <a:pt x="2927222" y="-47775"/>
                  <a:pt x="3125567" y="52702"/>
                  <a:pt x="3363566" y="0"/>
                </a:cubicBezTo>
                <a:cubicBezTo>
                  <a:pt x="3601566" y="-52702"/>
                  <a:pt x="3695734" y="10984"/>
                  <a:pt x="3847367" y="0"/>
                </a:cubicBezTo>
                <a:cubicBezTo>
                  <a:pt x="3999000" y="-10984"/>
                  <a:pt x="4272788" y="55999"/>
                  <a:pt x="4607625" y="0"/>
                </a:cubicBezTo>
                <a:cubicBezTo>
                  <a:pt x="4625656" y="114881"/>
                  <a:pt x="4593141" y="215892"/>
                  <a:pt x="4607625" y="338554"/>
                </a:cubicBezTo>
                <a:cubicBezTo>
                  <a:pt x="4480911" y="373500"/>
                  <a:pt x="4224169" y="283096"/>
                  <a:pt x="4123824" y="338554"/>
                </a:cubicBezTo>
                <a:cubicBezTo>
                  <a:pt x="4023479" y="394012"/>
                  <a:pt x="3785761" y="322287"/>
                  <a:pt x="3547871" y="338554"/>
                </a:cubicBezTo>
                <a:cubicBezTo>
                  <a:pt x="3309981" y="354821"/>
                  <a:pt x="3275157" y="280480"/>
                  <a:pt x="3017994" y="338554"/>
                </a:cubicBezTo>
                <a:cubicBezTo>
                  <a:pt x="2760831" y="396628"/>
                  <a:pt x="2529539" y="273792"/>
                  <a:pt x="2349889" y="338554"/>
                </a:cubicBezTo>
                <a:cubicBezTo>
                  <a:pt x="2170239" y="403316"/>
                  <a:pt x="1858794" y="283371"/>
                  <a:pt x="1681783" y="338554"/>
                </a:cubicBezTo>
                <a:cubicBezTo>
                  <a:pt x="1504772" y="393737"/>
                  <a:pt x="1391197" y="288599"/>
                  <a:pt x="1197983" y="338554"/>
                </a:cubicBezTo>
                <a:cubicBezTo>
                  <a:pt x="1004769" y="388509"/>
                  <a:pt x="812988" y="299386"/>
                  <a:pt x="622029" y="338554"/>
                </a:cubicBezTo>
                <a:cubicBezTo>
                  <a:pt x="431070" y="377722"/>
                  <a:pt x="237851" y="336301"/>
                  <a:pt x="0" y="338554"/>
                </a:cubicBezTo>
                <a:cubicBezTo>
                  <a:pt x="-39827" y="212868"/>
                  <a:pt x="29894" y="153694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…temperature on the campus tomorrow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4A993E-AB18-8B07-51DD-0E92B95878D3}"/>
              </a:ext>
            </a:extLst>
          </p:cNvPr>
          <p:cNvGrpSpPr/>
          <p:nvPr/>
        </p:nvGrpSpPr>
        <p:grpSpPr>
          <a:xfrm>
            <a:off x="669036" y="1923068"/>
            <a:ext cx="2766026" cy="369332"/>
            <a:chOff x="838200" y="1690688"/>
            <a:chExt cx="2766026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4E3CCCA-B440-98CA-0EA2-DB1493CA2490}"/>
                </a:ext>
              </a:extLst>
            </p:cNvPr>
            <p:cNvSpPr txBox="1"/>
            <p:nvPr/>
          </p:nvSpPr>
          <p:spPr>
            <a:xfrm>
              <a:off x="838200" y="1690688"/>
              <a:ext cx="101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Actions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92E3C8D-F8E5-AF99-8921-58C079699358}"/>
                    </a:ext>
                  </a:extLst>
                </p:cNvPr>
                <p:cNvSpPr txBox="1"/>
                <p:nvPr/>
              </p:nvSpPr>
              <p:spPr>
                <a:xfrm>
                  <a:off x="2156843" y="1734658"/>
                  <a:ext cx="144738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0, 1, 2, 3</m:t>
                            </m:r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92E3C8D-F8E5-AF99-8921-58C0796993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6843" y="1734658"/>
                  <a:ext cx="1447383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3376" b="-6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F22F0916-62CA-4889-A833-A7C9B74F6753}"/>
              </a:ext>
            </a:extLst>
          </p:cNvPr>
          <p:cNvSpPr txBox="1"/>
          <p:nvPr/>
        </p:nvSpPr>
        <p:spPr>
          <a:xfrm>
            <a:off x="4186517" y="1920871"/>
            <a:ext cx="33079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Number of chapters studied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3FE977-732F-8C34-B556-67CCC0F1E10D}"/>
              </a:ext>
            </a:extLst>
          </p:cNvPr>
          <p:cNvSpPr txBox="1"/>
          <p:nvPr/>
        </p:nvSpPr>
        <p:spPr>
          <a:xfrm>
            <a:off x="5631559" y="6428381"/>
            <a:ext cx="57222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Lottery</a:t>
            </a:r>
            <a:r>
              <a:rPr lang="en-IN" sz="1600" dirty="0">
                <a:solidFill>
                  <a:prstClr val="black"/>
                </a:solidFill>
                <a:latin typeface="Segoe Script" panose="030B0504020000000003" pitchFamily="66" charset="0"/>
              </a:rPr>
              <a:t>: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Assign probabilities to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ranges of outcomes</a:t>
            </a: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3983320A-7C26-B42A-4C46-CFD1A4986CC0}"/>
              </a:ext>
            </a:extLst>
          </p:cNvPr>
          <p:cNvGraphicFramePr>
            <a:graphicFrameLocks/>
          </p:cNvGraphicFramePr>
          <p:nvPr/>
        </p:nvGraphicFramePr>
        <p:xfrm>
          <a:off x="6632259" y="3509200"/>
          <a:ext cx="5400000" cy="2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D886A86D-DC7E-E101-6448-713955761A7F}"/>
              </a:ext>
            </a:extLst>
          </p:cNvPr>
          <p:cNvSpPr txBox="1"/>
          <p:nvPr/>
        </p:nvSpPr>
        <p:spPr>
          <a:xfrm>
            <a:off x="10052647" y="2387183"/>
            <a:ext cx="1470317" cy="369332"/>
          </a:xfrm>
          <a:custGeom>
            <a:avLst/>
            <a:gdLst>
              <a:gd name="csX0" fmla="*/ 0 w 1470317"/>
              <a:gd name="csY0" fmla="*/ 0 h 369332"/>
              <a:gd name="csX1" fmla="*/ 519512 w 1470317"/>
              <a:gd name="csY1" fmla="*/ 0 h 369332"/>
              <a:gd name="csX2" fmla="*/ 1024321 w 1470317"/>
              <a:gd name="csY2" fmla="*/ 0 h 369332"/>
              <a:gd name="csX3" fmla="*/ 1470317 w 1470317"/>
              <a:gd name="csY3" fmla="*/ 0 h 369332"/>
              <a:gd name="csX4" fmla="*/ 1470317 w 1470317"/>
              <a:gd name="csY4" fmla="*/ 369332 h 369332"/>
              <a:gd name="csX5" fmla="*/ 1009618 w 1470317"/>
              <a:gd name="csY5" fmla="*/ 369332 h 369332"/>
              <a:gd name="csX6" fmla="*/ 519512 w 1470317"/>
              <a:gd name="csY6" fmla="*/ 369332 h 369332"/>
              <a:gd name="csX7" fmla="*/ 0 w 1470317"/>
              <a:gd name="csY7" fmla="*/ 369332 h 369332"/>
              <a:gd name="csX8" fmla="*/ 0 w 1470317"/>
              <a:gd name="csY8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470317" h="369332" fill="none" extrusionOk="0">
                <a:moveTo>
                  <a:pt x="0" y="0"/>
                </a:moveTo>
                <a:cubicBezTo>
                  <a:pt x="143752" y="-16887"/>
                  <a:pt x="322158" y="18947"/>
                  <a:pt x="519512" y="0"/>
                </a:cubicBezTo>
                <a:cubicBezTo>
                  <a:pt x="716866" y="-18947"/>
                  <a:pt x="852834" y="50824"/>
                  <a:pt x="1024321" y="0"/>
                </a:cubicBezTo>
                <a:cubicBezTo>
                  <a:pt x="1195808" y="-50824"/>
                  <a:pt x="1368813" y="11680"/>
                  <a:pt x="1470317" y="0"/>
                </a:cubicBezTo>
                <a:cubicBezTo>
                  <a:pt x="1474355" y="158233"/>
                  <a:pt x="1434023" y="205698"/>
                  <a:pt x="1470317" y="369332"/>
                </a:cubicBezTo>
                <a:cubicBezTo>
                  <a:pt x="1361037" y="414065"/>
                  <a:pt x="1124465" y="328958"/>
                  <a:pt x="1009618" y="369332"/>
                </a:cubicBezTo>
                <a:cubicBezTo>
                  <a:pt x="894771" y="409706"/>
                  <a:pt x="751488" y="327070"/>
                  <a:pt x="519512" y="369332"/>
                </a:cubicBezTo>
                <a:cubicBezTo>
                  <a:pt x="287536" y="411594"/>
                  <a:pt x="258308" y="345428"/>
                  <a:pt x="0" y="369332"/>
                </a:cubicBezTo>
                <a:cubicBezTo>
                  <a:pt x="-34018" y="280347"/>
                  <a:pt x="27486" y="156341"/>
                  <a:pt x="0" y="0"/>
                </a:cubicBezTo>
                <a:close/>
              </a:path>
              <a:path w="1470317" h="369332" stroke="0" extrusionOk="0">
                <a:moveTo>
                  <a:pt x="0" y="0"/>
                </a:moveTo>
                <a:cubicBezTo>
                  <a:pt x="189969" y="-49387"/>
                  <a:pt x="256418" y="39432"/>
                  <a:pt x="475402" y="0"/>
                </a:cubicBezTo>
                <a:cubicBezTo>
                  <a:pt x="694386" y="-39432"/>
                  <a:pt x="795951" y="2117"/>
                  <a:pt x="921399" y="0"/>
                </a:cubicBezTo>
                <a:cubicBezTo>
                  <a:pt x="1046847" y="-2117"/>
                  <a:pt x="1244120" y="12375"/>
                  <a:pt x="1470317" y="0"/>
                </a:cubicBezTo>
                <a:cubicBezTo>
                  <a:pt x="1505905" y="113493"/>
                  <a:pt x="1443510" y="197069"/>
                  <a:pt x="1470317" y="369332"/>
                </a:cubicBezTo>
                <a:cubicBezTo>
                  <a:pt x="1321404" y="370249"/>
                  <a:pt x="1125613" y="352414"/>
                  <a:pt x="1009618" y="369332"/>
                </a:cubicBezTo>
                <a:cubicBezTo>
                  <a:pt x="893623" y="386250"/>
                  <a:pt x="709342" y="346422"/>
                  <a:pt x="490106" y="369332"/>
                </a:cubicBezTo>
                <a:cubicBezTo>
                  <a:pt x="270870" y="392242"/>
                  <a:pt x="166120" y="340183"/>
                  <a:pt x="0" y="369332"/>
                </a:cubicBezTo>
                <a:cubicBezTo>
                  <a:pt x="-22716" y="225711"/>
                  <a:pt x="27200" y="158340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~ DISCRETE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D8DFEDA9-EF10-7A67-A5B3-66B5567A96B6}"/>
              </a:ext>
            </a:extLst>
          </p:cNvPr>
          <p:cNvSpPr/>
          <p:nvPr/>
        </p:nvSpPr>
        <p:spPr>
          <a:xfrm>
            <a:off x="9438186" y="2501925"/>
            <a:ext cx="478812" cy="1760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BA8EB60-84AA-08DF-DFDC-B41E37BACF35}"/>
                  </a:ext>
                </a:extLst>
              </p:cNvPr>
              <p:cNvSpPr txBox="1"/>
              <p:nvPr/>
            </p:nvSpPr>
            <p:spPr>
              <a:xfrm>
                <a:off x="3465269" y="153657"/>
                <a:ext cx="6451729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Expected Payoff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∑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𝑃𝑟𝑜𝑏𝑎𝑏𝑖𝑙𝑖𝑡𝑦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𝐴𝑣𝑒𝑟𝑎𝑔𝑒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𝑀𝑎𝑟𝑘𝑠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𝑅𝑎𝑛𝑔𝑒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BA8EB60-84AA-08DF-DFDC-B41E37BAC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269" y="153657"/>
                <a:ext cx="6451729" cy="369332"/>
              </a:xfrm>
              <a:prstGeom prst="rect">
                <a:avLst/>
              </a:prstGeom>
              <a:blipFill>
                <a:blip r:embed="rId11"/>
                <a:stretch>
                  <a:fillRect l="-755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68DC29C-B0CA-AC1B-9B74-24DF83DFC955}"/>
                  </a:ext>
                </a:extLst>
              </p:cNvPr>
              <p:cNvSpPr txBox="1"/>
              <p:nvPr/>
            </p:nvSpPr>
            <p:spPr>
              <a:xfrm>
                <a:off x="87000" y="5291122"/>
                <a:ext cx="1834569" cy="147732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Each range of </a:t>
                </a:r>
                <a:r>
                  <a:rPr lang="en-IN" dirty="0">
                    <a:solidFill>
                      <a:srgbClr val="7030A0"/>
                    </a:solidFill>
                  </a:rPr>
                  <a:t>10</a:t>
                </a:r>
                <a:r>
                  <a:rPr lang="en-IN" dirty="0"/>
                  <a:t> marks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≅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One Discrete Outcome</a:t>
                </a: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68DC29C-B0CA-AC1B-9B74-24DF83DFC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00" y="5291122"/>
                <a:ext cx="1834569" cy="1477328"/>
              </a:xfrm>
              <a:prstGeom prst="rect">
                <a:avLst/>
              </a:prstGeom>
              <a:blipFill>
                <a:blip r:embed="rId12"/>
                <a:stretch>
                  <a:fillRect l="-2658" t="-2066" r="-1329" b="-619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4098941A-0765-D8F3-B957-E2ECEAAB14A4}"/>
              </a:ext>
            </a:extLst>
          </p:cNvPr>
          <p:cNvSpPr txBox="1"/>
          <p:nvPr/>
        </p:nvSpPr>
        <p:spPr>
          <a:xfrm>
            <a:off x="10236214" y="1792450"/>
            <a:ext cx="1834569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/>
              <a:t>Expected Payoff</a:t>
            </a:r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1AB68A1E-C0FD-FDD9-987F-221F532EE896}"/>
              </a:ext>
            </a:extLst>
          </p:cNvPr>
          <p:cNvSpPr/>
          <p:nvPr/>
        </p:nvSpPr>
        <p:spPr>
          <a:xfrm>
            <a:off x="10925175" y="2066925"/>
            <a:ext cx="323850" cy="390525"/>
          </a:xfrm>
          <a:custGeom>
            <a:avLst/>
            <a:gdLst>
              <a:gd name="csX0" fmla="*/ 0 w 323850"/>
              <a:gd name="csY0" fmla="*/ 390525 h 390525"/>
              <a:gd name="csX1" fmla="*/ 171450 w 323850"/>
              <a:gd name="csY1" fmla="*/ 276225 h 390525"/>
              <a:gd name="csX2" fmla="*/ 266700 w 323850"/>
              <a:gd name="csY2" fmla="*/ 200025 h 390525"/>
              <a:gd name="csX3" fmla="*/ 276225 w 323850"/>
              <a:gd name="csY3" fmla="*/ 171450 h 390525"/>
              <a:gd name="csX4" fmla="*/ 323850 w 323850"/>
              <a:gd name="csY4" fmla="*/ 47625 h 390525"/>
              <a:gd name="csX5" fmla="*/ 323850 w 323850"/>
              <a:gd name="csY5" fmla="*/ 0 h 390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23850" h="390525">
                <a:moveTo>
                  <a:pt x="0" y="390525"/>
                </a:moveTo>
                <a:cubicBezTo>
                  <a:pt x="73415" y="346476"/>
                  <a:pt x="79198" y="344411"/>
                  <a:pt x="171450" y="276225"/>
                </a:cubicBezTo>
                <a:cubicBezTo>
                  <a:pt x="204148" y="252057"/>
                  <a:pt x="266700" y="200025"/>
                  <a:pt x="266700" y="200025"/>
                </a:cubicBezTo>
                <a:cubicBezTo>
                  <a:pt x="269875" y="190500"/>
                  <a:pt x="272270" y="180678"/>
                  <a:pt x="276225" y="171450"/>
                </a:cubicBezTo>
                <a:cubicBezTo>
                  <a:pt x="293158" y="131939"/>
                  <a:pt x="323850" y="92664"/>
                  <a:pt x="323850" y="47625"/>
                </a:cubicBezTo>
                <a:lnTo>
                  <a:pt x="323850" y="0"/>
                </a:ln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479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5" grpId="0" animBg="1"/>
      <p:bldP spid="30" grpId="0"/>
      <p:bldP spid="32" grpId="0" animBg="1"/>
      <p:bldP spid="3" grpId="0"/>
      <p:bldP spid="3" grpId="1"/>
      <p:bldP spid="4" grpId="0"/>
      <p:bldP spid="4" grpId="1"/>
      <p:bldP spid="11" grpId="0"/>
      <p:bldP spid="11" grpId="1"/>
      <p:bldP spid="12" grpId="0"/>
      <p:bldP spid="12" grpId="1"/>
      <p:bldP spid="5" grpId="0" animBg="1"/>
      <p:bldP spid="22" grpId="0"/>
      <p:bldP spid="22" grpId="1"/>
      <p:bldGraphic spid="23" grpId="0">
        <p:bldAsOne/>
      </p:bldGraphic>
      <p:bldP spid="27" grpId="0" animBg="1"/>
      <p:bldP spid="28" grpId="0" animBg="1"/>
      <p:bldP spid="31" grpId="0" animBg="1"/>
      <p:bldP spid="33" grpId="0" animBg="1"/>
      <p:bldP spid="34" grpId="0" animBg="1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48EC96-60F1-C74C-CB2A-0CED2595F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81327F2-528B-1CC8-7F46-F1B8F1F1E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66D9502B-F718-96FB-5251-A3887FD24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2A7C192-9BFC-7750-7552-E9F16DF756B4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60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3F00EA48-4AD5-52A0-7D93-05194410238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457FBF5-94BF-0AC5-3EF7-74381F6A5016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EXAMPLE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6C4CAA-40FA-A55E-96F3-46DC555D8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DECISION PROBLEM</a:t>
            </a:r>
            <a:br>
              <a:rPr lang="en-US" sz="5400" dirty="0"/>
            </a:br>
            <a:r>
              <a:rPr lang="en-US" sz="5400" dirty="0"/>
              <a:t>Exam Prep &amp; Grades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C90E35-2CE0-6F8F-9068-E6CA2E331C95}"/>
              </a:ext>
            </a:extLst>
          </p:cNvPr>
          <p:cNvSpPr txBox="1"/>
          <p:nvPr/>
        </p:nvSpPr>
        <p:spPr>
          <a:xfrm>
            <a:off x="1553719" y="1372428"/>
            <a:ext cx="20887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Chapters: 1, 2,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9AC146-C8A4-4BFA-B6C1-3827ACDF1550}"/>
              </a:ext>
            </a:extLst>
          </p:cNvPr>
          <p:cNvSpPr txBox="1"/>
          <p:nvPr/>
        </p:nvSpPr>
        <p:spPr>
          <a:xfrm>
            <a:off x="555699" y="2729801"/>
            <a:ext cx="1175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2.2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A35927-81E5-99F2-D493-3C07E2771A4D}"/>
              </a:ext>
            </a:extLst>
          </p:cNvPr>
          <p:cNvSpPr txBox="1"/>
          <p:nvPr/>
        </p:nvSpPr>
        <p:spPr>
          <a:xfrm>
            <a:off x="1628266" y="2729802"/>
            <a:ext cx="4355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Each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leads to multiple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outcomes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CEBB9F-7716-FEB1-1F44-213D0EA46673}"/>
              </a:ext>
            </a:extLst>
          </p:cNvPr>
          <p:cNvSpPr txBox="1"/>
          <p:nvPr/>
        </p:nvSpPr>
        <p:spPr>
          <a:xfrm>
            <a:off x="6823641" y="2729801"/>
            <a:ext cx="3581185" cy="369332"/>
          </a:xfrm>
          <a:custGeom>
            <a:avLst/>
            <a:gdLst>
              <a:gd name="csX0" fmla="*/ 0 w 3581185"/>
              <a:gd name="csY0" fmla="*/ 0 h 369332"/>
              <a:gd name="csX1" fmla="*/ 668488 w 3581185"/>
              <a:gd name="csY1" fmla="*/ 0 h 369332"/>
              <a:gd name="csX2" fmla="*/ 1301164 w 3581185"/>
              <a:gd name="csY2" fmla="*/ 0 h 369332"/>
              <a:gd name="csX3" fmla="*/ 1933840 w 3581185"/>
              <a:gd name="csY3" fmla="*/ 0 h 369332"/>
              <a:gd name="csX4" fmla="*/ 2423269 w 3581185"/>
              <a:gd name="csY4" fmla="*/ 0 h 369332"/>
              <a:gd name="csX5" fmla="*/ 2948509 w 3581185"/>
              <a:gd name="csY5" fmla="*/ 0 h 369332"/>
              <a:gd name="csX6" fmla="*/ 3581185 w 3581185"/>
              <a:gd name="csY6" fmla="*/ 0 h 369332"/>
              <a:gd name="csX7" fmla="*/ 3581185 w 3581185"/>
              <a:gd name="csY7" fmla="*/ 369332 h 369332"/>
              <a:gd name="csX8" fmla="*/ 2984321 w 3581185"/>
              <a:gd name="csY8" fmla="*/ 369332 h 369332"/>
              <a:gd name="csX9" fmla="*/ 2494892 w 3581185"/>
              <a:gd name="csY9" fmla="*/ 369332 h 369332"/>
              <a:gd name="csX10" fmla="*/ 2005464 w 3581185"/>
              <a:gd name="csY10" fmla="*/ 369332 h 369332"/>
              <a:gd name="csX11" fmla="*/ 1372788 w 3581185"/>
              <a:gd name="csY11" fmla="*/ 369332 h 369332"/>
              <a:gd name="csX12" fmla="*/ 847547 w 3581185"/>
              <a:gd name="csY12" fmla="*/ 369332 h 369332"/>
              <a:gd name="csX13" fmla="*/ 0 w 3581185"/>
              <a:gd name="csY13" fmla="*/ 369332 h 369332"/>
              <a:gd name="csX14" fmla="*/ 0 w 3581185"/>
              <a:gd name="csY1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581185" h="369332" fill="none" extrusionOk="0">
                <a:moveTo>
                  <a:pt x="0" y="0"/>
                </a:moveTo>
                <a:cubicBezTo>
                  <a:pt x="226137" y="-54471"/>
                  <a:pt x="357444" y="34301"/>
                  <a:pt x="668488" y="0"/>
                </a:cubicBezTo>
                <a:cubicBezTo>
                  <a:pt x="979532" y="-34301"/>
                  <a:pt x="1132443" y="47940"/>
                  <a:pt x="1301164" y="0"/>
                </a:cubicBezTo>
                <a:cubicBezTo>
                  <a:pt x="1469885" y="-47940"/>
                  <a:pt x="1771418" y="48375"/>
                  <a:pt x="1933840" y="0"/>
                </a:cubicBezTo>
                <a:cubicBezTo>
                  <a:pt x="2096262" y="-48375"/>
                  <a:pt x="2262334" y="13931"/>
                  <a:pt x="2423269" y="0"/>
                </a:cubicBezTo>
                <a:cubicBezTo>
                  <a:pt x="2584204" y="-13931"/>
                  <a:pt x="2766475" y="52781"/>
                  <a:pt x="2948509" y="0"/>
                </a:cubicBezTo>
                <a:cubicBezTo>
                  <a:pt x="3130543" y="-52781"/>
                  <a:pt x="3382216" y="29870"/>
                  <a:pt x="3581185" y="0"/>
                </a:cubicBezTo>
                <a:cubicBezTo>
                  <a:pt x="3600716" y="147089"/>
                  <a:pt x="3539967" y="212636"/>
                  <a:pt x="3581185" y="369332"/>
                </a:cubicBezTo>
                <a:cubicBezTo>
                  <a:pt x="3301882" y="399918"/>
                  <a:pt x="3184752" y="364752"/>
                  <a:pt x="2984321" y="369332"/>
                </a:cubicBezTo>
                <a:cubicBezTo>
                  <a:pt x="2783890" y="373912"/>
                  <a:pt x="2683600" y="363332"/>
                  <a:pt x="2494892" y="369332"/>
                </a:cubicBezTo>
                <a:cubicBezTo>
                  <a:pt x="2306184" y="375332"/>
                  <a:pt x="2244975" y="362490"/>
                  <a:pt x="2005464" y="369332"/>
                </a:cubicBezTo>
                <a:cubicBezTo>
                  <a:pt x="1765953" y="376174"/>
                  <a:pt x="1635487" y="348036"/>
                  <a:pt x="1372788" y="369332"/>
                </a:cubicBezTo>
                <a:cubicBezTo>
                  <a:pt x="1110089" y="390628"/>
                  <a:pt x="1052810" y="313771"/>
                  <a:pt x="847547" y="369332"/>
                </a:cubicBezTo>
                <a:cubicBezTo>
                  <a:pt x="642284" y="424893"/>
                  <a:pt x="289961" y="304208"/>
                  <a:pt x="0" y="369332"/>
                </a:cubicBezTo>
                <a:cubicBezTo>
                  <a:pt x="-34692" y="235166"/>
                  <a:pt x="26681" y="80336"/>
                  <a:pt x="0" y="0"/>
                </a:cubicBezTo>
                <a:close/>
              </a:path>
              <a:path w="3581185" h="369332" stroke="0" extrusionOk="0">
                <a:moveTo>
                  <a:pt x="0" y="0"/>
                </a:moveTo>
                <a:cubicBezTo>
                  <a:pt x="129900" y="-19001"/>
                  <a:pt x="430746" y="13814"/>
                  <a:pt x="561052" y="0"/>
                </a:cubicBezTo>
                <a:cubicBezTo>
                  <a:pt x="691358" y="-13814"/>
                  <a:pt x="928679" y="31419"/>
                  <a:pt x="1050481" y="0"/>
                </a:cubicBezTo>
                <a:cubicBezTo>
                  <a:pt x="1172283" y="-31419"/>
                  <a:pt x="1522368" y="30743"/>
                  <a:pt x="1718969" y="0"/>
                </a:cubicBezTo>
                <a:cubicBezTo>
                  <a:pt x="1915570" y="-30743"/>
                  <a:pt x="2110215" y="52267"/>
                  <a:pt x="2280021" y="0"/>
                </a:cubicBezTo>
                <a:cubicBezTo>
                  <a:pt x="2449827" y="-52267"/>
                  <a:pt x="2592938" y="54208"/>
                  <a:pt x="2841073" y="0"/>
                </a:cubicBezTo>
                <a:cubicBezTo>
                  <a:pt x="3089208" y="-54208"/>
                  <a:pt x="3293296" y="86582"/>
                  <a:pt x="3581185" y="0"/>
                </a:cubicBezTo>
                <a:cubicBezTo>
                  <a:pt x="3602864" y="103222"/>
                  <a:pt x="3548024" y="284950"/>
                  <a:pt x="3581185" y="369332"/>
                </a:cubicBezTo>
                <a:cubicBezTo>
                  <a:pt x="3362327" y="407541"/>
                  <a:pt x="3104279" y="303833"/>
                  <a:pt x="2984321" y="369332"/>
                </a:cubicBezTo>
                <a:cubicBezTo>
                  <a:pt x="2864363" y="434831"/>
                  <a:pt x="2656737" y="359045"/>
                  <a:pt x="2494892" y="369332"/>
                </a:cubicBezTo>
                <a:cubicBezTo>
                  <a:pt x="2333047" y="379619"/>
                  <a:pt x="2114110" y="312210"/>
                  <a:pt x="1898028" y="369332"/>
                </a:cubicBezTo>
                <a:cubicBezTo>
                  <a:pt x="1681946" y="426454"/>
                  <a:pt x="1421091" y="347263"/>
                  <a:pt x="1301164" y="369332"/>
                </a:cubicBezTo>
                <a:cubicBezTo>
                  <a:pt x="1181237" y="391401"/>
                  <a:pt x="992038" y="324318"/>
                  <a:pt x="740112" y="369332"/>
                </a:cubicBezTo>
                <a:cubicBezTo>
                  <a:pt x="488186" y="414346"/>
                  <a:pt x="346109" y="353151"/>
                  <a:pt x="0" y="369332"/>
                </a:cubicBezTo>
                <a:cubicBezTo>
                  <a:pt x="-8026" y="274434"/>
                  <a:pt x="20480" y="124469"/>
                  <a:pt x="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Outcomes are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random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variables.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BE51E22D-2E20-288B-14C6-050975C99568}"/>
              </a:ext>
            </a:extLst>
          </p:cNvPr>
          <p:cNvSpPr/>
          <p:nvPr/>
        </p:nvSpPr>
        <p:spPr>
          <a:xfrm>
            <a:off x="5986899" y="2824700"/>
            <a:ext cx="627530" cy="179535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6C2137-97D8-1CBB-52A3-277D828ED056}"/>
              </a:ext>
            </a:extLst>
          </p:cNvPr>
          <p:cNvSpPr txBox="1"/>
          <p:nvPr/>
        </p:nvSpPr>
        <p:spPr>
          <a:xfrm>
            <a:off x="7353409" y="1132680"/>
            <a:ext cx="4169555" cy="338554"/>
          </a:xfrm>
          <a:custGeom>
            <a:avLst/>
            <a:gdLst>
              <a:gd name="csX0" fmla="*/ 0 w 4169555"/>
              <a:gd name="csY0" fmla="*/ 0 h 338554"/>
              <a:gd name="csX1" fmla="*/ 553955 w 4169555"/>
              <a:gd name="csY1" fmla="*/ 0 h 338554"/>
              <a:gd name="csX2" fmla="*/ 1024519 w 4169555"/>
              <a:gd name="csY2" fmla="*/ 0 h 338554"/>
              <a:gd name="csX3" fmla="*/ 1536779 w 4169555"/>
              <a:gd name="csY3" fmla="*/ 0 h 338554"/>
              <a:gd name="csX4" fmla="*/ 2174125 w 4169555"/>
              <a:gd name="csY4" fmla="*/ 0 h 338554"/>
              <a:gd name="csX5" fmla="*/ 2728080 w 4169555"/>
              <a:gd name="csY5" fmla="*/ 0 h 338554"/>
              <a:gd name="csX6" fmla="*/ 3240340 w 4169555"/>
              <a:gd name="csY6" fmla="*/ 0 h 338554"/>
              <a:gd name="csX7" fmla="*/ 4169555 w 4169555"/>
              <a:gd name="csY7" fmla="*/ 0 h 338554"/>
              <a:gd name="csX8" fmla="*/ 4169555 w 4169555"/>
              <a:gd name="csY8" fmla="*/ 338554 h 338554"/>
              <a:gd name="csX9" fmla="*/ 3573904 w 4169555"/>
              <a:gd name="csY9" fmla="*/ 338554 h 338554"/>
              <a:gd name="csX10" fmla="*/ 3061645 w 4169555"/>
              <a:gd name="csY10" fmla="*/ 338554 h 338554"/>
              <a:gd name="csX11" fmla="*/ 2382603 w 4169555"/>
              <a:gd name="csY11" fmla="*/ 338554 h 338554"/>
              <a:gd name="csX12" fmla="*/ 1828648 w 4169555"/>
              <a:gd name="csY12" fmla="*/ 338554 h 338554"/>
              <a:gd name="csX13" fmla="*/ 1358084 w 4169555"/>
              <a:gd name="csY13" fmla="*/ 338554 h 338554"/>
              <a:gd name="csX14" fmla="*/ 720737 w 4169555"/>
              <a:gd name="csY14" fmla="*/ 338554 h 338554"/>
              <a:gd name="csX15" fmla="*/ 0 w 4169555"/>
              <a:gd name="csY15" fmla="*/ 338554 h 338554"/>
              <a:gd name="csX16" fmla="*/ 0 w 4169555"/>
              <a:gd name="csY16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169555" h="338554" fill="none" extrusionOk="0">
                <a:moveTo>
                  <a:pt x="0" y="0"/>
                </a:moveTo>
                <a:cubicBezTo>
                  <a:pt x="184610" y="-15352"/>
                  <a:pt x="306860" y="60898"/>
                  <a:pt x="553955" y="0"/>
                </a:cubicBezTo>
                <a:cubicBezTo>
                  <a:pt x="801050" y="-60898"/>
                  <a:pt x="861241" y="3755"/>
                  <a:pt x="1024519" y="0"/>
                </a:cubicBezTo>
                <a:cubicBezTo>
                  <a:pt x="1187797" y="-3755"/>
                  <a:pt x="1401197" y="59508"/>
                  <a:pt x="1536779" y="0"/>
                </a:cubicBezTo>
                <a:cubicBezTo>
                  <a:pt x="1672361" y="-59508"/>
                  <a:pt x="1971294" y="11931"/>
                  <a:pt x="2174125" y="0"/>
                </a:cubicBezTo>
                <a:cubicBezTo>
                  <a:pt x="2376956" y="-11931"/>
                  <a:pt x="2557745" y="22242"/>
                  <a:pt x="2728080" y="0"/>
                </a:cubicBezTo>
                <a:cubicBezTo>
                  <a:pt x="2898416" y="-22242"/>
                  <a:pt x="3043738" y="46711"/>
                  <a:pt x="3240340" y="0"/>
                </a:cubicBezTo>
                <a:cubicBezTo>
                  <a:pt x="3436942" y="-46711"/>
                  <a:pt x="3865190" y="7744"/>
                  <a:pt x="4169555" y="0"/>
                </a:cubicBezTo>
                <a:cubicBezTo>
                  <a:pt x="4206395" y="96079"/>
                  <a:pt x="4154943" y="248329"/>
                  <a:pt x="4169555" y="338554"/>
                </a:cubicBezTo>
                <a:cubicBezTo>
                  <a:pt x="3980034" y="406521"/>
                  <a:pt x="3696700" y="289803"/>
                  <a:pt x="3573904" y="338554"/>
                </a:cubicBezTo>
                <a:cubicBezTo>
                  <a:pt x="3451108" y="387305"/>
                  <a:pt x="3197139" y="284421"/>
                  <a:pt x="3061645" y="338554"/>
                </a:cubicBezTo>
                <a:cubicBezTo>
                  <a:pt x="2926151" y="392687"/>
                  <a:pt x="2585699" y="273170"/>
                  <a:pt x="2382603" y="338554"/>
                </a:cubicBezTo>
                <a:cubicBezTo>
                  <a:pt x="2179507" y="403938"/>
                  <a:pt x="1953581" y="303012"/>
                  <a:pt x="1828648" y="338554"/>
                </a:cubicBezTo>
                <a:cubicBezTo>
                  <a:pt x="1703715" y="374096"/>
                  <a:pt x="1518427" y="288139"/>
                  <a:pt x="1358084" y="338554"/>
                </a:cubicBezTo>
                <a:cubicBezTo>
                  <a:pt x="1197741" y="388969"/>
                  <a:pt x="955095" y="304869"/>
                  <a:pt x="720737" y="338554"/>
                </a:cubicBezTo>
                <a:cubicBezTo>
                  <a:pt x="486379" y="372239"/>
                  <a:pt x="309096" y="300612"/>
                  <a:pt x="0" y="338554"/>
                </a:cubicBezTo>
                <a:cubicBezTo>
                  <a:pt x="-38409" y="218503"/>
                  <a:pt x="36533" y="148226"/>
                  <a:pt x="0" y="0"/>
                </a:cubicBezTo>
                <a:close/>
              </a:path>
              <a:path w="4169555" h="338554" stroke="0" extrusionOk="0">
                <a:moveTo>
                  <a:pt x="0" y="0"/>
                </a:moveTo>
                <a:cubicBezTo>
                  <a:pt x="123686" y="-57714"/>
                  <a:pt x="289115" y="45504"/>
                  <a:pt x="553955" y="0"/>
                </a:cubicBezTo>
                <a:cubicBezTo>
                  <a:pt x="818796" y="-45504"/>
                  <a:pt x="900835" y="12365"/>
                  <a:pt x="1024519" y="0"/>
                </a:cubicBezTo>
                <a:cubicBezTo>
                  <a:pt x="1148203" y="-12365"/>
                  <a:pt x="1375450" y="49199"/>
                  <a:pt x="1703561" y="0"/>
                </a:cubicBezTo>
                <a:cubicBezTo>
                  <a:pt x="2031672" y="-49199"/>
                  <a:pt x="2135915" y="53877"/>
                  <a:pt x="2257516" y="0"/>
                </a:cubicBezTo>
                <a:cubicBezTo>
                  <a:pt x="2379118" y="-53877"/>
                  <a:pt x="2689826" y="7640"/>
                  <a:pt x="2811471" y="0"/>
                </a:cubicBezTo>
                <a:cubicBezTo>
                  <a:pt x="2933116" y="-7640"/>
                  <a:pt x="3237653" y="42159"/>
                  <a:pt x="3490513" y="0"/>
                </a:cubicBezTo>
                <a:cubicBezTo>
                  <a:pt x="3743373" y="-42159"/>
                  <a:pt x="3902601" y="4213"/>
                  <a:pt x="4169555" y="0"/>
                </a:cubicBezTo>
                <a:cubicBezTo>
                  <a:pt x="4186433" y="108997"/>
                  <a:pt x="4150059" y="194594"/>
                  <a:pt x="4169555" y="338554"/>
                </a:cubicBezTo>
                <a:cubicBezTo>
                  <a:pt x="4046605" y="342848"/>
                  <a:pt x="3791268" y="329382"/>
                  <a:pt x="3657295" y="338554"/>
                </a:cubicBezTo>
                <a:cubicBezTo>
                  <a:pt x="3523322" y="347726"/>
                  <a:pt x="3280593" y="338438"/>
                  <a:pt x="3061645" y="338554"/>
                </a:cubicBezTo>
                <a:cubicBezTo>
                  <a:pt x="2842697" y="338670"/>
                  <a:pt x="2690996" y="317297"/>
                  <a:pt x="2465994" y="338554"/>
                </a:cubicBezTo>
                <a:cubicBezTo>
                  <a:pt x="2240992" y="359811"/>
                  <a:pt x="2137041" y="296476"/>
                  <a:pt x="1912039" y="338554"/>
                </a:cubicBezTo>
                <a:cubicBezTo>
                  <a:pt x="1687037" y="380632"/>
                  <a:pt x="1569178" y="336593"/>
                  <a:pt x="1232997" y="338554"/>
                </a:cubicBezTo>
                <a:cubicBezTo>
                  <a:pt x="896816" y="340515"/>
                  <a:pt x="824031" y="320493"/>
                  <a:pt x="553955" y="338554"/>
                </a:cubicBezTo>
                <a:cubicBezTo>
                  <a:pt x="283879" y="356615"/>
                  <a:pt x="113030" y="293227"/>
                  <a:pt x="0" y="338554"/>
                </a:cubicBezTo>
                <a:cubicBezTo>
                  <a:pt x="-8967" y="239005"/>
                  <a:pt x="5325" y="122363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Goal: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 Assign a payoff to each action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F2D296-5669-6899-5FA8-E95FA650E997}"/>
              </a:ext>
            </a:extLst>
          </p:cNvPr>
          <p:cNvSpPr txBox="1"/>
          <p:nvPr/>
        </p:nvSpPr>
        <p:spPr>
          <a:xfrm>
            <a:off x="7628134" y="2413897"/>
            <a:ext cx="1704125" cy="369332"/>
          </a:xfrm>
          <a:custGeom>
            <a:avLst/>
            <a:gdLst>
              <a:gd name="csX0" fmla="*/ 0 w 1704125"/>
              <a:gd name="csY0" fmla="*/ 0 h 369332"/>
              <a:gd name="csX1" fmla="*/ 602124 w 1704125"/>
              <a:gd name="csY1" fmla="*/ 0 h 369332"/>
              <a:gd name="csX2" fmla="*/ 1187207 w 1704125"/>
              <a:gd name="csY2" fmla="*/ 0 h 369332"/>
              <a:gd name="csX3" fmla="*/ 1704125 w 1704125"/>
              <a:gd name="csY3" fmla="*/ 0 h 369332"/>
              <a:gd name="csX4" fmla="*/ 1704125 w 1704125"/>
              <a:gd name="csY4" fmla="*/ 369332 h 369332"/>
              <a:gd name="csX5" fmla="*/ 1170166 w 1704125"/>
              <a:gd name="csY5" fmla="*/ 369332 h 369332"/>
              <a:gd name="csX6" fmla="*/ 602124 w 1704125"/>
              <a:gd name="csY6" fmla="*/ 369332 h 369332"/>
              <a:gd name="csX7" fmla="*/ 0 w 1704125"/>
              <a:gd name="csY7" fmla="*/ 369332 h 369332"/>
              <a:gd name="csX8" fmla="*/ 0 w 1704125"/>
              <a:gd name="csY8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04125" h="369332" fill="none" extrusionOk="0">
                <a:moveTo>
                  <a:pt x="0" y="0"/>
                </a:moveTo>
                <a:cubicBezTo>
                  <a:pt x="174300" y="-17330"/>
                  <a:pt x="384546" y="56378"/>
                  <a:pt x="602124" y="0"/>
                </a:cubicBezTo>
                <a:cubicBezTo>
                  <a:pt x="819702" y="-56378"/>
                  <a:pt x="923131" y="10555"/>
                  <a:pt x="1187207" y="0"/>
                </a:cubicBezTo>
                <a:cubicBezTo>
                  <a:pt x="1451283" y="-10555"/>
                  <a:pt x="1501114" y="21811"/>
                  <a:pt x="1704125" y="0"/>
                </a:cubicBezTo>
                <a:cubicBezTo>
                  <a:pt x="1708163" y="158233"/>
                  <a:pt x="1667831" y="205698"/>
                  <a:pt x="1704125" y="369332"/>
                </a:cubicBezTo>
                <a:cubicBezTo>
                  <a:pt x="1495424" y="374260"/>
                  <a:pt x="1370756" y="318448"/>
                  <a:pt x="1170166" y="369332"/>
                </a:cubicBezTo>
                <a:cubicBezTo>
                  <a:pt x="969576" y="420216"/>
                  <a:pt x="828658" y="357913"/>
                  <a:pt x="602124" y="369332"/>
                </a:cubicBezTo>
                <a:cubicBezTo>
                  <a:pt x="375590" y="380751"/>
                  <a:pt x="261900" y="325398"/>
                  <a:pt x="0" y="369332"/>
                </a:cubicBezTo>
                <a:cubicBezTo>
                  <a:pt x="-34018" y="280347"/>
                  <a:pt x="27486" y="156341"/>
                  <a:pt x="0" y="0"/>
                </a:cubicBezTo>
                <a:close/>
              </a:path>
              <a:path w="1704125" h="369332" stroke="0" extrusionOk="0">
                <a:moveTo>
                  <a:pt x="0" y="0"/>
                </a:moveTo>
                <a:cubicBezTo>
                  <a:pt x="166897" y="-36853"/>
                  <a:pt x="324722" y="55547"/>
                  <a:pt x="551000" y="0"/>
                </a:cubicBezTo>
                <a:cubicBezTo>
                  <a:pt x="777278" y="-55547"/>
                  <a:pt x="896106" y="14083"/>
                  <a:pt x="1067918" y="0"/>
                </a:cubicBezTo>
                <a:cubicBezTo>
                  <a:pt x="1239730" y="-14083"/>
                  <a:pt x="1570223" y="58076"/>
                  <a:pt x="1704125" y="0"/>
                </a:cubicBezTo>
                <a:cubicBezTo>
                  <a:pt x="1739713" y="113493"/>
                  <a:pt x="1677318" y="197069"/>
                  <a:pt x="1704125" y="369332"/>
                </a:cubicBezTo>
                <a:cubicBezTo>
                  <a:pt x="1468518" y="416778"/>
                  <a:pt x="1330447" y="355318"/>
                  <a:pt x="1170166" y="369332"/>
                </a:cubicBezTo>
                <a:cubicBezTo>
                  <a:pt x="1009885" y="383346"/>
                  <a:pt x="848824" y="326147"/>
                  <a:pt x="568042" y="369332"/>
                </a:cubicBezTo>
                <a:cubicBezTo>
                  <a:pt x="287260" y="412517"/>
                  <a:pt x="155955" y="302535"/>
                  <a:pt x="0" y="369332"/>
                </a:cubicBezTo>
                <a:cubicBezTo>
                  <a:pt x="-22716" y="225711"/>
                  <a:pt x="27200" y="158340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CONTINUOUS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" name="Table 28">
                <a:extLst>
                  <a:ext uri="{FF2B5EF4-FFF2-40B4-BE49-F238E27FC236}">
                    <a16:creationId xmlns:a16="http://schemas.microsoft.com/office/drawing/2014/main" id="{1D4A777C-C9D1-94F4-B156-779D2658954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65703" y="3101730"/>
              <a:ext cx="4064000" cy="3688080"/>
            </p:xfrm>
            <a:graphic>
              <a:graphicData uri="http://schemas.openxmlformats.org/drawingml/2006/table">
                <a:tbl>
                  <a:tblPr firstRow="1" bandRow="1">
                    <a:tableStyleId>{68D230F3-CF80-4859-8CE7-A43EE81993B5}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749442872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455095600"/>
                        </a:ext>
                      </a:extLst>
                    </a:gridCol>
                  </a:tblGrid>
                  <a:tr h="18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/>
                            <a:t>Outcome </a:t>
                          </a:r>
                          <a:r>
                            <a:rPr lang="en-IN" sz="1600" b="0" dirty="0"/>
                            <a:t>(Marks)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/>
                            <a:t>Probability</a:t>
                          </a:r>
                          <a:endParaRPr lang="en-IN" sz="16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7148133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i="0" smtClean="0">
                                    <a:latin typeface="Cambria Math" panose="02040503050406030204" pitchFamily="18" charset="0"/>
                                  </a:rPr>
                                  <m:t>0−5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31819494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i="0" smtClean="0">
                                    <a:latin typeface="Cambria Math" panose="02040503050406030204" pitchFamily="18" charset="0"/>
                                  </a:rPr>
                                  <m:t>5−10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i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3697543"/>
                      </a:ext>
                    </a:extLst>
                  </a:tr>
                  <a:tr h="2181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i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i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9738058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𝟔𝟎</m:t>
                                </m:r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𝟔𝟓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𝟎𝟗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4672270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𝟔𝟓</m:t>
                                </m:r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𝟕𝟎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𝟏𝟏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5290674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𝟕𝟎</m:t>
                                </m:r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𝟕𝟓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𝟐𝟐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3122576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𝟕𝟓</m:t>
                                </m:r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𝟖𝟎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𝟐𝟖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2523715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𝟖𝟎</m:t>
                                </m:r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𝟖𝟓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𝟏𝟕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9993395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𝟖𝟓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𝟗𝟎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𝟏𝟑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86616839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i="0" smtClean="0">
                                    <a:latin typeface="Cambria Math" panose="02040503050406030204" pitchFamily="18" charset="0"/>
                                  </a:rPr>
                                  <m:t>90−100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27705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" name="Table 28">
                <a:extLst>
                  <a:ext uri="{FF2B5EF4-FFF2-40B4-BE49-F238E27FC236}">
                    <a16:creationId xmlns:a16="http://schemas.microsoft.com/office/drawing/2014/main" id="{1D4A777C-C9D1-94F4-B156-779D265895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8442553"/>
                  </p:ext>
                </p:extLst>
              </p:nvPr>
            </p:nvGraphicFramePr>
            <p:xfrm>
              <a:off x="2065703" y="3101730"/>
              <a:ext cx="4064000" cy="3688080"/>
            </p:xfrm>
            <a:graphic>
              <a:graphicData uri="http://schemas.openxmlformats.org/drawingml/2006/table">
                <a:tbl>
                  <a:tblPr firstRow="1" bandRow="1">
                    <a:tableStyleId>{68D230F3-CF80-4859-8CE7-A43EE81993B5}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749442872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455095600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/>
                            <a:t>Outcome </a:t>
                          </a:r>
                          <a:r>
                            <a:rPr lang="en-IN" sz="1600" b="0" dirty="0"/>
                            <a:t>(Marks)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/>
                            <a:t>Probability</a:t>
                          </a:r>
                          <a:endParaRPr lang="en-IN" sz="16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714813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103636" r="-100299" b="-9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03636" r="-299" b="-9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1819494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203636" r="-100299" b="-8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203636" r="-299" b="-8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369754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303636" r="-100299" b="-7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303636" r="-299" b="-7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73805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403636" r="-100299" b="-6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403636" r="-299" b="-6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467227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494643" r="-100299" b="-49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494643" r="-299" b="-49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5290674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605455" r="-100299" b="-40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605455" r="-299" b="-40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3122576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705455" r="-100299" b="-30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705455" r="-299" b="-30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252371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805455" r="-100299" b="-20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805455" r="-299" b="-20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999339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905455" r="-100299" b="-10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905455" r="-299" b="-10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661683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1005455" r="-100299" b="-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005455" r="-299" b="-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277051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3E367CC-68BA-4391-384D-5950A4BF1FF8}"/>
                  </a:ext>
                </a:extLst>
              </p:cNvPr>
              <p:cNvSpPr txBox="1"/>
              <p:nvPr/>
            </p:nvSpPr>
            <p:spPr>
              <a:xfrm>
                <a:off x="286948" y="4896364"/>
                <a:ext cx="6099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=2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3E367CC-68BA-4391-384D-5950A4BF1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48" y="4896364"/>
                <a:ext cx="609975" cy="276999"/>
              </a:xfrm>
              <a:prstGeom prst="rect">
                <a:avLst/>
              </a:prstGeom>
              <a:blipFill>
                <a:blip r:embed="rId5"/>
                <a:stretch>
                  <a:fillRect l="-6000" r="-10000" b="-6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Arrow: Right 31">
            <a:extLst>
              <a:ext uri="{FF2B5EF4-FFF2-40B4-BE49-F238E27FC236}">
                <a16:creationId xmlns:a16="http://schemas.microsoft.com/office/drawing/2014/main" id="{347C24BE-CA76-82E9-5BD6-AE553F277105}"/>
              </a:ext>
            </a:extLst>
          </p:cNvPr>
          <p:cNvSpPr/>
          <p:nvPr/>
        </p:nvSpPr>
        <p:spPr>
          <a:xfrm>
            <a:off x="1217170" y="4945095"/>
            <a:ext cx="627530" cy="179535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B79A64-6FA4-98C0-B173-38443FFA281A}"/>
              </a:ext>
            </a:extLst>
          </p:cNvPr>
          <p:cNvSpPr txBox="1"/>
          <p:nvPr/>
        </p:nvSpPr>
        <p:spPr>
          <a:xfrm>
            <a:off x="7784198" y="1920871"/>
            <a:ext cx="22117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Discrete action set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E903A64-FC30-737D-7B98-6627DA988CC8}"/>
              </a:ext>
            </a:extLst>
          </p:cNvPr>
          <p:cNvGrpSpPr/>
          <p:nvPr/>
        </p:nvGrpSpPr>
        <p:grpSpPr>
          <a:xfrm>
            <a:off x="669036" y="1923068"/>
            <a:ext cx="2766026" cy="369332"/>
            <a:chOff x="838200" y="1690688"/>
            <a:chExt cx="2766026" cy="36933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31B6A05-AE48-1E6D-7602-8EB4341C1C07}"/>
                </a:ext>
              </a:extLst>
            </p:cNvPr>
            <p:cNvSpPr txBox="1"/>
            <p:nvPr/>
          </p:nvSpPr>
          <p:spPr>
            <a:xfrm>
              <a:off x="838200" y="1690688"/>
              <a:ext cx="101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Actions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7A5DEF5-0F96-1728-0823-4E9A4E8E536C}"/>
                    </a:ext>
                  </a:extLst>
                </p:cNvPr>
                <p:cNvSpPr txBox="1"/>
                <p:nvPr/>
              </p:nvSpPr>
              <p:spPr>
                <a:xfrm>
                  <a:off x="2156843" y="1734658"/>
                  <a:ext cx="144738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0, 1, 2, 3</m:t>
                            </m:r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EE2BFA41-AE39-EEFF-76C8-C1BEF0E0CB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6843" y="1734658"/>
                  <a:ext cx="1447383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3376" b="-6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1024024-5A34-BF55-0747-8C454CCA5516}"/>
              </a:ext>
            </a:extLst>
          </p:cNvPr>
          <p:cNvSpPr txBox="1"/>
          <p:nvPr/>
        </p:nvSpPr>
        <p:spPr>
          <a:xfrm>
            <a:off x="4186517" y="1920871"/>
            <a:ext cx="33079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Number of chapters studied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A1504F4-9205-4F50-B104-A81E0D767A51}"/>
              </a:ext>
            </a:extLst>
          </p:cNvPr>
          <p:cNvGraphicFramePr>
            <a:graphicFrameLocks/>
          </p:cNvGraphicFramePr>
          <p:nvPr/>
        </p:nvGraphicFramePr>
        <p:xfrm>
          <a:off x="6596071" y="3601116"/>
          <a:ext cx="5400000" cy="2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8BB4325-09B0-164C-D591-4A19BC211722}"/>
              </a:ext>
            </a:extLst>
          </p:cNvPr>
          <p:cNvSpPr txBox="1"/>
          <p:nvPr/>
        </p:nvSpPr>
        <p:spPr>
          <a:xfrm>
            <a:off x="10052647" y="2387183"/>
            <a:ext cx="1470317" cy="369332"/>
          </a:xfrm>
          <a:custGeom>
            <a:avLst/>
            <a:gdLst>
              <a:gd name="csX0" fmla="*/ 0 w 1470317"/>
              <a:gd name="csY0" fmla="*/ 0 h 369332"/>
              <a:gd name="csX1" fmla="*/ 519512 w 1470317"/>
              <a:gd name="csY1" fmla="*/ 0 h 369332"/>
              <a:gd name="csX2" fmla="*/ 1024321 w 1470317"/>
              <a:gd name="csY2" fmla="*/ 0 h 369332"/>
              <a:gd name="csX3" fmla="*/ 1470317 w 1470317"/>
              <a:gd name="csY3" fmla="*/ 0 h 369332"/>
              <a:gd name="csX4" fmla="*/ 1470317 w 1470317"/>
              <a:gd name="csY4" fmla="*/ 369332 h 369332"/>
              <a:gd name="csX5" fmla="*/ 1009618 w 1470317"/>
              <a:gd name="csY5" fmla="*/ 369332 h 369332"/>
              <a:gd name="csX6" fmla="*/ 519512 w 1470317"/>
              <a:gd name="csY6" fmla="*/ 369332 h 369332"/>
              <a:gd name="csX7" fmla="*/ 0 w 1470317"/>
              <a:gd name="csY7" fmla="*/ 369332 h 369332"/>
              <a:gd name="csX8" fmla="*/ 0 w 1470317"/>
              <a:gd name="csY8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470317" h="369332" fill="none" extrusionOk="0">
                <a:moveTo>
                  <a:pt x="0" y="0"/>
                </a:moveTo>
                <a:cubicBezTo>
                  <a:pt x="143752" y="-16887"/>
                  <a:pt x="322158" y="18947"/>
                  <a:pt x="519512" y="0"/>
                </a:cubicBezTo>
                <a:cubicBezTo>
                  <a:pt x="716866" y="-18947"/>
                  <a:pt x="852834" y="50824"/>
                  <a:pt x="1024321" y="0"/>
                </a:cubicBezTo>
                <a:cubicBezTo>
                  <a:pt x="1195808" y="-50824"/>
                  <a:pt x="1368813" y="11680"/>
                  <a:pt x="1470317" y="0"/>
                </a:cubicBezTo>
                <a:cubicBezTo>
                  <a:pt x="1474355" y="158233"/>
                  <a:pt x="1434023" y="205698"/>
                  <a:pt x="1470317" y="369332"/>
                </a:cubicBezTo>
                <a:cubicBezTo>
                  <a:pt x="1361037" y="414065"/>
                  <a:pt x="1124465" y="328958"/>
                  <a:pt x="1009618" y="369332"/>
                </a:cubicBezTo>
                <a:cubicBezTo>
                  <a:pt x="894771" y="409706"/>
                  <a:pt x="751488" y="327070"/>
                  <a:pt x="519512" y="369332"/>
                </a:cubicBezTo>
                <a:cubicBezTo>
                  <a:pt x="287536" y="411594"/>
                  <a:pt x="258308" y="345428"/>
                  <a:pt x="0" y="369332"/>
                </a:cubicBezTo>
                <a:cubicBezTo>
                  <a:pt x="-34018" y="280347"/>
                  <a:pt x="27486" y="156341"/>
                  <a:pt x="0" y="0"/>
                </a:cubicBezTo>
                <a:close/>
              </a:path>
              <a:path w="1470317" h="369332" stroke="0" extrusionOk="0">
                <a:moveTo>
                  <a:pt x="0" y="0"/>
                </a:moveTo>
                <a:cubicBezTo>
                  <a:pt x="189969" y="-49387"/>
                  <a:pt x="256418" y="39432"/>
                  <a:pt x="475402" y="0"/>
                </a:cubicBezTo>
                <a:cubicBezTo>
                  <a:pt x="694386" y="-39432"/>
                  <a:pt x="795951" y="2117"/>
                  <a:pt x="921399" y="0"/>
                </a:cubicBezTo>
                <a:cubicBezTo>
                  <a:pt x="1046847" y="-2117"/>
                  <a:pt x="1244120" y="12375"/>
                  <a:pt x="1470317" y="0"/>
                </a:cubicBezTo>
                <a:cubicBezTo>
                  <a:pt x="1505905" y="113493"/>
                  <a:pt x="1443510" y="197069"/>
                  <a:pt x="1470317" y="369332"/>
                </a:cubicBezTo>
                <a:cubicBezTo>
                  <a:pt x="1321404" y="370249"/>
                  <a:pt x="1125613" y="352414"/>
                  <a:pt x="1009618" y="369332"/>
                </a:cubicBezTo>
                <a:cubicBezTo>
                  <a:pt x="893623" y="386250"/>
                  <a:pt x="709342" y="346422"/>
                  <a:pt x="490106" y="369332"/>
                </a:cubicBezTo>
                <a:cubicBezTo>
                  <a:pt x="270870" y="392242"/>
                  <a:pt x="166120" y="340183"/>
                  <a:pt x="0" y="369332"/>
                </a:cubicBezTo>
                <a:cubicBezTo>
                  <a:pt x="-22716" y="225711"/>
                  <a:pt x="27200" y="158340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~ DISCRETE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1802244-7EDD-B790-3CB7-23A9F3B432E3}"/>
              </a:ext>
            </a:extLst>
          </p:cNvPr>
          <p:cNvSpPr/>
          <p:nvPr/>
        </p:nvSpPr>
        <p:spPr>
          <a:xfrm>
            <a:off x="9438186" y="2501925"/>
            <a:ext cx="478812" cy="1760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AB7CC28-5E8B-DC4A-6C8F-1509A4B947EE}"/>
                  </a:ext>
                </a:extLst>
              </p:cNvPr>
              <p:cNvSpPr txBox="1"/>
              <p:nvPr/>
            </p:nvSpPr>
            <p:spPr>
              <a:xfrm>
                <a:off x="3465269" y="153657"/>
                <a:ext cx="6451729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Expected Payoff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∑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𝑃𝑟𝑜𝑏𝑎𝑏𝑖𝑙𝑖𝑡𝑦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𝐴𝑣𝑒𝑟𝑎𝑔𝑒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𝑀𝑎𝑟𝑘𝑠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𝑅𝑎𝑛𝑔𝑒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AB7CC28-5E8B-DC4A-6C8F-1509A4B94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269" y="153657"/>
                <a:ext cx="6451729" cy="369332"/>
              </a:xfrm>
              <a:prstGeom prst="rect">
                <a:avLst/>
              </a:prstGeom>
              <a:blipFill>
                <a:blip r:embed="rId9"/>
                <a:stretch>
                  <a:fillRect l="-755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B957C21-A9CD-4FBA-83F6-7754951DB7FC}"/>
                  </a:ext>
                </a:extLst>
              </p:cNvPr>
              <p:cNvSpPr txBox="1"/>
              <p:nvPr/>
            </p:nvSpPr>
            <p:spPr>
              <a:xfrm>
                <a:off x="87000" y="5291122"/>
                <a:ext cx="1834569" cy="147732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Each range of </a:t>
                </a:r>
                <a:r>
                  <a:rPr lang="en-IN" dirty="0">
                    <a:solidFill>
                      <a:srgbClr val="7030A0"/>
                    </a:solidFill>
                  </a:rPr>
                  <a:t>05</a:t>
                </a:r>
                <a:r>
                  <a:rPr lang="en-IN" dirty="0"/>
                  <a:t> marks (finer)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≅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One Discrete Outcome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B957C21-A9CD-4FBA-83F6-7754951DB7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00" y="5291122"/>
                <a:ext cx="1834569" cy="1477328"/>
              </a:xfrm>
              <a:prstGeom prst="rect">
                <a:avLst/>
              </a:prstGeom>
              <a:blipFill>
                <a:blip r:embed="rId10"/>
                <a:stretch>
                  <a:fillRect l="-2658" t="-2066" r="-1329" b="-619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9172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BAFC8F-3582-747A-9D70-1EB668398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B2AEE89-04E9-7F14-96CB-11097DD22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BB0B1835-47C4-D2AD-6711-921C9C6C3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82807CD-8DF4-3C7B-E632-9ED7B4DADCDE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60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5B6F87D8-467F-A32E-5975-602293CA434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FAD8AA5-F99C-3C51-0980-3C528D901D78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EXAMPLE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102B9BE-B4B9-7ECC-EADB-3BB3CA62C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DECISION PROBLEM</a:t>
            </a:r>
            <a:br>
              <a:rPr lang="en-US" sz="5400" dirty="0"/>
            </a:br>
            <a:r>
              <a:rPr lang="en-US" sz="5400" dirty="0"/>
              <a:t>Exam Prep &amp; Grades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4E5E2E-B635-B0AA-A52D-28B28FFA7545}"/>
              </a:ext>
            </a:extLst>
          </p:cNvPr>
          <p:cNvSpPr txBox="1"/>
          <p:nvPr/>
        </p:nvSpPr>
        <p:spPr>
          <a:xfrm>
            <a:off x="1553719" y="1372428"/>
            <a:ext cx="20887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Chapters: 1, 2,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E2430F-BB4D-B016-A830-79BD5D66780B}"/>
              </a:ext>
            </a:extLst>
          </p:cNvPr>
          <p:cNvSpPr txBox="1"/>
          <p:nvPr/>
        </p:nvSpPr>
        <p:spPr>
          <a:xfrm>
            <a:off x="555699" y="2729801"/>
            <a:ext cx="1175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2.2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8A9352-15DF-AA59-5ABD-D2B71A761883}"/>
              </a:ext>
            </a:extLst>
          </p:cNvPr>
          <p:cNvSpPr txBox="1"/>
          <p:nvPr/>
        </p:nvSpPr>
        <p:spPr>
          <a:xfrm>
            <a:off x="1628266" y="2729802"/>
            <a:ext cx="4355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Each action leads to multiple outcomes.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35A358-65C8-8955-8C95-908D05E86327}"/>
              </a:ext>
            </a:extLst>
          </p:cNvPr>
          <p:cNvSpPr txBox="1"/>
          <p:nvPr/>
        </p:nvSpPr>
        <p:spPr>
          <a:xfrm>
            <a:off x="6823641" y="2729801"/>
            <a:ext cx="3581185" cy="369332"/>
          </a:xfrm>
          <a:custGeom>
            <a:avLst/>
            <a:gdLst>
              <a:gd name="csX0" fmla="*/ 0 w 3581185"/>
              <a:gd name="csY0" fmla="*/ 0 h 369332"/>
              <a:gd name="csX1" fmla="*/ 668488 w 3581185"/>
              <a:gd name="csY1" fmla="*/ 0 h 369332"/>
              <a:gd name="csX2" fmla="*/ 1301164 w 3581185"/>
              <a:gd name="csY2" fmla="*/ 0 h 369332"/>
              <a:gd name="csX3" fmla="*/ 1933840 w 3581185"/>
              <a:gd name="csY3" fmla="*/ 0 h 369332"/>
              <a:gd name="csX4" fmla="*/ 2423269 w 3581185"/>
              <a:gd name="csY4" fmla="*/ 0 h 369332"/>
              <a:gd name="csX5" fmla="*/ 2948509 w 3581185"/>
              <a:gd name="csY5" fmla="*/ 0 h 369332"/>
              <a:gd name="csX6" fmla="*/ 3581185 w 3581185"/>
              <a:gd name="csY6" fmla="*/ 0 h 369332"/>
              <a:gd name="csX7" fmla="*/ 3581185 w 3581185"/>
              <a:gd name="csY7" fmla="*/ 369332 h 369332"/>
              <a:gd name="csX8" fmla="*/ 2984321 w 3581185"/>
              <a:gd name="csY8" fmla="*/ 369332 h 369332"/>
              <a:gd name="csX9" fmla="*/ 2494892 w 3581185"/>
              <a:gd name="csY9" fmla="*/ 369332 h 369332"/>
              <a:gd name="csX10" fmla="*/ 2005464 w 3581185"/>
              <a:gd name="csY10" fmla="*/ 369332 h 369332"/>
              <a:gd name="csX11" fmla="*/ 1372788 w 3581185"/>
              <a:gd name="csY11" fmla="*/ 369332 h 369332"/>
              <a:gd name="csX12" fmla="*/ 847547 w 3581185"/>
              <a:gd name="csY12" fmla="*/ 369332 h 369332"/>
              <a:gd name="csX13" fmla="*/ 0 w 3581185"/>
              <a:gd name="csY13" fmla="*/ 369332 h 369332"/>
              <a:gd name="csX14" fmla="*/ 0 w 3581185"/>
              <a:gd name="csY1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581185" h="369332" fill="none" extrusionOk="0">
                <a:moveTo>
                  <a:pt x="0" y="0"/>
                </a:moveTo>
                <a:cubicBezTo>
                  <a:pt x="226137" y="-54471"/>
                  <a:pt x="357444" y="34301"/>
                  <a:pt x="668488" y="0"/>
                </a:cubicBezTo>
                <a:cubicBezTo>
                  <a:pt x="979532" y="-34301"/>
                  <a:pt x="1132443" y="47940"/>
                  <a:pt x="1301164" y="0"/>
                </a:cubicBezTo>
                <a:cubicBezTo>
                  <a:pt x="1469885" y="-47940"/>
                  <a:pt x="1771418" y="48375"/>
                  <a:pt x="1933840" y="0"/>
                </a:cubicBezTo>
                <a:cubicBezTo>
                  <a:pt x="2096262" y="-48375"/>
                  <a:pt x="2262334" y="13931"/>
                  <a:pt x="2423269" y="0"/>
                </a:cubicBezTo>
                <a:cubicBezTo>
                  <a:pt x="2584204" y="-13931"/>
                  <a:pt x="2766475" y="52781"/>
                  <a:pt x="2948509" y="0"/>
                </a:cubicBezTo>
                <a:cubicBezTo>
                  <a:pt x="3130543" y="-52781"/>
                  <a:pt x="3382216" y="29870"/>
                  <a:pt x="3581185" y="0"/>
                </a:cubicBezTo>
                <a:cubicBezTo>
                  <a:pt x="3600716" y="147089"/>
                  <a:pt x="3539967" y="212636"/>
                  <a:pt x="3581185" y="369332"/>
                </a:cubicBezTo>
                <a:cubicBezTo>
                  <a:pt x="3301882" y="399918"/>
                  <a:pt x="3184752" y="364752"/>
                  <a:pt x="2984321" y="369332"/>
                </a:cubicBezTo>
                <a:cubicBezTo>
                  <a:pt x="2783890" y="373912"/>
                  <a:pt x="2683600" y="363332"/>
                  <a:pt x="2494892" y="369332"/>
                </a:cubicBezTo>
                <a:cubicBezTo>
                  <a:pt x="2306184" y="375332"/>
                  <a:pt x="2244975" y="362490"/>
                  <a:pt x="2005464" y="369332"/>
                </a:cubicBezTo>
                <a:cubicBezTo>
                  <a:pt x="1765953" y="376174"/>
                  <a:pt x="1635487" y="348036"/>
                  <a:pt x="1372788" y="369332"/>
                </a:cubicBezTo>
                <a:cubicBezTo>
                  <a:pt x="1110089" y="390628"/>
                  <a:pt x="1052810" y="313771"/>
                  <a:pt x="847547" y="369332"/>
                </a:cubicBezTo>
                <a:cubicBezTo>
                  <a:pt x="642284" y="424893"/>
                  <a:pt x="289961" y="304208"/>
                  <a:pt x="0" y="369332"/>
                </a:cubicBezTo>
                <a:cubicBezTo>
                  <a:pt x="-34692" y="235166"/>
                  <a:pt x="26681" y="80336"/>
                  <a:pt x="0" y="0"/>
                </a:cubicBezTo>
                <a:close/>
              </a:path>
              <a:path w="3581185" h="369332" stroke="0" extrusionOk="0">
                <a:moveTo>
                  <a:pt x="0" y="0"/>
                </a:moveTo>
                <a:cubicBezTo>
                  <a:pt x="129900" y="-19001"/>
                  <a:pt x="430746" y="13814"/>
                  <a:pt x="561052" y="0"/>
                </a:cubicBezTo>
                <a:cubicBezTo>
                  <a:pt x="691358" y="-13814"/>
                  <a:pt x="928679" y="31419"/>
                  <a:pt x="1050481" y="0"/>
                </a:cubicBezTo>
                <a:cubicBezTo>
                  <a:pt x="1172283" y="-31419"/>
                  <a:pt x="1522368" y="30743"/>
                  <a:pt x="1718969" y="0"/>
                </a:cubicBezTo>
                <a:cubicBezTo>
                  <a:pt x="1915570" y="-30743"/>
                  <a:pt x="2110215" y="52267"/>
                  <a:pt x="2280021" y="0"/>
                </a:cubicBezTo>
                <a:cubicBezTo>
                  <a:pt x="2449827" y="-52267"/>
                  <a:pt x="2592938" y="54208"/>
                  <a:pt x="2841073" y="0"/>
                </a:cubicBezTo>
                <a:cubicBezTo>
                  <a:pt x="3089208" y="-54208"/>
                  <a:pt x="3293296" y="86582"/>
                  <a:pt x="3581185" y="0"/>
                </a:cubicBezTo>
                <a:cubicBezTo>
                  <a:pt x="3602864" y="103222"/>
                  <a:pt x="3548024" y="284950"/>
                  <a:pt x="3581185" y="369332"/>
                </a:cubicBezTo>
                <a:cubicBezTo>
                  <a:pt x="3362327" y="407541"/>
                  <a:pt x="3104279" y="303833"/>
                  <a:pt x="2984321" y="369332"/>
                </a:cubicBezTo>
                <a:cubicBezTo>
                  <a:pt x="2864363" y="434831"/>
                  <a:pt x="2656737" y="359045"/>
                  <a:pt x="2494892" y="369332"/>
                </a:cubicBezTo>
                <a:cubicBezTo>
                  <a:pt x="2333047" y="379619"/>
                  <a:pt x="2114110" y="312210"/>
                  <a:pt x="1898028" y="369332"/>
                </a:cubicBezTo>
                <a:cubicBezTo>
                  <a:pt x="1681946" y="426454"/>
                  <a:pt x="1421091" y="347263"/>
                  <a:pt x="1301164" y="369332"/>
                </a:cubicBezTo>
                <a:cubicBezTo>
                  <a:pt x="1181237" y="391401"/>
                  <a:pt x="992038" y="324318"/>
                  <a:pt x="740112" y="369332"/>
                </a:cubicBezTo>
                <a:cubicBezTo>
                  <a:pt x="488186" y="414346"/>
                  <a:pt x="346109" y="353151"/>
                  <a:pt x="0" y="369332"/>
                </a:cubicBezTo>
                <a:cubicBezTo>
                  <a:pt x="-8026" y="274434"/>
                  <a:pt x="20480" y="124469"/>
                  <a:pt x="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Outcomes are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random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variables.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67C60FDE-2F6F-37D1-45FB-6EE52FCFEA52}"/>
              </a:ext>
            </a:extLst>
          </p:cNvPr>
          <p:cNvSpPr/>
          <p:nvPr/>
        </p:nvSpPr>
        <p:spPr>
          <a:xfrm>
            <a:off x="5986899" y="2824700"/>
            <a:ext cx="627530" cy="179535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0F4ACD-6FCA-F37F-D768-57273D4D7723}"/>
              </a:ext>
            </a:extLst>
          </p:cNvPr>
          <p:cNvSpPr txBox="1"/>
          <p:nvPr/>
        </p:nvSpPr>
        <p:spPr>
          <a:xfrm>
            <a:off x="7353409" y="1132680"/>
            <a:ext cx="4169555" cy="338554"/>
          </a:xfrm>
          <a:custGeom>
            <a:avLst/>
            <a:gdLst>
              <a:gd name="csX0" fmla="*/ 0 w 4169555"/>
              <a:gd name="csY0" fmla="*/ 0 h 338554"/>
              <a:gd name="csX1" fmla="*/ 553955 w 4169555"/>
              <a:gd name="csY1" fmla="*/ 0 h 338554"/>
              <a:gd name="csX2" fmla="*/ 1024519 w 4169555"/>
              <a:gd name="csY2" fmla="*/ 0 h 338554"/>
              <a:gd name="csX3" fmla="*/ 1536779 w 4169555"/>
              <a:gd name="csY3" fmla="*/ 0 h 338554"/>
              <a:gd name="csX4" fmla="*/ 2174125 w 4169555"/>
              <a:gd name="csY4" fmla="*/ 0 h 338554"/>
              <a:gd name="csX5" fmla="*/ 2728080 w 4169555"/>
              <a:gd name="csY5" fmla="*/ 0 h 338554"/>
              <a:gd name="csX6" fmla="*/ 3240340 w 4169555"/>
              <a:gd name="csY6" fmla="*/ 0 h 338554"/>
              <a:gd name="csX7" fmla="*/ 4169555 w 4169555"/>
              <a:gd name="csY7" fmla="*/ 0 h 338554"/>
              <a:gd name="csX8" fmla="*/ 4169555 w 4169555"/>
              <a:gd name="csY8" fmla="*/ 338554 h 338554"/>
              <a:gd name="csX9" fmla="*/ 3573904 w 4169555"/>
              <a:gd name="csY9" fmla="*/ 338554 h 338554"/>
              <a:gd name="csX10" fmla="*/ 3061645 w 4169555"/>
              <a:gd name="csY10" fmla="*/ 338554 h 338554"/>
              <a:gd name="csX11" fmla="*/ 2382603 w 4169555"/>
              <a:gd name="csY11" fmla="*/ 338554 h 338554"/>
              <a:gd name="csX12" fmla="*/ 1828648 w 4169555"/>
              <a:gd name="csY12" fmla="*/ 338554 h 338554"/>
              <a:gd name="csX13" fmla="*/ 1358084 w 4169555"/>
              <a:gd name="csY13" fmla="*/ 338554 h 338554"/>
              <a:gd name="csX14" fmla="*/ 720737 w 4169555"/>
              <a:gd name="csY14" fmla="*/ 338554 h 338554"/>
              <a:gd name="csX15" fmla="*/ 0 w 4169555"/>
              <a:gd name="csY15" fmla="*/ 338554 h 338554"/>
              <a:gd name="csX16" fmla="*/ 0 w 4169555"/>
              <a:gd name="csY16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169555" h="338554" fill="none" extrusionOk="0">
                <a:moveTo>
                  <a:pt x="0" y="0"/>
                </a:moveTo>
                <a:cubicBezTo>
                  <a:pt x="184610" y="-15352"/>
                  <a:pt x="306860" y="60898"/>
                  <a:pt x="553955" y="0"/>
                </a:cubicBezTo>
                <a:cubicBezTo>
                  <a:pt x="801050" y="-60898"/>
                  <a:pt x="861241" y="3755"/>
                  <a:pt x="1024519" y="0"/>
                </a:cubicBezTo>
                <a:cubicBezTo>
                  <a:pt x="1187797" y="-3755"/>
                  <a:pt x="1401197" y="59508"/>
                  <a:pt x="1536779" y="0"/>
                </a:cubicBezTo>
                <a:cubicBezTo>
                  <a:pt x="1672361" y="-59508"/>
                  <a:pt x="1971294" y="11931"/>
                  <a:pt x="2174125" y="0"/>
                </a:cubicBezTo>
                <a:cubicBezTo>
                  <a:pt x="2376956" y="-11931"/>
                  <a:pt x="2557745" y="22242"/>
                  <a:pt x="2728080" y="0"/>
                </a:cubicBezTo>
                <a:cubicBezTo>
                  <a:pt x="2898416" y="-22242"/>
                  <a:pt x="3043738" y="46711"/>
                  <a:pt x="3240340" y="0"/>
                </a:cubicBezTo>
                <a:cubicBezTo>
                  <a:pt x="3436942" y="-46711"/>
                  <a:pt x="3865190" y="7744"/>
                  <a:pt x="4169555" y="0"/>
                </a:cubicBezTo>
                <a:cubicBezTo>
                  <a:pt x="4206395" y="96079"/>
                  <a:pt x="4154943" y="248329"/>
                  <a:pt x="4169555" y="338554"/>
                </a:cubicBezTo>
                <a:cubicBezTo>
                  <a:pt x="3980034" y="406521"/>
                  <a:pt x="3696700" y="289803"/>
                  <a:pt x="3573904" y="338554"/>
                </a:cubicBezTo>
                <a:cubicBezTo>
                  <a:pt x="3451108" y="387305"/>
                  <a:pt x="3197139" y="284421"/>
                  <a:pt x="3061645" y="338554"/>
                </a:cubicBezTo>
                <a:cubicBezTo>
                  <a:pt x="2926151" y="392687"/>
                  <a:pt x="2585699" y="273170"/>
                  <a:pt x="2382603" y="338554"/>
                </a:cubicBezTo>
                <a:cubicBezTo>
                  <a:pt x="2179507" y="403938"/>
                  <a:pt x="1953581" y="303012"/>
                  <a:pt x="1828648" y="338554"/>
                </a:cubicBezTo>
                <a:cubicBezTo>
                  <a:pt x="1703715" y="374096"/>
                  <a:pt x="1518427" y="288139"/>
                  <a:pt x="1358084" y="338554"/>
                </a:cubicBezTo>
                <a:cubicBezTo>
                  <a:pt x="1197741" y="388969"/>
                  <a:pt x="955095" y="304869"/>
                  <a:pt x="720737" y="338554"/>
                </a:cubicBezTo>
                <a:cubicBezTo>
                  <a:pt x="486379" y="372239"/>
                  <a:pt x="309096" y="300612"/>
                  <a:pt x="0" y="338554"/>
                </a:cubicBezTo>
                <a:cubicBezTo>
                  <a:pt x="-38409" y="218503"/>
                  <a:pt x="36533" y="148226"/>
                  <a:pt x="0" y="0"/>
                </a:cubicBezTo>
                <a:close/>
              </a:path>
              <a:path w="4169555" h="338554" stroke="0" extrusionOk="0">
                <a:moveTo>
                  <a:pt x="0" y="0"/>
                </a:moveTo>
                <a:cubicBezTo>
                  <a:pt x="123686" y="-57714"/>
                  <a:pt x="289115" y="45504"/>
                  <a:pt x="553955" y="0"/>
                </a:cubicBezTo>
                <a:cubicBezTo>
                  <a:pt x="818796" y="-45504"/>
                  <a:pt x="900835" y="12365"/>
                  <a:pt x="1024519" y="0"/>
                </a:cubicBezTo>
                <a:cubicBezTo>
                  <a:pt x="1148203" y="-12365"/>
                  <a:pt x="1375450" y="49199"/>
                  <a:pt x="1703561" y="0"/>
                </a:cubicBezTo>
                <a:cubicBezTo>
                  <a:pt x="2031672" y="-49199"/>
                  <a:pt x="2135915" y="53877"/>
                  <a:pt x="2257516" y="0"/>
                </a:cubicBezTo>
                <a:cubicBezTo>
                  <a:pt x="2379118" y="-53877"/>
                  <a:pt x="2689826" y="7640"/>
                  <a:pt x="2811471" y="0"/>
                </a:cubicBezTo>
                <a:cubicBezTo>
                  <a:pt x="2933116" y="-7640"/>
                  <a:pt x="3237653" y="42159"/>
                  <a:pt x="3490513" y="0"/>
                </a:cubicBezTo>
                <a:cubicBezTo>
                  <a:pt x="3743373" y="-42159"/>
                  <a:pt x="3902601" y="4213"/>
                  <a:pt x="4169555" y="0"/>
                </a:cubicBezTo>
                <a:cubicBezTo>
                  <a:pt x="4186433" y="108997"/>
                  <a:pt x="4150059" y="194594"/>
                  <a:pt x="4169555" y="338554"/>
                </a:cubicBezTo>
                <a:cubicBezTo>
                  <a:pt x="4046605" y="342848"/>
                  <a:pt x="3791268" y="329382"/>
                  <a:pt x="3657295" y="338554"/>
                </a:cubicBezTo>
                <a:cubicBezTo>
                  <a:pt x="3523322" y="347726"/>
                  <a:pt x="3280593" y="338438"/>
                  <a:pt x="3061645" y="338554"/>
                </a:cubicBezTo>
                <a:cubicBezTo>
                  <a:pt x="2842697" y="338670"/>
                  <a:pt x="2690996" y="317297"/>
                  <a:pt x="2465994" y="338554"/>
                </a:cubicBezTo>
                <a:cubicBezTo>
                  <a:pt x="2240992" y="359811"/>
                  <a:pt x="2137041" y="296476"/>
                  <a:pt x="1912039" y="338554"/>
                </a:cubicBezTo>
                <a:cubicBezTo>
                  <a:pt x="1687037" y="380632"/>
                  <a:pt x="1569178" y="336593"/>
                  <a:pt x="1232997" y="338554"/>
                </a:cubicBezTo>
                <a:cubicBezTo>
                  <a:pt x="896816" y="340515"/>
                  <a:pt x="824031" y="320493"/>
                  <a:pt x="553955" y="338554"/>
                </a:cubicBezTo>
                <a:cubicBezTo>
                  <a:pt x="283879" y="356615"/>
                  <a:pt x="113030" y="293227"/>
                  <a:pt x="0" y="338554"/>
                </a:cubicBezTo>
                <a:cubicBezTo>
                  <a:pt x="-8967" y="239005"/>
                  <a:pt x="5325" y="122363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Goal: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 Assign a payoff to each action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182E95-A5DC-479D-FC21-5F96AEB37BAC}"/>
              </a:ext>
            </a:extLst>
          </p:cNvPr>
          <p:cNvSpPr txBox="1"/>
          <p:nvPr/>
        </p:nvSpPr>
        <p:spPr>
          <a:xfrm>
            <a:off x="7628134" y="2413897"/>
            <a:ext cx="1704125" cy="369332"/>
          </a:xfrm>
          <a:custGeom>
            <a:avLst/>
            <a:gdLst>
              <a:gd name="csX0" fmla="*/ 0 w 1704125"/>
              <a:gd name="csY0" fmla="*/ 0 h 369332"/>
              <a:gd name="csX1" fmla="*/ 602124 w 1704125"/>
              <a:gd name="csY1" fmla="*/ 0 h 369332"/>
              <a:gd name="csX2" fmla="*/ 1187207 w 1704125"/>
              <a:gd name="csY2" fmla="*/ 0 h 369332"/>
              <a:gd name="csX3" fmla="*/ 1704125 w 1704125"/>
              <a:gd name="csY3" fmla="*/ 0 h 369332"/>
              <a:gd name="csX4" fmla="*/ 1704125 w 1704125"/>
              <a:gd name="csY4" fmla="*/ 369332 h 369332"/>
              <a:gd name="csX5" fmla="*/ 1170166 w 1704125"/>
              <a:gd name="csY5" fmla="*/ 369332 h 369332"/>
              <a:gd name="csX6" fmla="*/ 602124 w 1704125"/>
              <a:gd name="csY6" fmla="*/ 369332 h 369332"/>
              <a:gd name="csX7" fmla="*/ 0 w 1704125"/>
              <a:gd name="csY7" fmla="*/ 369332 h 369332"/>
              <a:gd name="csX8" fmla="*/ 0 w 1704125"/>
              <a:gd name="csY8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04125" h="369332" fill="none" extrusionOk="0">
                <a:moveTo>
                  <a:pt x="0" y="0"/>
                </a:moveTo>
                <a:cubicBezTo>
                  <a:pt x="174300" y="-17330"/>
                  <a:pt x="384546" y="56378"/>
                  <a:pt x="602124" y="0"/>
                </a:cubicBezTo>
                <a:cubicBezTo>
                  <a:pt x="819702" y="-56378"/>
                  <a:pt x="923131" y="10555"/>
                  <a:pt x="1187207" y="0"/>
                </a:cubicBezTo>
                <a:cubicBezTo>
                  <a:pt x="1451283" y="-10555"/>
                  <a:pt x="1501114" y="21811"/>
                  <a:pt x="1704125" y="0"/>
                </a:cubicBezTo>
                <a:cubicBezTo>
                  <a:pt x="1708163" y="158233"/>
                  <a:pt x="1667831" y="205698"/>
                  <a:pt x="1704125" y="369332"/>
                </a:cubicBezTo>
                <a:cubicBezTo>
                  <a:pt x="1495424" y="374260"/>
                  <a:pt x="1370756" y="318448"/>
                  <a:pt x="1170166" y="369332"/>
                </a:cubicBezTo>
                <a:cubicBezTo>
                  <a:pt x="969576" y="420216"/>
                  <a:pt x="828658" y="357913"/>
                  <a:pt x="602124" y="369332"/>
                </a:cubicBezTo>
                <a:cubicBezTo>
                  <a:pt x="375590" y="380751"/>
                  <a:pt x="261900" y="325398"/>
                  <a:pt x="0" y="369332"/>
                </a:cubicBezTo>
                <a:cubicBezTo>
                  <a:pt x="-34018" y="280347"/>
                  <a:pt x="27486" y="156341"/>
                  <a:pt x="0" y="0"/>
                </a:cubicBezTo>
                <a:close/>
              </a:path>
              <a:path w="1704125" h="369332" stroke="0" extrusionOk="0">
                <a:moveTo>
                  <a:pt x="0" y="0"/>
                </a:moveTo>
                <a:cubicBezTo>
                  <a:pt x="166897" y="-36853"/>
                  <a:pt x="324722" y="55547"/>
                  <a:pt x="551000" y="0"/>
                </a:cubicBezTo>
                <a:cubicBezTo>
                  <a:pt x="777278" y="-55547"/>
                  <a:pt x="896106" y="14083"/>
                  <a:pt x="1067918" y="0"/>
                </a:cubicBezTo>
                <a:cubicBezTo>
                  <a:pt x="1239730" y="-14083"/>
                  <a:pt x="1570223" y="58076"/>
                  <a:pt x="1704125" y="0"/>
                </a:cubicBezTo>
                <a:cubicBezTo>
                  <a:pt x="1739713" y="113493"/>
                  <a:pt x="1677318" y="197069"/>
                  <a:pt x="1704125" y="369332"/>
                </a:cubicBezTo>
                <a:cubicBezTo>
                  <a:pt x="1468518" y="416778"/>
                  <a:pt x="1330447" y="355318"/>
                  <a:pt x="1170166" y="369332"/>
                </a:cubicBezTo>
                <a:cubicBezTo>
                  <a:pt x="1009885" y="383346"/>
                  <a:pt x="848824" y="326147"/>
                  <a:pt x="568042" y="369332"/>
                </a:cubicBezTo>
                <a:cubicBezTo>
                  <a:pt x="287260" y="412517"/>
                  <a:pt x="155955" y="302535"/>
                  <a:pt x="0" y="369332"/>
                </a:cubicBezTo>
                <a:cubicBezTo>
                  <a:pt x="-22716" y="225711"/>
                  <a:pt x="27200" y="158340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CONTINUOUS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" name="Table 28">
                <a:extLst>
                  <a:ext uri="{FF2B5EF4-FFF2-40B4-BE49-F238E27FC236}">
                    <a16:creationId xmlns:a16="http://schemas.microsoft.com/office/drawing/2014/main" id="{FB3F0120-D1E6-FEE0-2E3E-C213E9DE098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65703" y="3101730"/>
              <a:ext cx="4064000" cy="3688080"/>
            </p:xfrm>
            <a:graphic>
              <a:graphicData uri="http://schemas.openxmlformats.org/drawingml/2006/table">
                <a:tbl>
                  <a:tblPr firstRow="1" bandRow="1">
                    <a:tableStyleId>{68D230F3-CF80-4859-8CE7-A43EE81993B5}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749442872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455095600"/>
                        </a:ext>
                      </a:extLst>
                    </a:gridCol>
                  </a:tblGrid>
                  <a:tr h="18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/>
                            <a:t>Outcome </a:t>
                          </a:r>
                          <a:r>
                            <a:rPr lang="en-IN" sz="1600" b="0" dirty="0"/>
                            <a:t>(Marks)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/>
                            <a:t>Probability</a:t>
                          </a:r>
                          <a:endParaRPr lang="en-IN" sz="16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7148133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i="0" smtClean="0">
                                    <a:latin typeface="Cambria Math" panose="02040503050406030204" pitchFamily="18" charset="0"/>
                                  </a:rPr>
                                  <m:t>0−5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31819494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i="0" smtClean="0">
                                    <a:latin typeface="Cambria Math" panose="02040503050406030204" pitchFamily="18" charset="0"/>
                                  </a:rPr>
                                  <m:t>5−10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i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3697543"/>
                      </a:ext>
                    </a:extLst>
                  </a:tr>
                  <a:tr h="21816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i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i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9738058"/>
                      </a:ext>
                    </a:extLst>
                  </a:tr>
                  <a:tr h="16240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𝟔𝟎</m:t>
                                </m:r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𝟔𝟓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𝟎𝟗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4672270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𝟔𝟓</m:t>
                                </m:r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𝟕𝟎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𝟏𝟏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5290674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𝟕𝟎</m:t>
                                </m:r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𝟕𝟓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𝟐𝟐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3122576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𝟕𝟓</m:t>
                                </m:r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𝟖𝟎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𝟐𝟖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2523715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𝟖𝟎</m:t>
                                </m:r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600" b="1" i="0" smtClean="0">
                                    <a:latin typeface="Cambria Math" panose="02040503050406030204" pitchFamily="18" charset="0"/>
                                  </a:rPr>
                                  <m:t>𝟖𝟓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𝟏𝟕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9993395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𝟖𝟓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𝟗𝟎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IN" sz="1600" b="1" i="1" smtClean="0">
                                    <a:latin typeface="Cambria Math" panose="02040503050406030204" pitchFamily="18" charset="0"/>
                                  </a:rPr>
                                  <m:t>𝟏𝟑</m:t>
                                </m:r>
                              </m:oMath>
                            </m:oMathPara>
                          </a14:m>
                          <a:endParaRPr lang="en-IN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86616839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i="0" smtClean="0">
                                    <a:latin typeface="Cambria Math" panose="02040503050406030204" pitchFamily="18" charset="0"/>
                                  </a:rPr>
                                  <m:t>90−100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27705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" name="Table 28">
                <a:extLst>
                  <a:ext uri="{FF2B5EF4-FFF2-40B4-BE49-F238E27FC236}">
                    <a16:creationId xmlns:a16="http://schemas.microsoft.com/office/drawing/2014/main" id="{FB3F0120-D1E6-FEE0-2E3E-C213E9DE09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2876041"/>
                  </p:ext>
                </p:extLst>
              </p:nvPr>
            </p:nvGraphicFramePr>
            <p:xfrm>
              <a:off x="2065703" y="3101730"/>
              <a:ext cx="4064000" cy="3688080"/>
            </p:xfrm>
            <a:graphic>
              <a:graphicData uri="http://schemas.openxmlformats.org/drawingml/2006/table">
                <a:tbl>
                  <a:tblPr firstRow="1" bandRow="1">
                    <a:tableStyleId>{68D230F3-CF80-4859-8CE7-A43EE81993B5}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749442872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455095600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/>
                            <a:t>Outcome </a:t>
                          </a:r>
                          <a:r>
                            <a:rPr lang="en-IN" sz="1600" b="0" dirty="0"/>
                            <a:t>(Marks)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dirty="0"/>
                            <a:t>Probability</a:t>
                          </a:r>
                          <a:endParaRPr lang="en-IN" sz="16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714813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103636" r="-100299" b="-9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03636" r="-299" b="-9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1819494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203636" r="-100299" b="-8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203636" r="-299" b="-8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369754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303636" r="-100299" b="-7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303636" r="-299" b="-7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73805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403636" r="-100299" b="-6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403636" r="-299" b="-6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467227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494643" r="-100299" b="-49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494643" r="-299" b="-49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5290674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605455" r="-100299" b="-40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605455" r="-299" b="-40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3122576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705455" r="-100299" b="-30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705455" r="-299" b="-30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252371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805455" r="-100299" b="-20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805455" r="-299" b="-20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999339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905455" r="-100299" b="-10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905455" r="-299" b="-10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661683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1005455" r="-100299" b="-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005455" r="-299" b="-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277051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849DC2-64DD-70C8-4A29-7AA032D9217B}"/>
                  </a:ext>
                </a:extLst>
              </p:cNvPr>
              <p:cNvSpPr txBox="1"/>
              <p:nvPr/>
            </p:nvSpPr>
            <p:spPr>
              <a:xfrm>
                <a:off x="286948" y="4896364"/>
                <a:ext cx="6099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=2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849DC2-64DD-70C8-4A29-7AA032D92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48" y="4896364"/>
                <a:ext cx="609975" cy="276999"/>
              </a:xfrm>
              <a:prstGeom prst="rect">
                <a:avLst/>
              </a:prstGeom>
              <a:blipFill>
                <a:blip r:embed="rId5"/>
                <a:stretch>
                  <a:fillRect l="-6000" r="-10000" b="-6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Arrow: Right 31">
            <a:extLst>
              <a:ext uri="{FF2B5EF4-FFF2-40B4-BE49-F238E27FC236}">
                <a16:creationId xmlns:a16="http://schemas.microsoft.com/office/drawing/2014/main" id="{B7D4A59C-B981-3288-7FAD-0E0B98A61402}"/>
              </a:ext>
            </a:extLst>
          </p:cNvPr>
          <p:cNvSpPr/>
          <p:nvPr/>
        </p:nvSpPr>
        <p:spPr>
          <a:xfrm>
            <a:off x="1217170" y="4945095"/>
            <a:ext cx="627530" cy="179535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3E3143-B60B-3C72-D1F5-59AC52BBC3D4}"/>
              </a:ext>
            </a:extLst>
          </p:cNvPr>
          <p:cNvSpPr txBox="1"/>
          <p:nvPr/>
        </p:nvSpPr>
        <p:spPr>
          <a:xfrm rot="20730271">
            <a:off x="2558041" y="4307406"/>
            <a:ext cx="3079324" cy="1477328"/>
          </a:xfrm>
          <a:custGeom>
            <a:avLst/>
            <a:gdLst>
              <a:gd name="csX0" fmla="*/ 0 w 3079324"/>
              <a:gd name="csY0" fmla="*/ 0 h 1477328"/>
              <a:gd name="csX1" fmla="*/ 451634 w 3079324"/>
              <a:gd name="csY1" fmla="*/ 0 h 1477328"/>
              <a:gd name="csX2" fmla="*/ 995648 w 3079324"/>
              <a:gd name="csY2" fmla="*/ 0 h 1477328"/>
              <a:gd name="csX3" fmla="*/ 1478076 w 3079324"/>
              <a:gd name="csY3" fmla="*/ 0 h 1477328"/>
              <a:gd name="csX4" fmla="*/ 1929710 w 3079324"/>
              <a:gd name="csY4" fmla="*/ 0 h 1477328"/>
              <a:gd name="csX5" fmla="*/ 2473724 w 3079324"/>
              <a:gd name="csY5" fmla="*/ 0 h 1477328"/>
              <a:gd name="csX6" fmla="*/ 3079324 w 3079324"/>
              <a:gd name="csY6" fmla="*/ 0 h 1477328"/>
              <a:gd name="csX7" fmla="*/ 3079324 w 3079324"/>
              <a:gd name="csY7" fmla="*/ 492443 h 1477328"/>
              <a:gd name="csX8" fmla="*/ 3079324 w 3079324"/>
              <a:gd name="csY8" fmla="*/ 955339 h 1477328"/>
              <a:gd name="csX9" fmla="*/ 3079324 w 3079324"/>
              <a:gd name="csY9" fmla="*/ 1477328 h 1477328"/>
              <a:gd name="csX10" fmla="*/ 2627690 w 3079324"/>
              <a:gd name="csY10" fmla="*/ 1477328 h 1477328"/>
              <a:gd name="csX11" fmla="*/ 2206849 w 3079324"/>
              <a:gd name="csY11" fmla="*/ 1477328 h 1477328"/>
              <a:gd name="csX12" fmla="*/ 1662835 w 3079324"/>
              <a:gd name="csY12" fmla="*/ 1477328 h 1477328"/>
              <a:gd name="csX13" fmla="*/ 1211201 w 3079324"/>
              <a:gd name="csY13" fmla="*/ 1477328 h 1477328"/>
              <a:gd name="csX14" fmla="*/ 667187 w 3079324"/>
              <a:gd name="csY14" fmla="*/ 1477328 h 1477328"/>
              <a:gd name="csX15" fmla="*/ 0 w 3079324"/>
              <a:gd name="csY15" fmla="*/ 1477328 h 1477328"/>
              <a:gd name="csX16" fmla="*/ 0 w 3079324"/>
              <a:gd name="csY16" fmla="*/ 999659 h 1477328"/>
              <a:gd name="csX17" fmla="*/ 0 w 3079324"/>
              <a:gd name="csY17" fmla="*/ 492443 h 1477328"/>
              <a:gd name="csX18" fmla="*/ 0 w 3079324"/>
              <a:gd name="csY18" fmla="*/ 0 h 14773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079324" h="1477328" fill="none" extrusionOk="0">
                <a:moveTo>
                  <a:pt x="0" y="0"/>
                </a:moveTo>
                <a:cubicBezTo>
                  <a:pt x="151080" y="-29022"/>
                  <a:pt x="260843" y="38922"/>
                  <a:pt x="451634" y="0"/>
                </a:cubicBezTo>
                <a:cubicBezTo>
                  <a:pt x="642425" y="-38922"/>
                  <a:pt x="865182" y="21118"/>
                  <a:pt x="995648" y="0"/>
                </a:cubicBezTo>
                <a:cubicBezTo>
                  <a:pt x="1126114" y="-21118"/>
                  <a:pt x="1310127" y="54302"/>
                  <a:pt x="1478076" y="0"/>
                </a:cubicBezTo>
                <a:cubicBezTo>
                  <a:pt x="1646025" y="-54302"/>
                  <a:pt x="1766465" y="42887"/>
                  <a:pt x="1929710" y="0"/>
                </a:cubicBezTo>
                <a:cubicBezTo>
                  <a:pt x="2092955" y="-42887"/>
                  <a:pt x="2304865" y="35103"/>
                  <a:pt x="2473724" y="0"/>
                </a:cubicBezTo>
                <a:cubicBezTo>
                  <a:pt x="2642583" y="-35103"/>
                  <a:pt x="2931965" y="66732"/>
                  <a:pt x="3079324" y="0"/>
                </a:cubicBezTo>
                <a:cubicBezTo>
                  <a:pt x="3106533" y="232773"/>
                  <a:pt x="3041527" y="377088"/>
                  <a:pt x="3079324" y="492443"/>
                </a:cubicBezTo>
                <a:cubicBezTo>
                  <a:pt x="3117121" y="607798"/>
                  <a:pt x="3066372" y="858827"/>
                  <a:pt x="3079324" y="955339"/>
                </a:cubicBezTo>
                <a:cubicBezTo>
                  <a:pt x="3092276" y="1051851"/>
                  <a:pt x="3041041" y="1310649"/>
                  <a:pt x="3079324" y="1477328"/>
                </a:cubicBezTo>
                <a:cubicBezTo>
                  <a:pt x="2889383" y="1507677"/>
                  <a:pt x="2727498" y="1454198"/>
                  <a:pt x="2627690" y="1477328"/>
                </a:cubicBezTo>
                <a:cubicBezTo>
                  <a:pt x="2527882" y="1500458"/>
                  <a:pt x="2409552" y="1460949"/>
                  <a:pt x="2206849" y="1477328"/>
                </a:cubicBezTo>
                <a:cubicBezTo>
                  <a:pt x="2004146" y="1493707"/>
                  <a:pt x="1928537" y="1428534"/>
                  <a:pt x="1662835" y="1477328"/>
                </a:cubicBezTo>
                <a:cubicBezTo>
                  <a:pt x="1397133" y="1526122"/>
                  <a:pt x="1412709" y="1464247"/>
                  <a:pt x="1211201" y="1477328"/>
                </a:cubicBezTo>
                <a:cubicBezTo>
                  <a:pt x="1009693" y="1490409"/>
                  <a:pt x="825853" y="1442820"/>
                  <a:pt x="667187" y="1477328"/>
                </a:cubicBezTo>
                <a:cubicBezTo>
                  <a:pt x="508521" y="1511836"/>
                  <a:pt x="271885" y="1413784"/>
                  <a:pt x="0" y="1477328"/>
                </a:cubicBezTo>
                <a:cubicBezTo>
                  <a:pt x="-5393" y="1258529"/>
                  <a:pt x="36096" y="1187436"/>
                  <a:pt x="0" y="999659"/>
                </a:cubicBezTo>
                <a:cubicBezTo>
                  <a:pt x="-36096" y="811882"/>
                  <a:pt x="40592" y="688364"/>
                  <a:pt x="0" y="492443"/>
                </a:cubicBezTo>
                <a:cubicBezTo>
                  <a:pt x="-40592" y="296522"/>
                  <a:pt x="14575" y="141125"/>
                  <a:pt x="0" y="0"/>
                </a:cubicBezTo>
                <a:close/>
              </a:path>
              <a:path w="3079324" h="1477328" stroke="0" extrusionOk="0">
                <a:moveTo>
                  <a:pt x="0" y="0"/>
                </a:moveTo>
                <a:cubicBezTo>
                  <a:pt x="135559" y="-20430"/>
                  <a:pt x="371158" y="55645"/>
                  <a:pt x="482427" y="0"/>
                </a:cubicBezTo>
                <a:cubicBezTo>
                  <a:pt x="593696" y="-55645"/>
                  <a:pt x="782729" y="40109"/>
                  <a:pt x="903268" y="0"/>
                </a:cubicBezTo>
                <a:cubicBezTo>
                  <a:pt x="1023807" y="-40109"/>
                  <a:pt x="1298454" y="52404"/>
                  <a:pt x="1478076" y="0"/>
                </a:cubicBezTo>
                <a:cubicBezTo>
                  <a:pt x="1657698" y="-52404"/>
                  <a:pt x="1834348" y="37825"/>
                  <a:pt x="1960503" y="0"/>
                </a:cubicBezTo>
                <a:cubicBezTo>
                  <a:pt x="2086658" y="-37825"/>
                  <a:pt x="2225978" y="13917"/>
                  <a:pt x="2442930" y="0"/>
                </a:cubicBezTo>
                <a:cubicBezTo>
                  <a:pt x="2659882" y="-13917"/>
                  <a:pt x="2871368" y="15512"/>
                  <a:pt x="3079324" y="0"/>
                </a:cubicBezTo>
                <a:cubicBezTo>
                  <a:pt x="3106638" y="108949"/>
                  <a:pt x="3071511" y="293481"/>
                  <a:pt x="3079324" y="462896"/>
                </a:cubicBezTo>
                <a:cubicBezTo>
                  <a:pt x="3087137" y="632311"/>
                  <a:pt x="3065707" y="754333"/>
                  <a:pt x="3079324" y="955339"/>
                </a:cubicBezTo>
                <a:cubicBezTo>
                  <a:pt x="3092941" y="1156345"/>
                  <a:pt x="3023082" y="1251853"/>
                  <a:pt x="3079324" y="1477328"/>
                </a:cubicBezTo>
                <a:cubicBezTo>
                  <a:pt x="2857034" y="1515952"/>
                  <a:pt x="2812404" y="1465458"/>
                  <a:pt x="2627690" y="1477328"/>
                </a:cubicBezTo>
                <a:cubicBezTo>
                  <a:pt x="2442976" y="1489198"/>
                  <a:pt x="2364411" y="1424469"/>
                  <a:pt x="2114469" y="1477328"/>
                </a:cubicBezTo>
                <a:cubicBezTo>
                  <a:pt x="1864527" y="1530187"/>
                  <a:pt x="1789261" y="1446735"/>
                  <a:pt x="1632042" y="1477328"/>
                </a:cubicBezTo>
                <a:cubicBezTo>
                  <a:pt x="1474823" y="1507921"/>
                  <a:pt x="1323929" y="1436466"/>
                  <a:pt x="1057235" y="1477328"/>
                </a:cubicBezTo>
                <a:cubicBezTo>
                  <a:pt x="790541" y="1518190"/>
                  <a:pt x="623517" y="1444556"/>
                  <a:pt x="482427" y="1477328"/>
                </a:cubicBezTo>
                <a:cubicBezTo>
                  <a:pt x="341337" y="1510100"/>
                  <a:pt x="155581" y="1450660"/>
                  <a:pt x="0" y="1477328"/>
                </a:cubicBezTo>
                <a:cubicBezTo>
                  <a:pt x="-11745" y="1249424"/>
                  <a:pt x="40301" y="1210974"/>
                  <a:pt x="0" y="984885"/>
                </a:cubicBezTo>
                <a:cubicBezTo>
                  <a:pt x="-40301" y="758796"/>
                  <a:pt x="29732" y="637841"/>
                  <a:pt x="0" y="507216"/>
                </a:cubicBezTo>
                <a:cubicBezTo>
                  <a:pt x="-29732" y="376591"/>
                  <a:pt x="34410" y="149112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  <a:alpha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CONTINUOUS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0189FA-2714-2677-8C78-E161FB0AF05A}"/>
              </a:ext>
            </a:extLst>
          </p:cNvPr>
          <p:cNvSpPr txBox="1"/>
          <p:nvPr/>
        </p:nvSpPr>
        <p:spPr>
          <a:xfrm>
            <a:off x="7784198" y="1920871"/>
            <a:ext cx="22117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Discrete action set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998BB5F-1669-E2B5-DF88-9B853DFD8A3A}"/>
              </a:ext>
            </a:extLst>
          </p:cNvPr>
          <p:cNvGrpSpPr/>
          <p:nvPr/>
        </p:nvGrpSpPr>
        <p:grpSpPr>
          <a:xfrm>
            <a:off x="669036" y="1923068"/>
            <a:ext cx="2766026" cy="369332"/>
            <a:chOff x="838200" y="1690688"/>
            <a:chExt cx="2766026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DB21A25-621D-7260-6FD9-7AA27A2687C8}"/>
                </a:ext>
              </a:extLst>
            </p:cNvPr>
            <p:cNvSpPr txBox="1"/>
            <p:nvPr/>
          </p:nvSpPr>
          <p:spPr>
            <a:xfrm>
              <a:off x="838200" y="1690688"/>
              <a:ext cx="101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Actions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BE0085D-F982-80B5-1640-CE48659620A3}"/>
                    </a:ext>
                  </a:extLst>
                </p:cNvPr>
                <p:cNvSpPr txBox="1"/>
                <p:nvPr/>
              </p:nvSpPr>
              <p:spPr>
                <a:xfrm>
                  <a:off x="2156843" y="1734658"/>
                  <a:ext cx="144738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0, 1, 2, 3</m:t>
                            </m:r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EE2BFA41-AE39-EEFF-76C8-C1BEF0E0CB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6843" y="1734658"/>
                  <a:ext cx="1447383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3376" b="-6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4A72D1F-5E53-FC9D-E18B-09E3DA9ABA2B}"/>
              </a:ext>
            </a:extLst>
          </p:cNvPr>
          <p:cNvSpPr txBox="1"/>
          <p:nvPr/>
        </p:nvSpPr>
        <p:spPr>
          <a:xfrm>
            <a:off x="4186517" y="1920871"/>
            <a:ext cx="33079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Number of chapters studied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245E58B-244F-4C11-BAE5-EBB9B6EEDC79}"/>
              </a:ext>
            </a:extLst>
          </p:cNvPr>
          <p:cNvGraphicFramePr>
            <a:graphicFrameLocks/>
          </p:cNvGraphicFramePr>
          <p:nvPr/>
        </p:nvGraphicFramePr>
        <p:xfrm>
          <a:off x="6632259" y="3711630"/>
          <a:ext cx="5400000" cy="2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9F23CA5-3546-00C7-F247-E49A26717655}"/>
              </a:ext>
            </a:extLst>
          </p:cNvPr>
          <p:cNvSpPr txBox="1"/>
          <p:nvPr/>
        </p:nvSpPr>
        <p:spPr>
          <a:xfrm>
            <a:off x="8614233" y="3402609"/>
            <a:ext cx="3488453" cy="338554"/>
          </a:xfrm>
          <a:custGeom>
            <a:avLst/>
            <a:gdLst>
              <a:gd name="csX0" fmla="*/ 0 w 3488453"/>
              <a:gd name="csY0" fmla="*/ 0 h 338554"/>
              <a:gd name="csX1" fmla="*/ 651178 w 3488453"/>
              <a:gd name="csY1" fmla="*/ 0 h 338554"/>
              <a:gd name="csX2" fmla="*/ 1267471 w 3488453"/>
              <a:gd name="csY2" fmla="*/ 0 h 338554"/>
              <a:gd name="csX3" fmla="*/ 1883765 w 3488453"/>
              <a:gd name="csY3" fmla="*/ 0 h 338554"/>
              <a:gd name="csX4" fmla="*/ 2360520 w 3488453"/>
              <a:gd name="csY4" fmla="*/ 0 h 338554"/>
              <a:gd name="csX5" fmla="*/ 2872160 w 3488453"/>
              <a:gd name="csY5" fmla="*/ 0 h 338554"/>
              <a:gd name="csX6" fmla="*/ 3488453 w 3488453"/>
              <a:gd name="csY6" fmla="*/ 0 h 338554"/>
              <a:gd name="csX7" fmla="*/ 3488453 w 3488453"/>
              <a:gd name="csY7" fmla="*/ 338554 h 338554"/>
              <a:gd name="csX8" fmla="*/ 2907044 w 3488453"/>
              <a:gd name="csY8" fmla="*/ 338554 h 338554"/>
              <a:gd name="csX9" fmla="*/ 2430289 w 3488453"/>
              <a:gd name="csY9" fmla="*/ 338554 h 338554"/>
              <a:gd name="csX10" fmla="*/ 1953534 w 3488453"/>
              <a:gd name="csY10" fmla="*/ 338554 h 338554"/>
              <a:gd name="csX11" fmla="*/ 1337240 w 3488453"/>
              <a:gd name="csY11" fmla="*/ 338554 h 338554"/>
              <a:gd name="csX12" fmla="*/ 825601 w 3488453"/>
              <a:gd name="csY12" fmla="*/ 338554 h 338554"/>
              <a:gd name="csX13" fmla="*/ 0 w 3488453"/>
              <a:gd name="csY13" fmla="*/ 338554 h 338554"/>
              <a:gd name="csX14" fmla="*/ 0 w 3488453"/>
              <a:gd name="csY14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488453" h="338554" fill="none" extrusionOk="0">
                <a:moveTo>
                  <a:pt x="0" y="0"/>
                </a:moveTo>
                <a:cubicBezTo>
                  <a:pt x="191010" y="-72424"/>
                  <a:pt x="404365" y="42611"/>
                  <a:pt x="651178" y="0"/>
                </a:cubicBezTo>
                <a:cubicBezTo>
                  <a:pt x="897991" y="-42611"/>
                  <a:pt x="1106718" y="7516"/>
                  <a:pt x="1267471" y="0"/>
                </a:cubicBezTo>
                <a:cubicBezTo>
                  <a:pt x="1428224" y="-7516"/>
                  <a:pt x="1705351" y="37344"/>
                  <a:pt x="1883765" y="0"/>
                </a:cubicBezTo>
                <a:cubicBezTo>
                  <a:pt x="2062179" y="-37344"/>
                  <a:pt x="2223291" y="10769"/>
                  <a:pt x="2360520" y="0"/>
                </a:cubicBezTo>
                <a:cubicBezTo>
                  <a:pt x="2497750" y="-10769"/>
                  <a:pt x="2761509" y="48528"/>
                  <a:pt x="2872160" y="0"/>
                </a:cubicBezTo>
                <a:cubicBezTo>
                  <a:pt x="2982811" y="-48528"/>
                  <a:pt x="3212793" y="48374"/>
                  <a:pt x="3488453" y="0"/>
                </a:cubicBezTo>
                <a:cubicBezTo>
                  <a:pt x="3492962" y="150235"/>
                  <a:pt x="3472978" y="188453"/>
                  <a:pt x="3488453" y="338554"/>
                </a:cubicBezTo>
                <a:cubicBezTo>
                  <a:pt x="3367582" y="390121"/>
                  <a:pt x="3028975" y="310549"/>
                  <a:pt x="2907044" y="338554"/>
                </a:cubicBezTo>
                <a:cubicBezTo>
                  <a:pt x="2785113" y="366559"/>
                  <a:pt x="2599660" y="333547"/>
                  <a:pt x="2430289" y="338554"/>
                </a:cubicBezTo>
                <a:cubicBezTo>
                  <a:pt x="2260918" y="343561"/>
                  <a:pt x="2148475" y="305491"/>
                  <a:pt x="1953534" y="338554"/>
                </a:cubicBezTo>
                <a:cubicBezTo>
                  <a:pt x="1758593" y="371617"/>
                  <a:pt x="1631802" y="322816"/>
                  <a:pt x="1337240" y="338554"/>
                </a:cubicBezTo>
                <a:cubicBezTo>
                  <a:pt x="1042678" y="354292"/>
                  <a:pt x="1026785" y="302444"/>
                  <a:pt x="825601" y="338554"/>
                </a:cubicBezTo>
                <a:cubicBezTo>
                  <a:pt x="624417" y="374664"/>
                  <a:pt x="319398" y="289140"/>
                  <a:pt x="0" y="338554"/>
                </a:cubicBezTo>
                <a:cubicBezTo>
                  <a:pt x="-38056" y="173311"/>
                  <a:pt x="21340" y="119946"/>
                  <a:pt x="0" y="0"/>
                </a:cubicBezTo>
                <a:close/>
              </a:path>
              <a:path w="3488453" h="338554" stroke="0" extrusionOk="0">
                <a:moveTo>
                  <a:pt x="0" y="0"/>
                </a:moveTo>
                <a:cubicBezTo>
                  <a:pt x="136048" y="-24757"/>
                  <a:pt x="351840" y="11275"/>
                  <a:pt x="546524" y="0"/>
                </a:cubicBezTo>
                <a:cubicBezTo>
                  <a:pt x="741208" y="-11275"/>
                  <a:pt x="829309" y="46527"/>
                  <a:pt x="1023280" y="0"/>
                </a:cubicBezTo>
                <a:cubicBezTo>
                  <a:pt x="1217251" y="-46527"/>
                  <a:pt x="1464895" y="36108"/>
                  <a:pt x="1674457" y="0"/>
                </a:cubicBezTo>
                <a:cubicBezTo>
                  <a:pt x="1884019" y="-36108"/>
                  <a:pt x="2010095" y="65367"/>
                  <a:pt x="2220982" y="0"/>
                </a:cubicBezTo>
                <a:cubicBezTo>
                  <a:pt x="2431870" y="-65367"/>
                  <a:pt x="2576136" y="12812"/>
                  <a:pt x="2767506" y="0"/>
                </a:cubicBezTo>
                <a:cubicBezTo>
                  <a:pt x="2958876" y="-12812"/>
                  <a:pt x="3292042" y="20127"/>
                  <a:pt x="3488453" y="0"/>
                </a:cubicBezTo>
                <a:cubicBezTo>
                  <a:pt x="3508960" y="88093"/>
                  <a:pt x="3459888" y="214646"/>
                  <a:pt x="3488453" y="338554"/>
                </a:cubicBezTo>
                <a:cubicBezTo>
                  <a:pt x="3249289" y="358781"/>
                  <a:pt x="3159400" y="273832"/>
                  <a:pt x="2907044" y="338554"/>
                </a:cubicBezTo>
                <a:cubicBezTo>
                  <a:pt x="2654688" y="403276"/>
                  <a:pt x="2614231" y="306743"/>
                  <a:pt x="2430289" y="338554"/>
                </a:cubicBezTo>
                <a:cubicBezTo>
                  <a:pt x="2246348" y="370365"/>
                  <a:pt x="2027375" y="336706"/>
                  <a:pt x="1848880" y="338554"/>
                </a:cubicBezTo>
                <a:cubicBezTo>
                  <a:pt x="1670385" y="340402"/>
                  <a:pt x="1440196" y="295502"/>
                  <a:pt x="1267471" y="338554"/>
                </a:cubicBezTo>
                <a:cubicBezTo>
                  <a:pt x="1094746" y="381606"/>
                  <a:pt x="833854" y="308018"/>
                  <a:pt x="720947" y="338554"/>
                </a:cubicBezTo>
                <a:cubicBezTo>
                  <a:pt x="608040" y="369090"/>
                  <a:pt x="153678" y="262382"/>
                  <a:pt x="0" y="338554"/>
                </a:cubicBezTo>
                <a:cubicBezTo>
                  <a:pt x="-37002" y="193743"/>
                  <a:pt x="7527" y="145650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Probability Density Function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C83F5C-5986-DB8F-0DD3-A24CEB3C5C4E}"/>
              </a:ext>
            </a:extLst>
          </p:cNvPr>
          <p:cNvSpPr txBox="1"/>
          <p:nvPr/>
        </p:nvSpPr>
        <p:spPr>
          <a:xfrm>
            <a:off x="6664134" y="5820653"/>
            <a:ext cx="5331937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" panose="020B0503020202020204" pitchFamily="34" charset="0"/>
              </a:rPr>
              <a:t>…not the probability of 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" panose="020B0503020202020204" pitchFamily="34" charset="0"/>
              </a:rPr>
              <a:t>individual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" panose="020B0503020202020204" pitchFamily="34" charset="0"/>
              </a:rPr>
              <a:t> 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Univers" panose="020B0503020202020204" pitchFamily="34" charset="0"/>
              </a:rPr>
              <a:t>outcomes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" panose="020B0503020202020204" pitchFamily="34" charset="0"/>
              </a:rPr>
              <a:t>…probabilities of 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" panose="020B0503020202020204" pitchFamily="34" charset="0"/>
              </a:rPr>
              <a:t>infinitesimal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" panose="020B0503020202020204" pitchFamily="34" charset="0"/>
              </a:rPr>
              <a:t> 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" panose="020B0503020202020204" pitchFamily="34" charset="0"/>
              </a:rPr>
              <a:t>ranges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" panose="020B0503020202020204" pitchFamily="34" charset="0"/>
              </a:rPr>
              <a:t> of 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Univers" panose="020B0503020202020204" pitchFamily="34" charset="0"/>
              </a:rPr>
              <a:t>outcomes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84CED2-5A67-4208-7C50-47FD9BDD441E}"/>
              </a:ext>
            </a:extLst>
          </p:cNvPr>
          <p:cNvSpPr txBox="1"/>
          <p:nvPr/>
        </p:nvSpPr>
        <p:spPr>
          <a:xfrm>
            <a:off x="10052647" y="2387183"/>
            <a:ext cx="1470317" cy="369332"/>
          </a:xfrm>
          <a:custGeom>
            <a:avLst/>
            <a:gdLst>
              <a:gd name="csX0" fmla="*/ 0 w 1470317"/>
              <a:gd name="csY0" fmla="*/ 0 h 369332"/>
              <a:gd name="csX1" fmla="*/ 519512 w 1470317"/>
              <a:gd name="csY1" fmla="*/ 0 h 369332"/>
              <a:gd name="csX2" fmla="*/ 1024321 w 1470317"/>
              <a:gd name="csY2" fmla="*/ 0 h 369332"/>
              <a:gd name="csX3" fmla="*/ 1470317 w 1470317"/>
              <a:gd name="csY3" fmla="*/ 0 h 369332"/>
              <a:gd name="csX4" fmla="*/ 1470317 w 1470317"/>
              <a:gd name="csY4" fmla="*/ 369332 h 369332"/>
              <a:gd name="csX5" fmla="*/ 1009618 w 1470317"/>
              <a:gd name="csY5" fmla="*/ 369332 h 369332"/>
              <a:gd name="csX6" fmla="*/ 519512 w 1470317"/>
              <a:gd name="csY6" fmla="*/ 369332 h 369332"/>
              <a:gd name="csX7" fmla="*/ 0 w 1470317"/>
              <a:gd name="csY7" fmla="*/ 369332 h 369332"/>
              <a:gd name="csX8" fmla="*/ 0 w 1470317"/>
              <a:gd name="csY8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470317" h="369332" fill="none" extrusionOk="0">
                <a:moveTo>
                  <a:pt x="0" y="0"/>
                </a:moveTo>
                <a:cubicBezTo>
                  <a:pt x="143752" y="-16887"/>
                  <a:pt x="322158" y="18947"/>
                  <a:pt x="519512" y="0"/>
                </a:cubicBezTo>
                <a:cubicBezTo>
                  <a:pt x="716866" y="-18947"/>
                  <a:pt x="852834" y="50824"/>
                  <a:pt x="1024321" y="0"/>
                </a:cubicBezTo>
                <a:cubicBezTo>
                  <a:pt x="1195808" y="-50824"/>
                  <a:pt x="1368813" y="11680"/>
                  <a:pt x="1470317" y="0"/>
                </a:cubicBezTo>
                <a:cubicBezTo>
                  <a:pt x="1474355" y="158233"/>
                  <a:pt x="1434023" y="205698"/>
                  <a:pt x="1470317" y="369332"/>
                </a:cubicBezTo>
                <a:cubicBezTo>
                  <a:pt x="1361037" y="414065"/>
                  <a:pt x="1124465" y="328958"/>
                  <a:pt x="1009618" y="369332"/>
                </a:cubicBezTo>
                <a:cubicBezTo>
                  <a:pt x="894771" y="409706"/>
                  <a:pt x="751488" y="327070"/>
                  <a:pt x="519512" y="369332"/>
                </a:cubicBezTo>
                <a:cubicBezTo>
                  <a:pt x="287536" y="411594"/>
                  <a:pt x="258308" y="345428"/>
                  <a:pt x="0" y="369332"/>
                </a:cubicBezTo>
                <a:cubicBezTo>
                  <a:pt x="-34018" y="280347"/>
                  <a:pt x="27486" y="156341"/>
                  <a:pt x="0" y="0"/>
                </a:cubicBezTo>
                <a:close/>
              </a:path>
              <a:path w="1470317" h="369332" stroke="0" extrusionOk="0">
                <a:moveTo>
                  <a:pt x="0" y="0"/>
                </a:moveTo>
                <a:cubicBezTo>
                  <a:pt x="189969" y="-49387"/>
                  <a:pt x="256418" y="39432"/>
                  <a:pt x="475402" y="0"/>
                </a:cubicBezTo>
                <a:cubicBezTo>
                  <a:pt x="694386" y="-39432"/>
                  <a:pt x="795951" y="2117"/>
                  <a:pt x="921399" y="0"/>
                </a:cubicBezTo>
                <a:cubicBezTo>
                  <a:pt x="1046847" y="-2117"/>
                  <a:pt x="1244120" y="12375"/>
                  <a:pt x="1470317" y="0"/>
                </a:cubicBezTo>
                <a:cubicBezTo>
                  <a:pt x="1505905" y="113493"/>
                  <a:pt x="1443510" y="197069"/>
                  <a:pt x="1470317" y="369332"/>
                </a:cubicBezTo>
                <a:cubicBezTo>
                  <a:pt x="1321404" y="370249"/>
                  <a:pt x="1125613" y="352414"/>
                  <a:pt x="1009618" y="369332"/>
                </a:cubicBezTo>
                <a:cubicBezTo>
                  <a:pt x="893623" y="386250"/>
                  <a:pt x="709342" y="346422"/>
                  <a:pt x="490106" y="369332"/>
                </a:cubicBezTo>
                <a:cubicBezTo>
                  <a:pt x="270870" y="392242"/>
                  <a:pt x="166120" y="340183"/>
                  <a:pt x="0" y="369332"/>
                </a:cubicBezTo>
                <a:cubicBezTo>
                  <a:pt x="-22716" y="225711"/>
                  <a:pt x="27200" y="158340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~ DISCRETE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EC4A3C58-309D-E342-69CD-0269398FD1EE}"/>
              </a:ext>
            </a:extLst>
          </p:cNvPr>
          <p:cNvSpPr/>
          <p:nvPr/>
        </p:nvSpPr>
        <p:spPr>
          <a:xfrm>
            <a:off x="9438186" y="2501925"/>
            <a:ext cx="478812" cy="1760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597C715-7596-9BF3-2551-0713C1E129D3}"/>
                  </a:ext>
                </a:extLst>
              </p:cNvPr>
              <p:cNvSpPr txBox="1"/>
              <p:nvPr/>
            </p:nvSpPr>
            <p:spPr>
              <a:xfrm>
                <a:off x="3465269" y="153657"/>
                <a:ext cx="6451729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Expected Payoff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∑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𝑃𝑟𝑜𝑏𝑎𝑏𝑖𝑙𝑖𝑡𝑦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𝐴𝑣𝑒𝑟𝑎𝑔𝑒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𝑀𝑎𝑟𝑘𝑠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𝑅𝑎𝑛𝑔𝑒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597C715-7596-9BF3-2551-0713C1E12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269" y="153657"/>
                <a:ext cx="6451729" cy="369332"/>
              </a:xfrm>
              <a:prstGeom prst="rect">
                <a:avLst/>
              </a:prstGeom>
              <a:blipFill>
                <a:blip r:embed="rId9"/>
                <a:stretch>
                  <a:fillRect l="-755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9F1692C-ECA7-9AE2-CB88-EF3AD4C31DB5}"/>
                  </a:ext>
                </a:extLst>
              </p:cNvPr>
              <p:cNvSpPr txBox="1"/>
              <p:nvPr/>
            </p:nvSpPr>
            <p:spPr>
              <a:xfrm>
                <a:off x="87000" y="5291122"/>
                <a:ext cx="1978703" cy="147732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Each </a:t>
                </a:r>
                <a:r>
                  <a:rPr lang="en-IN" dirty="0">
                    <a:solidFill>
                      <a:srgbClr val="7030A0"/>
                    </a:solidFill>
                  </a:rPr>
                  <a:t>infinitesimal</a:t>
                </a:r>
                <a:r>
                  <a:rPr lang="en-IN" dirty="0"/>
                  <a:t> mark range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≅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One Discrete Outcome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9F1692C-ECA7-9AE2-CB88-EF3AD4C31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00" y="5291122"/>
                <a:ext cx="1978703" cy="1477328"/>
              </a:xfrm>
              <a:prstGeom prst="rect">
                <a:avLst/>
              </a:prstGeom>
              <a:blipFill>
                <a:blip r:embed="rId10"/>
                <a:stretch>
                  <a:fillRect l="-2462" t="-2066" r="-1231" b="-619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0192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Graphic spid="5" grpId="0">
        <p:bldAsOne/>
      </p:bldGraphic>
      <p:bldP spid="15" grpId="0" animBg="1"/>
      <p:bldP spid="13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48D64-7F9F-75F8-1008-F9DE59657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784586D-86CF-FBFD-C427-C01C215B8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7509F527-9748-2D8E-9A25-F2D1F8EA9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A96359D-5F43-229C-9C6C-1C74B02802AF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60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C2594355-79EA-DB4E-2239-D2012B9A785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BB89CCA-339C-4563-F710-6A116540BA8F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MATH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B192EF4-8675-FFEA-0DEC-3B8D5F9E4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Cumulative Distribution Function (CDF)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400F91-2DDD-B14B-D22D-DA7E16AE436C}"/>
              </a:ext>
            </a:extLst>
          </p:cNvPr>
          <p:cNvSpPr txBox="1"/>
          <p:nvPr/>
        </p:nvSpPr>
        <p:spPr>
          <a:xfrm>
            <a:off x="639157" y="1952557"/>
            <a:ext cx="4210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Infinitely-many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outcomes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948728D-5F07-6671-E32D-364E3A38924C}"/>
              </a:ext>
            </a:extLst>
          </p:cNvPr>
          <p:cNvGrpSpPr/>
          <p:nvPr/>
        </p:nvGrpSpPr>
        <p:grpSpPr>
          <a:xfrm>
            <a:off x="669036" y="3002936"/>
            <a:ext cx="3808074" cy="589472"/>
            <a:chOff x="669036" y="2523534"/>
            <a:chExt cx="3808074" cy="58947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4369285-B3FC-7E91-169C-865C27A965A0}"/>
                </a:ext>
              </a:extLst>
            </p:cNvPr>
            <p:cNvSpPr txBox="1"/>
            <p:nvPr/>
          </p:nvSpPr>
          <p:spPr>
            <a:xfrm>
              <a:off x="669036" y="2633604"/>
              <a:ext cx="33940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Discrete probability distribution</a:t>
              </a:r>
            </a:p>
          </p:txBody>
        </p:sp>
        <p:pic>
          <p:nvPicPr>
            <p:cNvPr id="6" name="Graphic 5" descr="Close outline">
              <a:extLst>
                <a:ext uri="{FF2B5EF4-FFF2-40B4-BE49-F238E27FC236}">
                  <a16:creationId xmlns:a16="http://schemas.microsoft.com/office/drawing/2014/main" id="{DDF4A70D-BF07-317C-851C-C6CC3A9DD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87638" y="2523534"/>
              <a:ext cx="589472" cy="589472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FA75741-8ABF-79E1-E5CD-2D3038628C56}"/>
                  </a:ext>
                </a:extLst>
              </p:cNvPr>
              <p:cNvSpPr txBox="1"/>
              <p:nvPr/>
            </p:nvSpPr>
            <p:spPr>
              <a:xfrm>
                <a:off x="639157" y="2387305"/>
                <a:ext cx="48432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Probability of each individual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outcome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=0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FA75741-8ABF-79E1-E5CD-2D3038628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157" y="2387305"/>
                <a:ext cx="4843243" cy="369332"/>
              </a:xfrm>
              <a:prstGeom prst="rect">
                <a:avLst/>
              </a:prstGeom>
              <a:blipFill>
                <a:blip r:embed="rId5"/>
                <a:stretch>
                  <a:fillRect l="-1134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D6269BB-4E29-6B86-E60A-7FA7FE2A98F6}"/>
              </a:ext>
            </a:extLst>
          </p:cNvPr>
          <p:cNvSpPr txBox="1"/>
          <p:nvPr/>
        </p:nvSpPr>
        <p:spPr>
          <a:xfrm>
            <a:off x="6096000" y="1982707"/>
            <a:ext cx="5753108" cy="646331"/>
          </a:xfrm>
          <a:custGeom>
            <a:avLst/>
            <a:gdLst>
              <a:gd name="csX0" fmla="*/ 0 w 5753108"/>
              <a:gd name="csY0" fmla="*/ 0 h 646331"/>
              <a:gd name="csX1" fmla="*/ 517780 w 5753108"/>
              <a:gd name="csY1" fmla="*/ 0 h 646331"/>
              <a:gd name="csX2" fmla="*/ 920497 w 5753108"/>
              <a:gd name="csY2" fmla="*/ 0 h 646331"/>
              <a:gd name="csX3" fmla="*/ 1610870 w 5753108"/>
              <a:gd name="csY3" fmla="*/ 0 h 646331"/>
              <a:gd name="csX4" fmla="*/ 2128650 w 5753108"/>
              <a:gd name="csY4" fmla="*/ 0 h 646331"/>
              <a:gd name="csX5" fmla="*/ 2646430 w 5753108"/>
              <a:gd name="csY5" fmla="*/ 0 h 646331"/>
              <a:gd name="csX6" fmla="*/ 3336803 w 5753108"/>
              <a:gd name="csY6" fmla="*/ 0 h 646331"/>
              <a:gd name="csX7" fmla="*/ 3797051 w 5753108"/>
              <a:gd name="csY7" fmla="*/ 0 h 646331"/>
              <a:gd name="csX8" fmla="*/ 4487424 w 5753108"/>
              <a:gd name="csY8" fmla="*/ 0 h 646331"/>
              <a:gd name="csX9" fmla="*/ 5177797 w 5753108"/>
              <a:gd name="csY9" fmla="*/ 0 h 646331"/>
              <a:gd name="csX10" fmla="*/ 5753108 w 5753108"/>
              <a:gd name="csY10" fmla="*/ 0 h 646331"/>
              <a:gd name="csX11" fmla="*/ 5753108 w 5753108"/>
              <a:gd name="csY11" fmla="*/ 336092 h 646331"/>
              <a:gd name="csX12" fmla="*/ 5753108 w 5753108"/>
              <a:gd name="csY12" fmla="*/ 646331 h 646331"/>
              <a:gd name="csX13" fmla="*/ 5350390 w 5753108"/>
              <a:gd name="csY13" fmla="*/ 646331 h 646331"/>
              <a:gd name="csX14" fmla="*/ 4660017 w 5753108"/>
              <a:gd name="csY14" fmla="*/ 646331 h 646331"/>
              <a:gd name="csX15" fmla="*/ 4199769 w 5753108"/>
              <a:gd name="csY15" fmla="*/ 646331 h 646331"/>
              <a:gd name="csX16" fmla="*/ 3624458 w 5753108"/>
              <a:gd name="csY16" fmla="*/ 646331 h 646331"/>
              <a:gd name="csX17" fmla="*/ 2934085 w 5753108"/>
              <a:gd name="csY17" fmla="*/ 646331 h 646331"/>
              <a:gd name="csX18" fmla="*/ 2358774 w 5753108"/>
              <a:gd name="csY18" fmla="*/ 646331 h 646331"/>
              <a:gd name="csX19" fmla="*/ 1956057 w 5753108"/>
              <a:gd name="csY19" fmla="*/ 646331 h 646331"/>
              <a:gd name="csX20" fmla="*/ 1495808 w 5753108"/>
              <a:gd name="csY20" fmla="*/ 646331 h 646331"/>
              <a:gd name="csX21" fmla="*/ 805435 w 5753108"/>
              <a:gd name="csY21" fmla="*/ 646331 h 646331"/>
              <a:gd name="csX22" fmla="*/ 0 w 5753108"/>
              <a:gd name="csY22" fmla="*/ 646331 h 646331"/>
              <a:gd name="csX23" fmla="*/ 0 w 5753108"/>
              <a:gd name="csY23" fmla="*/ 336092 h 646331"/>
              <a:gd name="csX24" fmla="*/ 0 w 5753108"/>
              <a:gd name="csY24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5753108" h="646331" extrusionOk="0">
                <a:moveTo>
                  <a:pt x="0" y="0"/>
                </a:moveTo>
                <a:cubicBezTo>
                  <a:pt x="201481" y="-34760"/>
                  <a:pt x="324872" y="37261"/>
                  <a:pt x="517780" y="0"/>
                </a:cubicBezTo>
                <a:cubicBezTo>
                  <a:pt x="710688" y="-37261"/>
                  <a:pt x="801744" y="26960"/>
                  <a:pt x="920497" y="0"/>
                </a:cubicBezTo>
                <a:cubicBezTo>
                  <a:pt x="1039250" y="-26960"/>
                  <a:pt x="1416753" y="65001"/>
                  <a:pt x="1610870" y="0"/>
                </a:cubicBezTo>
                <a:cubicBezTo>
                  <a:pt x="1804987" y="-65001"/>
                  <a:pt x="1946691" y="2834"/>
                  <a:pt x="2128650" y="0"/>
                </a:cubicBezTo>
                <a:cubicBezTo>
                  <a:pt x="2310609" y="-2834"/>
                  <a:pt x="2437435" y="32552"/>
                  <a:pt x="2646430" y="0"/>
                </a:cubicBezTo>
                <a:cubicBezTo>
                  <a:pt x="2855425" y="-32552"/>
                  <a:pt x="3131998" y="69907"/>
                  <a:pt x="3336803" y="0"/>
                </a:cubicBezTo>
                <a:cubicBezTo>
                  <a:pt x="3541608" y="-69907"/>
                  <a:pt x="3699509" y="39486"/>
                  <a:pt x="3797051" y="0"/>
                </a:cubicBezTo>
                <a:cubicBezTo>
                  <a:pt x="3894593" y="-39486"/>
                  <a:pt x="4177770" y="80934"/>
                  <a:pt x="4487424" y="0"/>
                </a:cubicBezTo>
                <a:cubicBezTo>
                  <a:pt x="4797078" y="-80934"/>
                  <a:pt x="5004128" y="6988"/>
                  <a:pt x="5177797" y="0"/>
                </a:cubicBezTo>
                <a:cubicBezTo>
                  <a:pt x="5351466" y="-6988"/>
                  <a:pt x="5546734" y="5645"/>
                  <a:pt x="5753108" y="0"/>
                </a:cubicBezTo>
                <a:cubicBezTo>
                  <a:pt x="5771093" y="128922"/>
                  <a:pt x="5732900" y="168131"/>
                  <a:pt x="5753108" y="336092"/>
                </a:cubicBezTo>
                <a:cubicBezTo>
                  <a:pt x="5773316" y="504053"/>
                  <a:pt x="5727137" y="573465"/>
                  <a:pt x="5753108" y="646331"/>
                </a:cubicBezTo>
                <a:cubicBezTo>
                  <a:pt x="5632144" y="655606"/>
                  <a:pt x="5452106" y="646039"/>
                  <a:pt x="5350390" y="646331"/>
                </a:cubicBezTo>
                <a:cubicBezTo>
                  <a:pt x="5248674" y="646623"/>
                  <a:pt x="5002325" y="609840"/>
                  <a:pt x="4660017" y="646331"/>
                </a:cubicBezTo>
                <a:cubicBezTo>
                  <a:pt x="4317709" y="682822"/>
                  <a:pt x="4397689" y="630993"/>
                  <a:pt x="4199769" y="646331"/>
                </a:cubicBezTo>
                <a:cubicBezTo>
                  <a:pt x="4001849" y="661669"/>
                  <a:pt x="3821197" y="608085"/>
                  <a:pt x="3624458" y="646331"/>
                </a:cubicBezTo>
                <a:cubicBezTo>
                  <a:pt x="3427719" y="684577"/>
                  <a:pt x="3156241" y="631695"/>
                  <a:pt x="2934085" y="646331"/>
                </a:cubicBezTo>
                <a:cubicBezTo>
                  <a:pt x="2711929" y="660967"/>
                  <a:pt x="2476461" y="617902"/>
                  <a:pt x="2358774" y="646331"/>
                </a:cubicBezTo>
                <a:cubicBezTo>
                  <a:pt x="2241087" y="674760"/>
                  <a:pt x="2103065" y="604838"/>
                  <a:pt x="1956057" y="646331"/>
                </a:cubicBezTo>
                <a:cubicBezTo>
                  <a:pt x="1809049" y="687824"/>
                  <a:pt x="1626767" y="634390"/>
                  <a:pt x="1495808" y="646331"/>
                </a:cubicBezTo>
                <a:cubicBezTo>
                  <a:pt x="1364849" y="658272"/>
                  <a:pt x="1065296" y="593612"/>
                  <a:pt x="805435" y="646331"/>
                </a:cubicBezTo>
                <a:cubicBezTo>
                  <a:pt x="545574" y="699050"/>
                  <a:pt x="172927" y="609350"/>
                  <a:pt x="0" y="646331"/>
                </a:cubicBezTo>
                <a:cubicBezTo>
                  <a:pt x="-29415" y="530936"/>
                  <a:pt x="8631" y="422022"/>
                  <a:pt x="0" y="336092"/>
                </a:cubicBezTo>
                <a:cubicBezTo>
                  <a:pt x="-8631" y="250162"/>
                  <a:pt x="30560" y="84049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Instead, we specify the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cumulative probability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that the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outcome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will be less than or equal to a certain value.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99CBA85-48B4-234B-EF39-6286BCF9C5D6}"/>
              </a:ext>
            </a:extLst>
          </p:cNvPr>
          <p:cNvGrpSpPr/>
          <p:nvPr/>
        </p:nvGrpSpPr>
        <p:grpSpPr>
          <a:xfrm>
            <a:off x="6096000" y="2914467"/>
            <a:ext cx="2548070" cy="931760"/>
            <a:chOff x="6096000" y="2914467"/>
            <a:chExt cx="2548070" cy="9317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817BC44-4490-A0F4-E3FE-C6BAB88E8CE6}"/>
                    </a:ext>
                  </a:extLst>
                </p:cNvPr>
                <p:cNvSpPr txBox="1"/>
                <p:nvPr/>
              </p:nvSpPr>
              <p:spPr>
                <a:xfrm>
                  <a:off x="6096000" y="3569228"/>
                  <a:ext cx="254807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𝐹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</m:d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func>
                          <m:func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US" sz="18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𝑜𝑢𝑡𝑐𝑜𝑚𝑒</m:t>
                                </m:r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≤</m:t>
                                </m:r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817BC44-4490-A0F4-E3FE-C6BAB88E8C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3569228"/>
                  <a:ext cx="2548070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675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34B8289-3482-4A1D-9FC2-9FA059DE2141}"/>
                </a:ext>
              </a:extLst>
            </p:cNvPr>
            <p:cNvSpPr txBox="1"/>
            <p:nvPr/>
          </p:nvSpPr>
          <p:spPr>
            <a:xfrm>
              <a:off x="6096001" y="2914467"/>
              <a:ext cx="700454" cy="369332"/>
            </a:xfrm>
            <a:custGeom>
              <a:avLst/>
              <a:gdLst>
                <a:gd name="csX0" fmla="*/ 0 w 700454"/>
                <a:gd name="csY0" fmla="*/ 0 h 369332"/>
                <a:gd name="csX1" fmla="*/ 343222 w 700454"/>
                <a:gd name="csY1" fmla="*/ 0 h 369332"/>
                <a:gd name="csX2" fmla="*/ 700454 w 700454"/>
                <a:gd name="csY2" fmla="*/ 0 h 369332"/>
                <a:gd name="csX3" fmla="*/ 700454 w 700454"/>
                <a:gd name="csY3" fmla="*/ 369332 h 369332"/>
                <a:gd name="csX4" fmla="*/ 350227 w 700454"/>
                <a:gd name="csY4" fmla="*/ 369332 h 369332"/>
                <a:gd name="csX5" fmla="*/ 0 w 700454"/>
                <a:gd name="csY5" fmla="*/ 369332 h 369332"/>
                <a:gd name="csX6" fmla="*/ 0 w 700454"/>
                <a:gd name="csY6" fmla="*/ 0 h 369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00454" h="369332" extrusionOk="0">
                  <a:moveTo>
                    <a:pt x="0" y="0"/>
                  </a:moveTo>
                  <a:cubicBezTo>
                    <a:pt x="158880" y="-19495"/>
                    <a:pt x="175854" y="38567"/>
                    <a:pt x="343222" y="0"/>
                  </a:cubicBezTo>
                  <a:cubicBezTo>
                    <a:pt x="510590" y="-38567"/>
                    <a:pt x="628241" y="11308"/>
                    <a:pt x="700454" y="0"/>
                  </a:cubicBezTo>
                  <a:cubicBezTo>
                    <a:pt x="728417" y="78977"/>
                    <a:pt x="670030" y="271296"/>
                    <a:pt x="700454" y="369332"/>
                  </a:cubicBezTo>
                  <a:cubicBezTo>
                    <a:pt x="530948" y="379826"/>
                    <a:pt x="466257" y="365638"/>
                    <a:pt x="350227" y="369332"/>
                  </a:cubicBezTo>
                  <a:cubicBezTo>
                    <a:pt x="234197" y="373026"/>
                    <a:pt x="160256" y="343018"/>
                    <a:pt x="0" y="369332"/>
                  </a:cubicBezTo>
                  <a:cubicBezTo>
                    <a:pt x="-6017" y="217080"/>
                    <a:pt x="5246" y="88445"/>
                    <a:pt x="0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CDF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8FD127A-E904-79E2-9361-F9BB02E858CA}"/>
                  </a:ext>
                </a:extLst>
              </p:cNvPr>
              <p:cNvSpPr txBox="1"/>
              <p:nvPr/>
            </p:nvSpPr>
            <p:spPr>
              <a:xfrm>
                <a:off x="9334100" y="3569227"/>
                <a:ext cx="13778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0≤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≤1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8FD127A-E904-79E2-9361-F9BB02E858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4100" y="3569227"/>
                <a:ext cx="1377813" cy="276999"/>
              </a:xfrm>
              <a:prstGeom prst="rect">
                <a:avLst/>
              </a:prstGeom>
              <a:blipFill>
                <a:blip r:embed="rId7"/>
                <a:stretch>
                  <a:fillRect l="-3540" r="-3982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Content Placeholder 10" descr="A cartoon of a hand holding a lottery ticket&#10;&#10;Description automatically generated">
            <a:extLst>
              <a:ext uri="{FF2B5EF4-FFF2-40B4-BE49-F238E27FC236}">
                <a16:creationId xmlns:a16="http://schemas.microsoft.com/office/drawing/2014/main" id="{335E74B7-699E-2489-F580-493CB85934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12" t="7931" r="14912" b="10017"/>
          <a:stretch/>
        </p:blipFill>
        <p:spPr>
          <a:xfrm>
            <a:off x="1247049" y="4272081"/>
            <a:ext cx="1879600" cy="2130215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25A9122-81A4-4174-B73C-E8481EE45B5E}"/>
                  </a:ext>
                </a:extLst>
              </p:cNvPr>
              <p:cNvSpPr txBox="1"/>
              <p:nvPr/>
            </p:nvSpPr>
            <p:spPr>
              <a:xfrm>
                <a:off x="3540623" y="4805809"/>
                <a:ext cx="4843244" cy="369332"/>
              </a:xfrm>
              <a:custGeom>
                <a:avLst/>
                <a:gdLst>
                  <a:gd name="csX0" fmla="*/ 0 w 4843244"/>
                  <a:gd name="csY0" fmla="*/ 0 h 369332"/>
                  <a:gd name="csX1" fmla="*/ 489706 w 4843244"/>
                  <a:gd name="csY1" fmla="*/ 0 h 369332"/>
                  <a:gd name="csX2" fmla="*/ 882547 w 4843244"/>
                  <a:gd name="csY2" fmla="*/ 0 h 369332"/>
                  <a:gd name="csX3" fmla="*/ 1517550 w 4843244"/>
                  <a:gd name="csY3" fmla="*/ 0 h 369332"/>
                  <a:gd name="csX4" fmla="*/ 2007256 w 4843244"/>
                  <a:gd name="csY4" fmla="*/ 0 h 369332"/>
                  <a:gd name="csX5" fmla="*/ 2496961 w 4843244"/>
                  <a:gd name="csY5" fmla="*/ 0 h 369332"/>
                  <a:gd name="csX6" fmla="*/ 3131964 w 4843244"/>
                  <a:gd name="csY6" fmla="*/ 0 h 369332"/>
                  <a:gd name="csX7" fmla="*/ 3573238 w 4843244"/>
                  <a:gd name="csY7" fmla="*/ 0 h 369332"/>
                  <a:gd name="csX8" fmla="*/ 4208241 w 4843244"/>
                  <a:gd name="csY8" fmla="*/ 0 h 369332"/>
                  <a:gd name="csX9" fmla="*/ 4843244 w 4843244"/>
                  <a:gd name="csY9" fmla="*/ 0 h 369332"/>
                  <a:gd name="csX10" fmla="*/ 4843244 w 4843244"/>
                  <a:gd name="csY10" fmla="*/ 369332 h 369332"/>
                  <a:gd name="csX11" fmla="*/ 4305106 w 4843244"/>
                  <a:gd name="csY11" fmla="*/ 369332 h 369332"/>
                  <a:gd name="csX12" fmla="*/ 3815400 w 4843244"/>
                  <a:gd name="csY12" fmla="*/ 369332 h 369332"/>
                  <a:gd name="csX13" fmla="*/ 3180397 w 4843244"/>
                  <a:gd name="csY13" fmla="*/ 369332 h 369332"/>
                  <a:gd name="csX14" fmla="*/ 2545394 w 4843244"/>
                  <a:gd name="csY14" fmla="*/ 369332 h 369332"/>
                  <a:gd name="csX15" fmla="*/ 2104120 w 4843244"/>
                  <a:gd name="csY15" fmla="*/ 369332 h 369332"/>
                  <a:gd name="csX16" fmla="*/ 1565982 w 4843244"/>
                  <a:gd name="csY16" fmla="*/ 369332 h 369332"/>
                  <a:gd name="csX17" fmla="*/ 930979 w 4843244"/>
                  <a:gd name="csY17" fmla="*/ 369332 h 369332"/>
                  <a:gd name="csX18" fmla="*/ 0 w 4843244"/>
                  <a:gd name="csY18" fmla="*/ 369332 h 369332"/>
                  <a:gd name="csX19" fmla="*/ 0 w 4843244"/>
                  <a:gd name="csY19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4843244" h="369332" extrusionOk="0">
                    <a:moveTo>
                      <a:pt x="0" y="0"/>
                    </a:moveTo>
                    <a:cubicBezTo>
                      <a:pt x="116176" y="-3757"/>
                      <a:pt x="346373" y="12984"/>
                      <a:pt x="489706" y="0"/>
                    </a:cubicBezTo>
                    <a:cubicBezTo>
                      <a:pt x="633039" y="-12984"/>
                      <a:pt x="771895" y="15895"/>
                      <a:pt x="882547" y="0"/>
                    </a:cubicBezTo>
                    <a:cubicBezTo>
                      <a:pt x="993199" y="-15895"/>
                      <a:pt x="1232682" y="5782"/>
                      <a:pt x="1517550" y="0"/>
                    </a:cubicBezTo>
                    <a:cubicBezTo>
                      <a:pt x="1802418" y="-5782"/>
                      <a:pt x="1813522" y="53399"/>
                      <a:pt x="2007256" y="0"/>
                    </a:cubicBezTo>
                    <a:cubicBezTo>
                      <a:pt x="2200990" y="-53399"/>
                      <a:pt x="2293929" y="51062"/>
                      <a:pt x="2496961" y="0"/>
                    </a:cubicBezTo>
                    <a:cubicBezTo>
                      <a:pt x="2699994" y="-51062"/>
                      <a:pt x="2922030" y="13560"/>
                      <a:pt x="3131964" y="0"/>
                    </a:cubicBezTo>
                    <a:cubicBezTo>
                      <a:pt x="3341898" y="-13560"/>
                      <a:pt x="3467029" y="42284"/>
                      <a:pt x="3573238" y="0"/>
                    </a:cubicBezTo>
                    <a:cubicBezTo>
                      <a:pt x="3679447" y="-42284"/>
                      <a:pt x="3979040" y="16255"/>
                      <a:pt x="4208241" y="0"/>
                    </a:cubicBezTo>
                    <a:cubicBezTo>
                      <a:pt x="4437442" y="-16255"/>
                      <a:pt x="4655668" y="49524"/>
                      <a:pt x="4843244" y="0"/>
                    </a:cubicBezTo>
                    <a:cubicBezTo>
                      <a:pt x="4860364" y="100193"/>
                      <a:pt x="4810169" y="257057"/>
                      <a:pt x="4843244" y="369332"/>
                    </a:cubicBezTo>
                    <a:cubicBezTo>
                      <a:pt x="4695528" y="390944"/>
                      <a:pt x="4488639" y="318796"/>
                      <a:pt x="4305106" y="369332"/>
                    </a:cubicBezTo>
                    <a:cubicBezTo>
                      <a:pt x="4121573" y="419868"/>
                      <a:pt x="4056251" y="352204"/>
                      <a:pt x="3815400" y="369332"/>
                    </a:cubicBezTo>
                    <a:cubicBezTo>
                      <a:pt x="3574549" y="386460"/>
                      <a:pt x="3495885" y="365324"/>
                      <a:pt x="3180397" y="369332"/>
                    </a:cubicBezTo>
                    <a:cubicBezTo>
                      <a:pt x="2864909" y="373340"/>
                      <a:pt x="2732739" y="317550"/>
                      <a:pt x="2545394" y="369332"/>
                    </a:cubicBezTo>
                    <a:cubicBezTo>
                      <a:pt x="2358049" y="421114"/>
                      <a:pt x="2321026" y="340005"/>
                      <a:pt x="2104120" y="369332"/>
                    </a:cubicBezTo>
                    <a:cubicBezTo>
                      <a:pt x="1887214" y="398659"/>
                      <a:pt x="1776529" y="314322"/>
                      <a:pt x="1565982" y="369332"/>
                    </a:cubicBezTo>
                    <a:cubicBezTo>
                      <a:pt x="1355435" y="424342"/>
                      <a:pt x="1164246" y="315455"/>
                      <a:pt x="930979" y="369332"/>
                    </a:cubicBezTo>
                    <a:cubicBezTo>
                      <a:pt x="697712" y="423209"/>
                      <a:pt x="239805" y="356977"/>
                      <a:pt x="0" y="369332"/>
                    </a:cubicBezTo>
                    <a:cubicBezTo>
                      <a:pt x="-40318" y="228999"/>
                      <a:pt x="8008" y="159412"/>
                      <a:pt x="0" y="0"/>
                    </a:cubicBez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The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>
                        <a:lumMod val="50000"/>
                      </a:scheme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probability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of winning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exactly ₹1 Lakh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is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25A9122-81A4-4174-B73C-E8481EE45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23" y="4805809"/>
                <a:ext cx="4843244" cy="369332"/>
              </a:xfrm>
              <a:prstGeom prst="rect">
                <a:avLst/>
              </a:prstGeom>
              <a:blipFill>
                <a:blip r:embed="rId9"/>
                <a:stretch>
                  <a:fillRect l="-625" b="-15493"/>
                </a:stretch>
              </a:blip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4843244"/>
                          <a:gd name="csY0" fmla="*/ 0 h 369332"/>
                          <a:gd name="csX1" fmla="*/ 489706 w 4843244"/>
                          <a:gd name="csY1" fmla="*/ 0 h 369332"/>
                          <a:gd name="csX2" fmla="*/ 882547 w 4843244"/>
                          <a:gd name="csY2" fmla="*/ 0 h 369332"/>
                          <a:gd name="csX3" fmla="*/ 1517550 w 4843244"/>
                          <a:gd name="csY3" fmla="*/ 0 h 369332"/>
                          <a:gd name="csX4" fmla="*/ 2007256 w 4843244"/>
                          <a:gd name="csY4" fmla="*/ 0 h 369332"/>
                          <a:gd name="csX5" fmla="*/ 2496961 w 4843244"/>
                          <a:gd name="csY5" fmla="*/ 0 h 369332"/>
                          <a:gd name="csX6" fmla="*/ 3131964 w 4843244"/>
                          <a:gd name="csY6" fmla="*/ 0 h 369332"/>
                          <a:gd name="csX7" fmla="*/ 3573238 w 4843244"/>
                          <a:gd name="csY7" fmla="*/ 0 h 369332"/>
                          <a:gd name="csX8" fmla="*/ 4208241 w 4843244"/>
                          <a:gd name="csY8" fmla="*/ 0 h 369332"/>
                          <a:gd name="csX9" fmla="*/ 4843244 w 4843244"/>
                          <a:gd name="csY9" fmla="*/ 0 h 369332"/>
                          <a:gd name="csX10" fmla="*/ 4843244 w 4843244"/>
                          <a:gd name="csY10" fmla="*/ 369332 h 369332"/>
                          <a:gd name="csX11" fmla="*/ 4305106 w 4843244"/>
                          <a:gd name="csY11" fmla="*/ 369332 h 369332"/>
                          <a:gd name="csX12" fmla="*/ 3815400 w 4843244"/>
                          <a:gd name="csY12" fmla="*/ 369332 h 369332"/>
                          <a:gd name="csX13" fmla="*/ 3180397 w 4843244"/>
                          <a:gd name="csY13" fmla="*/ 369332 h 369332"/>
                          <a:gd name="csX14" fmla="*/ 2545394 w 4843244"/>
                          <a:gd name="csY14" fmla="*/ 369332 h 369332"/>
                          <a:gd name="csX15" fmla="*/ 2104120 w 4843244"/>
                          <a:gd name="csY15" fmla="*/ 369332 h 369332"/>
                          <a:gd name="csX16" fmla="*/ 1565982 w 4843244"/>
                          <a:gd name="csY16" fmla="*/ 369332 h 369332"/>
                          <a:gd name="csX17" fmla="*/ 930979 w 4843244"/>
                          <a:gd name="csY17" fmla="*/ 369332 h 369332"/>
                          <a:gd name="csX18" fmla="*/ 0 w 4843244"/>
                          <a:gd name="csY18" fmla="*/ 369332 h 369332"/>
                          <a:gd name="csX19" fmla="*/ 0 w 4843244"/>
                          <a:gd name="csY19" fmla="*/ 0 h 369332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  <a:cxn ang="0">
                            <a:pos x="csX19" y="csY19"/>
                          </a:cxn>
                        </a:cxnLst>
                        <a:rect l="l" t="t" r="r" b="b"/>
                        <a:pathLst>
                          <a:path w="4843244" h="369332" extrusionOk="0">
                            <a:moveTo>
                              <a:pt x="0" y="0"/>
                            </a:moveTo>
                            <a:cubicBezTo>
                              <a:pt x="116176" y="-3757"/>
                              <a:pt x="346373" y="12984"/>
                              <a:pt x="489706" y="0"/>
                            </a:cubicBezTo>
                            <a:cubicBezTo>
                              <a:pt x="633039" y="-12984"/>
                              <a:pt x="771895" y="15895"/>
                              <a:pt x="882547" y="0"/>
                            </a:cubicBezTo>
                            <a:cubicBezTo>
                              <a:pt x="993199" y="-15895"/>
                              <a:pt x="1232682" y="5782"/>
                              <a:pt x="1517550" y="0"/>
                            </a:cubicBezTo>
                            <a:cubicBezTo>
                              <a:pt x="1802418" y="-5782"/>
                              <a:pt x="1813522" y="53399"/>
                              <a:pt x="2007256" y="0"/>
                            </a:cubicBezTo>
                            <a:cubicBezTo>
                              <a:pt x="2200990" y="-53399"/>
                              <a:pt x="2293929" y="51062"/>
                              <a:pt x="2496961" y="0"/>
                            </a:cubicBezTo>
                            <a:cubicBezTo>
                              <a:pt x="2699994" y="-51062"/>
                              <a:pt x="2922030" y="13560"/>
                              <a:pt x="3131964" y="0"/>
                            </a:cubicBezTo>
                            <a:cubicBezTo>
                              <a:pt x="3341898" y="-13560"/>
                              <a:pt x="3467029" y="42284"/>
                              <a:pt x="3573238" y="0"/>
                            </a:cubicBezTo>
                            <a:cubicBezTo>
                              <a:pt x="3679447" y="-42284"/>
                              <a:pt x="3979040" y="16255"/>
                              <a:pt x="4208241" y="0"/>
                            </a:cubicBezTo>
                            <a:cubicBezTo>
                              <a:pt x="4437442" y="-16255"/>
                              <a:pt x="4655668" y="49524"/>
                              <a:pt x="4843244" y="0"/>
                            </a:cubicBezTo>
                            <a:cubicBezTo>
                              <a:pt x="4860364" y="100193"/>
                              <a:pt x="4810169" y="257057"/>
                              <a:pt x="4843244" y="369332"/>
                            </a:cubicBezTo>
                            <a:cubicBezTo>
                              <a:pt x="4695528" y="390944"/>
                              <a:pt x="4488639" y="318796"/>
                              <a:pt x="4305106" y="369332"/>
                            </a:cubicBezTo>
                            <a:cubicBezTo>
                              <a:pt x="4121573" y="419868"/>
                              <a:pt x="4056251" y="352204"/>
                              <a:pt x="3815400" y="369332"/>
                            </a:cubicBezTo>
                            <a:cubicBezTo>
                              <a:pt x="3574549" y="386460"/>
                              <a:pt x="3495885" y="365324"/>
                              <a:pt x="3180397" y="369332"/>
                            </a:cubicBezTo>
                            <a:cubicBezTo>
                              <a:pt x="2864909" y="373340"/>
                              <a:pt x="2732739" y="317550"/>
                              <a:pt x="2545394" y="369332"/>
                            </a:cubicBezTo>
                            <a:cubicBezTo>
                              <a:pt x="2358049" y="421114"/>
                              <a:pt x="2321026" y="340005"/>
                              <a:pt x="2104120" y="369332"/>
                            </a:cubicBezTo>
                            <a:cubicBezTo>
                              <a:pt x="1887214" y="398659"/>
                              <a:pt x="1776529" y="314322"/>
                              <a:pt x="1565982" y="369332"/>
                            </a:cubicBezTo>
                            <a:cubicBezTo>
                              <a:pt x="1355435" y="424342"/>
                              <a:pt x="1164246" y="315455"/>
                              <a:pt x="930979" y="369332"/>
                            </a:cubicBezTo>
                            <a:cubicBezTo>
                              <a:pt x="697712" y="423209"/>
                              <a:pt x="239805" y="356977"/>
                              <a:pt x="0" y="369332"/>
                            </a:cubicBezTo>
                            <a:cubicBezTo>
                              <a:pt x="-40318" y="228999"/>
                              <a:pt x="8008" y="159412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EFFBC16-67C7-0F06-2F95-C546315A61CD}"/>
                  </a:ext>
                </a:extLst>
              </p:cNvPr>
              <p:cNvSpPr txBox="1"/>
              <p:nvPr/>
            </p:nvSpPr>
            <p:spPr>
              <a:xfrm>
                <a:off x="3540623" y="5867253"/>
                <a:ext cx="4843244" cy="369332"/>
              </a:xfrm>
              <a:custGeom>
                <a:avLst/>
                <a:gdLst>
                  <a:gd name="csX0" fmla="*/ 0 w 4843244"/>
                  <a:gd name="csY0" fmla="*/ 0 h 369332"/>
                  <a:gd name="csX1" fmla="*/ 489706 w 4843244"/>
                  <a:gd name="csY1" fmla="*/ 0 h 369332"/>
                  <a:gd name="csX2" fmla="*/ 882547 w 4843244"/>
                  <a:gd name="csY2" fmla="*/ 0 h 369332"/>
                  <a:gd name="csX3" fmla="*/ 1517550 w 4843244"/>
                  <a:gd name="csY3" fmla="*/ 0 h 369332"/>
                  <a:gd name="csX4" fmla="*/ 2007256 w 4843244"/>
                  <a:gd name="csY4" fmla="*/ 0 h 369332"/>
                  <a:gd name="csX5" fmla="*/ 2496961 w 4843244"/>
                  <a:gd name="csY5" fmla="*/ 0 h 369332"/>
                  <a:gd name="csX6" fmla="*/ 3131964 w 4843244"/>
                  <a:gd name="csY6" fmla="*/ 0 h 369332"/>
                  <a:gd name="csX7" fmla="*/ 3573238 w 4843244"/>
                  <a:gd name="csY7" fmla="*/ 0 h 369332"/>
                  <a:gd name="csX8" fmla="*/ 4208241 w 4843244"/>
                  <a:gd name="csY8" fmla="*/ 0 h 369332"/>
                  <a:gd name="csX9" fmla="*/ 4843244 w 4843244"/>
                  <a:gd name="csY9" fmla="*/ 0 h 369332"/>
                  <a:gd name="csX10" fmla="*/ 4843244 w 4843244"/>
                  <a:gd name="csY10" fmla="*/ 369332 h 369332"/>
                  <a:gd name="csX11" fmla="*/ 4305106 w 4843244"/>
                  <a:gd name="csY11" fmla="*/ 369332 h 369332"/>
                  <a:gd name="csX12" fmla="*/ 3815400 w 4843244"/>
                  <a:gd name="csY12" fmla="*/ 369332 h 369332"/>
                  <a:gd name="csX13" fmla="*/ 3180397 w 4843244"/>
                  <a:gd name="csY13" fmla="*/ 369332 h 369332"/>
                  <a:gd name="csX14" fmla="*/ 2545394 w 4843244"/>
                  <a:gd name="csY14" fmla="*/ 369332 h 369332"/>
                  <a:gd name="csX15" fmla="*/ 2104120 w 4843244"/>
                  <a:gd name="csY15" fmla="*/ 369332 h 369332"/>
                  <a:gd name="csX16" fmla="*/ 1565982 w 4843244"/>
                  <a:gd name="csY16" fmla="*/ 369332 h 369332"/>
                  <a:gd name="csX17" fmla="*/ 930979 w 4843244"/>
                  <a:gd name="csY17" fmla="*/ 369332 h 369332"/>
                  <a:gd name="csX18" fmla="*/ 0 w 4843244"/>
                  <a:gd name="csY18" fmla="*/ 369332 h 369332"/>
                  <a:gd name="csX19" fmla="*/ 0 w 4843244"/>
                  <a:gd name="csY19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4843244" h="369332" extrusionOk="0">
                    <a:moveTo>
                      <a:pt x="0" y="0"/>
                    </a:moveTo>
                    <a:cubicBezTo>
                      <a:pt x="116176" y="-3757"/>
                      <a:pt x="346373" y="12984"/>
                      <a:pt x="489706" y="0"/>
                    </a:cubicBezTo>
                    <a:cubicBezTo>
                      <a:pt x="633039" y="-12984"/>
                      <a:pt x="771895" y="15895"/>
                      <a:pt x="882547" y="0"/>
                    </a:cubicBezTo>
                    <a:cubicBezTo>
                      <a:pt x="993199" y="-15895"/>
                      <a:pt x="1232682" y="5782"/>
                      <a:pt x="1517550" y="0"/>
                    </a:cubicBezTo>
                    <a:cubicBezTo>
                      <a:pt x="1802418" y="-5782"/>
                      <a:pt x="1813522" y="53399"/>
                      <a:pt x="2007256" y="0"/>
                    </a:cubicBezTo>
                    <a:cubicBezTo>
                      <a:pt x="2200990" y="-53399"/>
                      <a:pt x="2293929" y="51062"/>
                      <a:pt x="2496961" y="0"/>
                    </a:cubicBezTo>
                    <a:cubicBezTo>
                      <a:pt x="2699994" y="-51062"/>
                      <a:pt x="2922030" y="13560"/>
                      <a:pt x="3131964" y="0"/>
                    </a:cubicBezTo>
                    <a:cubicBezTo>
                      <a:pt x="3341898" y="-13560"/>
                      <a:pt x="3467029" y="42284"/>
                      <a:pt x="3573238" y="0"/>
                    </a:cubicBezTo>
                    <a:cubicBezTo>
                      <a:pt x="3679447" y="-42284"/>
                      <a:pt x="3979040" y="16255"/>
                      <a:pt x="4208241" y="0"/>
                    </a:cubicBezTo>
                    <a:cubicBezTo>
                      <a:pt x="4437442" y="-16255"/>
                      <a:pt x="4655668" y="49524"/>
                      <a:pt x="4843244" y="0"/>
                    </a:cubicBezTo>
                    <a:cubicBezTo>
                      <a:pt x="4860364" y="100193"/>
                      <a:pt x="4810169" y="257057"/>
                      <a:pt x="4843244" y="369332"/>
                    </a:cubicBezTo>
                    <a:cubicBezTo>
                      <a:pt x="4695528" y="390944"/>
                      <a:pt x="4488639" y="318796"/>
                      <a:pt x="4305106" y="369332"/>
                    </a:cubicBezTo>
                    <a:cubicBezTo>
                      <a:pt x="4121573" y="419868"/>
                      <a:pt x="4056251" y="352204"/>
                      <a:pt x="3815400" y="369332"/>
                    </a:cubicBezTo>
                    <a:cubicBezTo>
                      <a:pt x="3574549" y="386460"/>
                      <a:pt x="3495885" y="365324"/>
                      <a:pt x="3180397" y="369332"/>
                    </a:cubicBezTo>
                    <a:cubicBezTo>
                      <a:pt x="2864909" y="373340"/>
                      <a:pt x="2732739" y="317550"/>
                      <a:pt x="2545394" y="369332"/>
                    </a:cubicBezTo>
                    <a:cubicBezTo>
                      <a:pt x="2358049" y="421114"/>
                      <a:pt x="2321026" y="340005"/>
                      <a:pt x="2104120" y="369332"/>
                    </a:cubicBezTo>
                    <a:cubicBezTo>
                      <a:pt x="1887214" y="398659"/>
                      <a:pt x="1776529" y="314322"/>
                      <a:pt x="1565982" y="369332"/>
                    </a:cubicBezTo>
                    <a:cubicBezTo>
                      <a:pt x="1355435" y="424342"/>
                      <a:pt x="1164246" y="315455"/>
                      <a:pt x="930979" y="369332"/>
                    </a:cubicBezTo>
                    <a:cubicBezTo>
                      <a:pt x="697712" y="423209"/>
                      <a:pt x="239805" y="356977"/>
                      <a:pt x="0" y="369332"/>
                    </a:cubicBezTo>
                    <a:cubicBezTo>
                      <a:pt x="-40318" y="228999"/>
                      <a:pt x="8008" y="159412"/>
                      <a:pt x="0" y="0"/>
                    </a:cubicBez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The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>
                        <a:lumMod val="50000"/>
                      </a:scheme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probability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of winning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up to ₹1 Lakh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is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0.1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EFFBC16-67C7-0F06-2F95-C546315A6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23" y="5867253"/>
                <a:ext cx="4843244" cy="369332"/>
              </a:xfrm>
              <a:prstGeom prst="rect">
                <a:avLst/>
              </a:prstGeom>
              <a:blipFill>
                <a:blip r:embed="rId10"/>
                <a:stretch>
                  <a:fillRect l="-625" b="-15493"/>
                </a:stretch>
              </a:blip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4843244"/>
                          <a:gd name="csY0" fmla="*/ 0 h 369332"/>
                          <a:gd name="csX1" fmla="*/ 489706 w 4843244"/>
                          <a:gd name="csY1" fmla="*/ 0 h 369332"/>
                          <a:gd name="csX2" fmla="*/ 882547 w 4843244"/>
                          <a:gd name="csY2" fmla="*/ 0 h 369332"/>
                          <a:gd name="csX3" fmla="*/ 1517550 w 4843244"/>
                          <a:gd name="csY3" fmla="*/ 0 h 369332"/>
                          <a:gd name="csX4" fmla="*/ 2007256 w 4843244"/>
                          <a:gd name="csY4" fmla="*/ 0 h 369332"/>
                          <a:gd name="csX5" fmla="*/ 2496961 w 4843244"/>
                          <a:gd name="csY5" fmla="*/ 0 h 369332"/>
                          <a:gd name="csX6" fmla="*/ 3131964 w 4843244"/>
                          <a:gd name="csY6" fmla="*/ 0 h 369332"/>
                          <a:gd name="csX7" fmla="*/ 3573238 w 4843244"/>
                          <a:gd name="csY7" fmla="*/ 0 h 369332"/>
                          <a:gd name="csX8" fmla="*/ 4208241 w 4843244"/>
                          <a:gd name="csY8" fmla="*/ 0 h 369332"/>
                          <a:gd name="csX9" fmla="*/ 4843244 w 4843244"/>
                          <a:gd name="csY9" fmla="*/ 0 h 369332"/>
                          <a:gd name="csX10" fmla="*/ 4843244 w 4843244"/>
                          <a:gd name="csY10" fmla="*/ 369332 h 369332"/>
                          <a:gd name="csX11" fmla="*/ 4305106 w 4843244"/>
                          <a:gd name="csY11" fmla="*/ 369332 h 369332"/>
                          <a:gd name="csX12" fmla="*/ 3815400 w 4843244"/>
                          <a:gd name="csY12" fmla="*/ 369332 h 369332"/>
                          <a:gd name="csX13" fmla="*/ 3180397 w 4843244"/>
                          <a:gd name="csY13" fmla="*/ 369332 h 369332"/>
                          <a:gd name="csX14" fmla="*/ 2545394 w 4843244"/>
                          <a:gd name="csY14" fmla="*/ 369332 h 369332"/>
                          <a:gd name="csX15" fmla="*/ 2104120 w 4843244"/>
                          <a:gd name="csY15" fmla="*/ 369332 h 369332"/>
                          <a:gd name="csX16" fmla="*/ 1565982 w 4843244"/>
                          <a:gd name="csY16" fmla="*/ 369332 h 369332"/>
                          <a:gd name="csX17" fmla="*/ 930979 w 4843244"/>
                          <a:gd name="csY17" fmla="*/ 369332 h 369332"/>
                          <a:gd name="csX18" fmla="*/ 0 w 4843244"/>
                          <a:gd name="csY18" fmla="*/ 369332 h 369332"/>
                          <a:gd name="csX19" fmla="*/ 0 w 4843244"/>
                          <a:gd name="csY19" fmla="*/ 0 h 369332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  <a:cxn ang="0">
                            <a:pos x="csX19" y="csY19"/>
                          </a:cxn>
                        </a:cxnLst>
                        <a:rect l="l" t="t" r="r" b="b"/>
                        <a:pathLst>
                          <a:path w="4843244" h="369332" extrusionOk="0">
                            <a:moveTo>
                              <a:pt x="0" y="0"/>
                            </a:moveTo>
                            <a:cubicBezTo>
                              <a:pt x="116176" y="-3757"/>
                              <a:pt x="346373" y="12984"/>
                              <a:pt x="489706" y="0"/>
                            </a:cubicBezTo>
                            <a:cubicBezTo>
                              <a:pt x="633039" y="-12984"/>
                              <a:pt x="771895" y="15895"/>
                              <a:pt x="882547" y="0"/>
                            </a:cubicBezTo>
                            <a:cubicBezTo>
                              <a:pt x="993199" y="-15895"/>
                              <a:pt x="1232682" y="5782"/>
                              <a:pt x="1517550" y="0"/>
                            </a:cubicBezTo>
                            <a:cubicBezTo>
                              <a:pt x="1802418" y="-5782"/>
                              <a:pt x="1813522" y="53399"/>
                              <a:pt x="2007256" y="0"/>
                            </a:cubicBezTo>
                            <a:cubicBezTo>
                              <a:pt x="2200990" y="-53399"/>
                              <a:pt x="2293929" y="51062"/>
                              <a:pt x="2496961" y="0"/>
                            </a:cubicBezTo>
                            <a:cubicBezTo>
                              <a:pt x="2699994" y="-51062"/>
                              <a:pt x="2922030" y="13560"/>
                              <a:pt x="3131964" y="0"/>
                            </a:cubicBezTo>
                            <a:cubicBezTo>
                              <a:pt x="3341898" y="-13560"/>
                              <a:pt x="3467029" y="42284"/>
                              <a:pt x="3573238" y="0"/>
                            </a:cubicBezTo>
                            <a:cubicBezTo>
                              <a:pt x="3679447" y="-42284"/>
                              <a:pt x="3979040" y="16255"/>
                              <a:pt x="4208241" y="0"/>
                            </a:cubicBezTo>
                            <a:cubicBezTo>
                              <a:pt x="4437442" y="-16255"/>
                              <a:pt x="4655668" y="49524"/>
                              <a:pt x="4843244" y="0"/>
                            </a:cubicBezTo>
                            <a:cubicBezTo>
                              <a:pt x="4860364" y="100193"/>
                              <a:pt x="4810169" y="257057"/>
                              <a:pt x="4843244" y="369332"/>
                            </a:cubicBezTo>
                            <a:cubicBezTo>
                              <a:pt x="4695528" y="390944"/>
                              <a:pt x="4488639" y="318796"/>
                              <a:pt x="4305106" y="369332"/>
                            </a:cubicBezTo>
                            <a:cubicBezTo>
                              <a:pt x="4121573" y="419868"/>
                              <a:pt x="4056251" y="352204"/>
                              <a:pt x="3815400" y="369332"/>
                            </a:cubicBezTo>
                            <a:cubicBezTo>
                              <a:pt x="3574549" y="386460"/>
                              <a:pt x="3495885" y="365324"/>
                              <a:pt x="3180397" y="369332"/>
                            </a:cubicBezTo>
                            <a:cubicBezTo>
                              <a:pt x="2864909" y="373340"/>
                              <a:pt x="2732739" y="317550"/>
                              <a:pt x="2545394" y="369332"/>
                            </a:cubicBezTo>
                            <a:cubicBezTo>
                              <a:pt x="2358049" y="421114"/>
                              <a:pt x="2321026" y="340005"/>
                              <a:pt x="2104120" y="369332"/>
                            </a:cubicBezTo>
                            <a:cubicBezTo>
                              <a:pt x="1887214" y="398659"/>
                              <a:pt x="1776529" y="314322"/>
                              <a:pt x="1565982" y="369332"/>
                            </a:cubicBezTo>
                            <a:cubicBezTo>
                              <a:pt x="1355435" y="424342"/>
                              <a:pt x="1164246" y="315455"/>
                              <a:pt x="930979" y="369332"/>
                            </a:cubicBezTo>
                            <a:cubicBezTo>
                              <a:pt x="697712" y="423209"/>
                              <a:pt x="239805" y="356977"/>
                              <a:pt x="0" y="369332"/>
                            </a:cubicBezTo>
                            <a:cubicBezTo>
                              <a:pt x="-40318" y="228999"/>
                              <a:pt x="8008" y="159412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29FF069-2CC1-9F38-5AF1-60BBA206F154}"/>
              </a:ext>
            </a:extLst>
          </p:cNvPr>
          <p:cNvSpPr txBox="1"/>
          <p:nvPr/>
        </p:nvSpPr>
        <p:spPr>
          <a:xfrm>
            <a:off x="8644070" y="4836587"/>
            <a:ext cx="3205038" cy="338554"/>
          </a:xfrm>
          <a:custGeom>
            <a:avLst/>
            <a:gdLst>
              <a:gd name="csX0" fmla="*/ 0 w 3205038"/>
              <a:gd name="csY0" fmla="*/ 0 h 338554"/>
              <a:gd name="csX1" fmla="*/ 502123 w 3205038"/>
              <a:gd name="csY1" fmla="*/ 0 h 338554"/>
              <a:gd name="csX2" fmla="*/ 940144 w 3205038"/>
              <a:gd name="csY2" fmla="*/ 0 h 338554"/>
              <a:gd name="csX3" fmla="*/ 1538418 w 3205038"/>
              <a:gd name="csY3" fmla="*/ 0 h 338554"/>
              <a:gd name="csX4" fmla="*/ 2040541 w 3205038"/>
              <a:gd name="csY4" fmla="*/ 0 h 338554"/>
              <a:gd name="csX5" fmla="*/ 2542663 w 3205038"/>
              <a:gd name="csY5" fmla="*/ 0 h 338554"/>
              <a:gd name="csX6" fmla="*/ 3205038 w 3205038"/>
              <a:gd name="csY6" fmla="*/ 0 h 338554"/>
              <a:gd name="csX7" fmla="*/ 3205038 w 3205038"/>
              <a:gd name="csY7" fmla="*/ 338554 h 338554"/>
              <a:gd name="csX8" fmla="*/ 2670865 w 3205038"/>
              <a:gd name="csY8" fmla="*/ 338554 h 338554"/>
              <a:gd name="csX9" fmla="*/ 2232843 w 3205038"/>
              <a:gd name="csY9" fmla="*/ 338554 h 338554"/>
              <a:gd name="csX10" fmla="*/ 1698670 w 3205038"/>
              <a:gd name="csY10" fmla="*/ 338554 h 338554"/>
              <a:gd name="csX11" fmla="*/ 1164497 w 3205038"/>
              <a:gd name="csY11" fmla="*/ 338554 h 338554"/>
              <a:gd name="csX12" fmla="*/ 662375 w 3205038"/>
              <a:gd name="csY12" fmla="*/ 338554 h 338554"/>
              <a:gd name="csX13" fmla="*/ 0 w 3205038"/>
              <a:gd name="csY13" fmla="*/ 338554 h 338554"/>
              <a:gd name="csX14" fmla="*/ 0 w 3205038"/>
              <a:gd name="csY14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205038" h="338554" extrusionOk="0">
                <a:moveTo>
                  <a:pt x="0" y="0"/>
                </a:moveTo>
                <a:cubicBezTo>
                  <a:pt x="115344" y="-23642"/>
                  <a:pt x="294114" y="58084"/>
                  <a:pt x="502123" y="0"/>
                </a:cubicBezTo>
                <a:cubicBezTo>
                  <a:pt x="710132" y="-58084"/>
                  <a:pt x="765663" y="41006"/>
                  <a:pt x="940144" y="0"/>
                </a:cubicBezTo>
                <a:cubicBezTo>
                  <a:pt x="1114625" y="-41006"/>
                  <a:pt x="1321951" y="18712"/>
                  <a:pt x="1538418" y="0"/>
                </a:cubicBezTo>
                <a:cubicBezTo>
                  <a:pt x="1754885" y="-18712"/>
                  <a:pt x="1893294" y="24720"/>
                  <a:pt x="2040541" y="0"/>
                </a:cubicBezTo>
                <a:cubicBezTo>
                  <a:pt x="2187788" y="-24720"/>
                  <a:pt x="2346194" y="37162"/>
                  <a:pt x="2542663" y="0"/>
                </a:cubicBezTo>
                <a:cubicBezTo>
                  <a:pt x="2739132" y="-37162"/>
                  <a:pt x="2948315" y="43156"/>
                  <a:pt x="3205038" y="0"/>
                </a:cubicBezTo>
                <a:cubicBezTo>
                  <a:pt x="3225545" y="88093"/>
                  <a:pt x="3176473" y="214646"/>
                  <a:pt x="3205038" y="338554"/>
                </a:cubicBezTo>
                <a:cubicBezTo>
                  <a:pt x="3022760" y="397007"/>
                  <a:pt x="2838886" y="330517"/>
                  <a:pt x="2670865" y="338554"/>
                </a:cubicBezTo>
                <a:cubicBezTo>
                  <a:pt x="2502844" y="346591"/>
                  <a:pt x="2342305" y="337837"/>
                  <a:pt x="2232843" y="338554"/>
                </a:cubicBezTo>
                <a:cubicBezTo>
                  <a:pt x="2123381" y="339271"/>
                  <a:pt x="1929476" y="304100"/>
                  <a:pt x="1698670" y="338554"/>
                </a:cubicBezTo>
                <a:cubicBezTo>
                  <a:pt x="1467864" y="373008"/>
                  <a:pt x="1360079" y="293397"/>
                  <a:pt x="1164497" y="338554"/>
                </a:cubicBezTo>
                <a:cubicBezTo>
                  <a:pt x="968915" y="383711"/>
                  <a:pt x="780607" y="294797"/>
                  <a:pt x="662375" y="338554"/>
                </a:cubicBezTo>
                <a:cubicBezTo>
                  <a:pt x="544143" y="382311"/>
                  <a:pt x="162492" y="316355"/>
                  <a:pt x="0" y="338554"/>
                </a:cubicBezTo>
                <a:cubicBezTo>
                  <a:pt x="-37002" y="193743"/>
                  <a:pt x="7527" y="145650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Probability of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one outcome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32D113-9ECA-0265-4D0E-F9C2783B64E8}"/>
              </a:ext>
            </a:extLst>
          </p:cNvPr>
          <p:cNvSpPr txBox="1"/>
          <p:nvPr/>
        </p:nvSpPr>
        <p:spPr>
          <a:xfrm>
            <a:off x="8644070" y="5898031"/>
            <a:ext cx="3205038" cy="338554"/>
          </a:xfrm>
          <a:custGeom>
            <a:avLst/>
            <a:gdLst>
              <a:gd name="csX0" fmla="*/ 0 w 3205038"/>
              <a:gd name="csY0" fmla="*/ 0 h 338554"/>
              <a:gd name="csX1" fmla="*/ 502123 w 3205038"/>
              <a:gd name="csY1" fmla="*/ 0 h 338554"/>
              <a:gd name="csX2" fmla="*/ 940144 w 3205038"/>
              <a:gd name="csY2" fmla="*/ 0 h 338554"/>
              <a:gd name="csX3" fmla="*/ 1538418 w 3205038"/>
              <a:gd name="csY3" fmla="*/ 0 h 338554"/>
              <a:gd name="csX4" fmla="*/ 2040541 w 3205038"/>
              <a:gd name="csY4" fmla="*/ 0 h 338554"/>
              <a:gd name="csX5" fmla="*/ 2542663 w 3205038"/>
              <a:gd name="csY5" fmla="*/ 0 h 338554"/>
              <a:gd name="csX6" fmla="*/ 3205038 w 3205038"/>
              <a:gd name="csY6" fmla="*/ 0 h 338554"/>
              <a:gd name="csX7" fmla="*/ 3205038 w 3205038"/>
              <a:gd name="csY7" fmla="*/ 338554 h 338554"/>
              <a:gd name="csX8" fmla="*/ 2670865 w 3205038"/>
              <a:gd name="csY8" fmla="*/ 338554 h 338554"/>
              <a:gd name="csX9" fmla="*/ 2232843 w 3205038"/>
              <a:gd name="csY9" fmla="*/ 338554 h 338554"/>
              <a:gd name="csX10" fmla="*/ 1698670 w 3205038"/>
              <a:gd name="csY10" fmla="*/ 338554 h 338554"/>
              <a:gd name="csX11" fmla="*/ 1164497 w 3205038"/>
              <a:gd name="csY11" fmla="*/ 338554 h 338554"/>
              <a:gd name="csX12" fmla="*/ 662375 w 3205038"/>
              <a:gd name="csY12" fmla="*/ 338554 h 338554"/>
              <a:gd name="csX13" fmla="*/ 0 w 3205038"/>
              <a:gd name="csY13" fmla="*/ 338554 h 338554"/>
              <a:gd name="csX14" fmla="*/ 0 w 3205038"/>
              <a:gd name="csY14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205038" h="338554" extrusionOk="0">
                <a:moveTo>
                  <a:pt x="0" y="0"/>
                </a:moveTo>
                <a:cubicBezTo>
                  <a:pt x="115344" y="-23642"/>
                  <a:pt x="294114" y="58084"/>
                  <a:pt x="502123" y="0"/>
                </a:cubicBezTo>
                <a:cubicBezTo>
                  <a:pt x="710132" y="-58084"/>
                  <a:pt x="765663" y="41006"/>
                  <a:pt x="940144" y="0"/>
                </a:cubicBezTo>
                <a:cubicBezTo>
                  <a:pt x="1114625" y="-41006"/>
                  <a:pt x="1321951" y="18712"/>
                  <a:pt x="1538418" y="0"/>
                </a:cubicBezTo>
                <a:cubicBezTo>
                  <a:pt x="1754885" y="-18712"/>
                  <a:pt x="1893294" y="24720"/>
                  <a:pt x="2040541" y="0"/>
                </a:cubicBezTo>
                <a:cubicBezTo>
                  <a:pt x="2187788" y="-24720"/>
                  <a:pt x="2346194" y="37162"/>
                  <a:pt x="2542663" y="0"/>
                </a:cubicBezTo>
                <a:cubicBezTo>
                  <a:pt x="2739132" y="-37162"/>
                  <a:pt x="2948315" y="43156"/>
                  <a:pt x="3205038" y="0"/>
                </a:cubicBezTo>
                <a:cubicBezTo>
                  <a:pt x="3225545" y="88093"/>
                  <a:pt x="3176473" y="214646"/>
                  <a:pt x="3205038" y="338554"/>
                </a:cubicBezTo>
                <a:cubicBezTo>
                  <a:pt x="3022760" y="397007"/>
                  <a:pt x="2838886" y="330517"/>
                  <a:pt x="2670865" y="338554"/>
                </a:cubicBezTo>
                <a:cubicBezTo>
                  <a:pt x="2502844" y="346591"/>
                  <a:pt x="2342305" y="337837"/>
                  <a:pt x="2232843" y="338554"/>
                </a:cubicBezTo>
                <a:cubicBezTo>
                  <a:pt x="2123381" y="339271"/>
                  <a:pt x="1929476" y="304100"/>
                  <a:pt x="1698670" y="338554"/>
                </a:cubicBezTo>
                <a:cubicBezTo>
                  <a:pt x="1467864" y="373008"/>
                  <a:pt x="1360079" y="293397"/>
                  <a:pt x="1164497" y="338554"/>
                </a:cubicBezTo>
                <a:cubicBezTo>
                  <a:pt x="968915" y="383711"/>
                  <a:pt x="780607" y="294797"/>
                  <a:pt x="662375" y="338554"/>
                </a:cubicBezTo>
                <a:cubicBezTo>
                  <a:pt x="544143" y="382311"/>
                  <a:pt x="162492" y="316355"/>
                  <a:pt x="0" y="338554"/>
                </a:cubicBezTo>
                <a:cubicBezTo>
                  <a:pt x="-37002" y="193743"/>
                  <a:pt x="7527" y="145650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Cumulative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A1B2146-20C0-D069-DB4B-07B3FFA908C2}"/>
                  </a:ext>
                </a:extLst>
              </p:cNvPr>
              <p:cNvSpPr txBox="1"/>
              <p:nvPr/>
            </p:nvSpPr>
            <p:spPr>
              <a:xfrm>
                <a:off x="307248" y="5890990"/>
                <a:ext cx="187960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Outcomes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𝑋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0, 10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A1B2146-20C0-D069-DB4B-07B3FFA90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248" y="5890990"/>
                <a:ext cx="1879601" cy="646331"/>
              </a:xfrm>
              <a:prstGeom prst="rect">
                <a:avLst/>
              </a:prstGeom>
              <a:blipFill>
                <a:blip r:embed="rId11"/>
                <a:stretch>
                  <a:fillRect t="-37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DE399E1-ED67-8B23-E9D6-0192334159EC}"/>
                  </a:ext>
                </a:extLst>
              </p:cNvPr>
              <p:cNvSpPr txBox="1"/>
              <p:nvPr/>
            </p:nvSpPr>
            <p:spPr>
              <a:xfrm>
                <a:off x="3540622" y="4116801"/>
                <a:ext cx="3065143" cy="369332"/>
              </a:xfrm>
              <a:custGeom>
                <a:avLst/>
                <a:gdLst>
                  <a:gd name="csX0" fmla="*/ 0 w 3065143"/>
                  <a:gd name="csY0" fmla="*/ 0 h 369332"/>
                  <a:gd name="csX1" fmla="*/ 480206 w 3065143"/>
                  <a:gd name="csY1" fmla="*/ 0 h 369332"/>
                  <a:gd name="csX2" fmla="*/ 899109 w 3065143"/>
                  <a:gd name="csY2" fmla="*/ 0 h 369332"/>
                  <a:gd name="csX3" fmla="*/ 1471269 w 3065143"/>
                  <a:gd name="csY3" fmla="*/ 0 h 369332"/>
                  <a:gd name="csX4" fmla="*/ 1951474 w 3065143"/>
                  <a:gd name="csY4" fmla="*/ 0 h 369332"/>
                  <a:gd name="csX5" fmla="*/ 2431680 w 3065143"/>
                  <a:gd name="csY5" fmla="*/ 0 h 369332"/>
                  <a:gd name="csX6" fmla="*/ 3065143 w 3065143"/>
                  <a:gd name="csY6" fmla="*/ 0 h 369332"/>
                  <a:gd name="csX7" fmla="*/ 3065143 w 3065143"/>
                  <a:gd name="csY7" fmla="*/ 369332 h 369332"/>
                  <a:gd name="csX8" fmla="*/ 2554286 w 3065143"/>
                  <a:gd name="csY8" fmla="*/ 369332 h 369332"/>
                  <a:gd name="csX9" fmla="*/ 2135383 w 3065143"/>
                  <a:gd name="csY9" fmla="*/ 369332 h 369332"/>
                  <a:gd name="csX10" fmla="*/ 1624526 w 3065143"/>
                  <a:gd name="csY10" fmla="*/ 369332 h 369332"/>
                  <a:gd name="csX11" fmla="*/ 1113669 w 3065143"/>
                  <a:gd name="csY11" fmla="*/ 369332 h 369332"/>
                  <a:gd name="csX12" fmla="*/ 633463 w 3065143"/>
                  <a:gd name="csY12" fmla="*/ 369332 h 369332"/>
                  <a:gd name="csX13" fmla="*/ 0 w 3065143"/>
                  <a:gd name="csY13" fmla="*/ 369332 h 369332"/>
                  <a:gd name="csX14" fmla="*/ 0 w 3065143"/>
                  <a:gd name="csY14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3065143" h="369332" extrusionOk="0">
                    <a:moveTo>
                      <a:pt x="0" y="0"/>
                    </a:moveTo>
                    <a:cubicBezTo>
                      <a:pt x="116775" y="-11627"/>
                      <a:pt x="328683" y="1465"/>
                      <a:pt x="480206" y="0"/>
                    </a:cubicBezTo>
                    <a:cubicBezTo>
                      <a:pt x="631729" y="-1465"/>
                      <a:pt x="689908" y="889"/>
                      <a:pt x="899109" y="0"/>
                    </a:cubicBezTo>
                    <a:cubicBezTo>
                      <a:pt x="1108310" y="-889"/>
                      <a:pt x="1306456" y="37618"/>
                      <a:pt x="1471269" y="0"/>
                    </a:cubicBezTo>
                    <a:cubicBezTo>
                      <a:pt x="1636082" y="-37618"/>
                      <a:pt x="1811560" y="29262"/>
                      <a:pt x="1951474" y="0"/>
                    </a:cubicBezTo>
                    <a:cubicBezTo>
                      <a:pt x="2091388" y="-29262"/>
                      <a:pt x="2307908" y="56120"/>
                      <a:pt x="2431680" y="0"/>
                    </a:cubicBezTo>
                    <a:cubicBezTo>
                      <a:pt x="2555452" y="-56120"/>
                      <a:pt x="2903402" y="43944"/>
                      <a:pt x="3065143" y="0"/>
                    </a:cubicBezTo>
                    <a:cubicBezTo>
                      <a:pt x="3086822" y="103222"/>
                      <a:pt x="3031982" y="284950"/>
                      <a:pt x="3065143" y="369332"/>
                    </a:cubicBezTo>
                    <a:cubicBezTo>
                      <a:pt x="2881678" y="382733"/>
                      <a:pt x="2794015" y="322989"/>
                      <a:pt x="2554286" y="369332"/>
                    </a:cubicBezTo>
                    <a:cubicBezTo>
                      <a:pt x="2314557" y="415675"/>
                      <a:pt x="2311903" y="344696"/>
                      <a:pt x="2135383" y="369332"/>
                    </a:cubicBezTo>
                    <a:cubicBezTo>
                      <a:pt x="1958863" y="393968"/>
                      <a:pt x="1729396" y="339581"/>
                      <a:pt x="1624526" y="369332"/>
                    </a:cubicBezTo>
                    <a:cubicBezTo>
                      <a:pt x="1519656" y="399083"/>
                      <a:pt x="1218177" y="345131"/>
                      <a:pt x="1113669" y="369332"/>
                    </a:cubicBezTo>
                    <a:cubicBezTo>
                      <a:pt x="1009161" y="393533"/>
                      <a:pt x="735131" y="345437"/>
                      <a:pt x="633463" y="369332"/>
                    </a:cubicBezTo>
                    <a:cubicBezTo>
                      <a:pt x="531795" y="393227"/>
                      <a:pt x="290156" y="298964"/>
                      <a:pt x="0" y="369332"/>
                    </a:cubicBezTo>
                    <a:cubicBezTo>
                      <a:pt x="-8026" y="274434"/>
                      <a:pt x="20480" y="124469"/>
                      <a:pt x="0" y="0"/>
                    </a:cubicBez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= winnings from the lottery</a:t>
                </a: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DE399E1-ED67-8B23-E9D6-019233415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22" y="4116801"/>
                <a:ext cx="3065143" cy="369332"/>
              </a:xfrm>
              <a:prstGeom prst="rect">
                <a:avLst/>
              </a:prstGeom>
              <a:blipFill>
                <a:blip r:embed="rId12"/>
                <a:stretch>
                  <a:fillRect r="-986" b="-17391"/>
                </a:stretch>
              </a:blip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3065143"/>
                          <a:gd name="csY0" fmla="*/ 0 h 369332"/>
                          <a:gd name="csX1" fmla="*/ 480206 w 3065143"/>
                          <a:gd name="csY1" fmla="*/ 0 h 369332"/>
                          <a:gd name="csX2" fmla="*/ 899109 w 3065143"/>
                          <a:gd name="csY2" fmla="*/ 0 h 369332"/>
                          <a:gd name="csX3" fmla="*/ 1471269 w 3065143"/>
                          <a:gd name="csY3" fmla="*/ 0 h 369332"/>
                          <a:gd name="csX4" fmla="*/ 1951474 w 3065143"/>
                          <a:gd name="csY4" fmla="*/ 0 h 369332"/>
                          <a:gd name="csX5" fmla="*/ 2431680 w 3065143"/>
                          <a:gd name="csY5" fmla="*/ 0 h 369332"/>
                          <a:gd name="csX6" fmla="*/ 3065143 w 3065143"/>
                          <a:gd name="csY6" fmla="*/ 0 h 369332"/>
                          <a:gd name="csX7" fmla="*/ 3065143 w 3065143"/>
                          <a:gd name="csY7" fmla="*/ 369332 h 369332"/>
                          <a:gd name="csX8" fmla="*/ 2554286 w 3065143"/>
                          <a:gd name="csY8" fmla="*/ 369332 h 369332"/>
                          <a:gd name="csX9" fmla="*/ 2135383 w 3065143"/>
                          <a:gd name="csY9" fmla="*/ 369332 h 369332"/>
                          <a:gd name="csX10" fmla="*/ 1624526 w 3065143"/>
                          <a:gd name="csY10" fmla="*/ 369332 h 369332"/>
                          <a:gd name="csX11" fmla="*/ 1113669 w 3065143"/>
                          <a:gd name="csY11" fmla="*/ 369332 h 369332"/>
                          <a:gd name="csX12" fmla="*/ 633463 w 3065143"/>
                          <a:gd name="csY12" fmla="*/ 369332 h 369332"/>
                          <a:gd name="csX13" fmla="*/ 0 w 3065143"/>
                          <a:gd name="csY13" fmla="*/ 369332 h 369332"/>
                          <a:gd name="csX14" fmla="*/ 0 w 3065143"/>
                          <a:gd name="csY14" fmla="*/ 0 h 369332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</a:cxnLst>
                        <a:rect l="l" t="t" r="r" b="b"/>
                        <a:pathLst>
                          <a:path w="3065143" h="369332" extrusionOk="0">
                            <a:moveTo>
                              <a:pt x="0" y="0"/>
                            </a:moveTo>
                            <a:cubicBezTo>
                              <a:pt x="116775" y="-11627"/>
                              <a:pt x="328683" y="1465"/>
                              <a:pt x="480206" y="0"/>
                            </a:cubicBezTo>
                            <a:cubicBezTo>
                              <a:pt x="631729" y="-1465"/>
                              <a:pt x="689908" y="889"/>
                              <a:pt x="899109" y="0"/>
                            </a:cubicBezTo>
                            <a:cubicBezTo>
                              <a:pt x="1108310" y="-889"/>
                              <a:pt x="1306456" y="37618"/>
                              <a:pt x="1471269" y="0"/>
                            </a:cubicBezTo>
                            <a:cubicBezTo>
                              <a:pt x="1636082" y="-37618"/>
                              <a:pt x="1811560" y="29262"/>
                              <a:pt x="1951474" y="0"/>
                            </a:cubicBezTo>
                            <a:cubicBezTo>
                              <a:pt x="2091388" y="-29262"/>
                              <a:pt x="2307908" y="56120"/>
                              <a:pt x="2431680" y="0"/>
                            </a:cubicBezTo>
                            <a:cubicBezTo>
                              <a:pt x="2555452" y="-56120"/>
                              <a:pt x="2903402" y="43944"/>
                              <a:pt x="3065143" y="0"/>
                            </a:cubicBezTo>
                            <a:cubicBezTo>
                              <a:pt x="3086822" y="103222"/>
                              <a:pt x="3031982" y="284950"/>
                              <a:pt x="3065143" y="369332"/>
                            </a:cubicBezTo>
                            <a:cubicBezTo>
                              <a:pt x="2881678" y="382733"/>
                              <a:pt x="2794015" y="322989"/>
                              <a:pt x="2554286" y="369332"/>
                            </a:cubicBezTo>
                            <a:cubicBezTo>
                              <a:pt x="2314557" y="415675"/>
                              <a:pt x="2311903" y="344696"/>
                              <a:pt x="2135383" y="369332"/>
                            </a:cubicBezTo>
                            <a:cubicBezTo>
                              <a:pt x="1958863" y="393968"/>
                              <a:pt x="1729396" y="339581"/>
                              <a:pt x="1624526" y="369332"/>
                            </a:cubicBezTo>
                            <a:cubicBezTo>
                              <a:pt x="1519656" y="399083"/>
                              <a:pt x="1218177" y="345131"/>
                              <a:pt x="1113669" y="369332"/>
                            </a:cubicBezTo>
                            <a:cubicBezTo>
                              <a:pt x="1009161" y="393533"/>
                              <a:pt x="735131" y="345437"/>
                              <a:pt x="633463" y="369332"/>
                            </a:cubicBezTo>
                            <a:cubicBezTo>
                              <a:pt x="531795" y="393227"/>
                              <a:pt x="290156" y="298964"/>
                              <a:pt x="0" y="369332"/>
                            </a:cubicBezTo>
                            <a:cubicBezTo>
                              <a:pt x="-8026" y="274434"/>
                              <a:pt x="20480" y="124469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831B7FAC-9F69-133F-86E8-1D9BD97428C0}"/>
              </a:ext>
            </a:extLst>
          </p:cNvPr>
          <p:cNvSpPr txBox="1"/>
          <p:nvPr/>
        </p:nvSpPr>
        <p:spPr>
          <a:xfrm>
            <a:off x="6605766" y="4216858"/>
            <a:ext cx="3556202" cy="338554"/>
          </a:xfrm>
          <a:custGeom>
            <a:avLst/>
            <a:gdLst>
              <a:gd name="csX0" fmla="*/ 0 w 3556202"/>
              <a:gd name="csY0" fmla="*/ 0 h 338554"/>
              <a:gd name="csX1" fmla="*/ 557138 w 3556202"/>
              <a:gd name="csY1" fmla="*/ 0 h 338554"/>
              <a:gd name="csX2" fmla="*/ 1043153 w 3556202"/>
              <a:gd name="csY2" fmla="*/ 0 h 338554"/>
              <a:gd name="csX3" fmla="*/ 1706977 w 3556202"/>
              <a:gd name="csY3" fmla="*/ 0 h 338554"/>
              <a:gd name="csX4" fmla="*/ 2264115 w 3556202"/>
              <a:gd name="csY4" fmla="*/ 0 h 338554"/>
              <a:gd name="csX5" fmla="*/ 2821254 w 3556202"/>
              <a:gd name="csY5" fmla="*/ 0 h 338554"/>
              <a:gd name="csX6" fmla="*/ 3556202 w 3556202"/>
              <a:gd name="csY6" fmla="*/ 0 h 338554"/>
              <a:gd name="csX7" fmla="*/ 3556202 w 3556202"/>
              <a:gd name="csY7" fmla="*/ 338554 h 338554"/>
              <a:gd name="csX8" fmla="*/ 2963502 w 3556202"/>
              <a:gd name="csY8" fmla="*/ 338554 h 338554"/>
              <a:gd name="csX9" fmla="*/ 2477487 w 3556202"/>
              <a:gd name="csY9" fmla="*/ 338554 h 338554"/>
              <a:gd name="csX10" fmla="*/ 1884787 w 3556202"/>
              <a:gd name="csY10" fmla="*/ 338554 h 338554"/>
              <a:gd name="csX11" fmla="*/ 1292087 w 3556202"/>
              <a:gd name="csY11" fmla="*/ 338554 h 338554"/>
              <a:gd name="csX12" fmla="*/ 734948 w 3556202"/>
              <a:gd name="csY12" fmla="*/ 338554 h 338554"/>
              <a:gd name="csX13" fmla="*/ 0 w 3556202"/>
              <a:gd name="csY13" fmla="*/ 338554 h 338554"/>
              <a:gd name="csX14" fmla="*/ 0 w 3556202"/>
              <a:gd name="csY14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556202" h="338554" extrusionOk="0">
                <a:moveTo>
                  <a:pt x="0" y="0"/>
                </a:moveTo>
                <a:cubicBezTo>
                  <a:pt x="142057" y="-64777"/>
                  <a:pt x="351864" y="32185"/>
                  <a:pt x="557138" y="0"/>
                </a:cubicBezTo>
                <a:cubicBezTo>
                  <a:pt x="762412" y="-32185"/>
                  <a:pt x="941353" y="6399"/>
                  <a:pt x="1043153" y="0"/>
                </a:cubicBezTo>
                <a:cubicBezTo>
                  <a:pt x="1144954" y="-6399"/>
                  <a:pt x="1437400" y="58273"/>
                  <a:pt x="1706977" y="0"/>
                </a:cubicBezTo>
                <a:cubicBezTo>
                  <a:pt x="1976554" y="-58273"/>
                  <a:pt x="2082473" y="59620"/>
                  <a:pt x="2264115" y="0"/>
                </a:cubicBezTo>
                <a:cubicBezTo>
                  <a:pt x="2445757" y="-59620"/>
                  <a:pt x="2678307" y="18198"/>
                  <a:pt x="2821254" y="0"/>
                </a:cubicBezTo>
                <a:cubicBezTo>
                  <a:pt x="2964201" y="-18198"/>
                  <a:pt x="3220050" y="51522"/>
                  <a:pt x="3556202" y="0"/>
                </a:cubicBezTo>
                <a:cubicBezTo>
                  <a:pt x="3576709" y="88093"/>
                  <a:pt x="3527637" y="214646"/>
                  <a:pt x="3556202" y="338554"/>
                </a:cubicBezTo>
                <a:cubicBezTo>
                  <a:pt x="3395135" y="373637"/>
                  <a:pt x="3206569" y="306523"/>
                  <a:pt x="2963502" y="338554"/>
                </a:cubicBezTo>
                <a:cubicBezTo>
                  <a:pt x="2720435" y="370585"/>
                  <a:pt x="2717249" y="303706"/>
                  <a:pt x="2477487" y="338554"/>
                </a:cubicBezTo>
                <a:cubicBezTo>
                  <a:pt x="2237726" y="373402"/>
                  <a:pt x="2027029" y="334736"/>
                  <a:pt x="1884787" y="338554"/>
                </a:cubicBezTo>
                <a:cubicBezTo>
                  <a:pt x="1742545" y="342372"/>
                  <a:pt x="1568353" y="269804"/>
                  <a:pt x="1292087" y="338554"/>
                </a:cubicBezTo>
                <a:cubicBezTo>
                  <a:pt x="1015821" y="407304"/>
                  <a:pt x="867981" y="327227"/>
                  <a:pt x="734948" y="338554"/>
                </a:cubicBezTo>
                <a:cubicBezTo>
                  <a:pt x="601915" y="349881"/>
                  <a:pt x="362281" y="287584"/>
                  <a:pt x="0" y="338554"/>
                </a:cubicBezTo>
                <a:cubicBezTo>
                  <a:pt x="-37002" y="193743"/>
                  <a:pt x="7527" y="145650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…continuous random variable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3FD523A-A03B-01F7-CFE1-FC82468C59BC}"/>
                  </a:ext>
                </a:extLst>
              </p:cNvPr>
              <p:cNvSpPr txBox="1"/>
              <p:nvPr/>
            </p:nvSpPr>
            <p:spPr>
              <a:xfrm>
                <a:off x="3540623" y="5276327"/>
                <a:ext cx="15406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=1</m:t>
                              </m:r>
                            </m:e>
                          </m:d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=0</m:t>
                          </m:r>
                        </m:e>
                      </m:func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3FD523A-A03B-01F7-CFE1-FC82468C5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23" y="5276327"/>
                <a:ext cx="1540615" cy="276999"/>
              </a:xfrm>
              <a:prstGeom prst="rect">
                <a:avLst/>
              </a:prstGeom>
              <a:blipFill>
                <a:blip r:embed="rId13"/>
                <a:stretch>
                  <a:fillRect l="-3557" r="-3162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1E3B08C-63C1-6C95-E2A1-0AA9659D0B72}"/>
                  </a:ext>
                </a:extLst>
              </p:cNvPr>
              <p:cNvSpPr txBox="1"/>
              <p:nvPr/>
            </p:nvSpPr>
            <p:spPr>
              <a:xfrm>
                <a:off x="3540622" y="6352293"/>
                <a:ext cx="17169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≤1</m:t>
                              </m:r>
                            </m:e>
                          </m:d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=0.1</m:t>
                          </m:r>
                        </m:e>
                      </m:func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1E3B08C-63C1-6C95-E2A1-0AA9659D0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22" y="6352293"/>
                <a:ext cx="1716944" cy="276999"/>
              </a:xfrm>
              <a:prstGeom prst="rect">
                <a:avLst/>
              </a:prstGeom>
              <a:blipFill>
                <a:blip r:embed="rId14"/>
                <a:stretch>
                  <a:fillRect l="-3203" r="-3203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6891A32-3CEA-A170-C973-C382FD896B62}"/>
                  </a:ext>
                </a:extLst>
              </p:cNvPr>
              <p:cNvSpPr txBox="1"/>
              <p:nvPr/>
            </p:nvSpPr>
            <p:spPr>
              <a:xfrm>
                <a:off x="5721743" y="6352292"/>
                <a:ext cx="10956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IN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F</m:t>
                          </m:r>
                        </m:fName>
                        <m:e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e>
                          </m:d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=0.1</m:t>
                          </m:r>
                        </m:e>
                      </m:func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6891A32-3CEA-A170-C973-C382FD896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1743" y="6352292"/>
                <a:ext cx="1095685" cy="276999"/>
              </a:xfrm>
              <a:prstGeom prst="rect">
                <a:avLst/>
              </a:prstGeom>
              <a:blipFill>
                <a:blip r:embed="rId15"/>
                <a:stretch>
                  <a:fillRect l="-5028" r="-5587" b="-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0550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12" grpId="0"/>
      <p:bldP spid="14" grpId="0" animBg="1"/>
      <p:bldP spid="15" grpId="0" animBg="1"/>
      <p:bldP spid="18" grpId="0" animBg="1"/>
      <p:bldP spid="19" grpId="0" animBg="1"/>
      <p:bldP spid="20" grpId="0"/>
      <p:bldP spid="21" grpId="0" animBg="1"/>
      <p:bldP spid="22" grpId="0" animBg="1"/>
      <p:bldP spid="23" grpId="0"/>
      <p:bldP spid="24" grpId="0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90D172-F65B-8D1D-460A-B3AE38052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6C79C34-B5EC-BFE0-45AC-8089D422F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16E49C99-359F-45AA-5A4A-6ACE581E7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76269CB-34B6-5311-362E-293084BF03BF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60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F24F1FBC-2623-AFB2-883F-1C6A02CC07E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A0CC719-3DFA-B577-85C3-239E5346EC13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MATH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00D4F17-0964-AF5C-7F59-EAF5C7F29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Cumulative Distribution Function (CDF)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220E3A4-2060-2CBE-B99E-9B90DC22CE1A}"/>
              </a:ext>
            </a:extLst>
          </p:cNvPr>
          <p:cNvGrpSpPr/>
          <p:nvPr/>
        </p:nvGrpSpPr>
        <p:grpSpPr>
          <a:xfrm>
            <a:off x="669036" y="1930834"/>
            <a:ext cx="5759758" cy="3655516"/>
            <a:chOff x="3944959" y="2019527"/>
            <a:chExt cx="5759758" cy="3655516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2" name="Chart 11">
                  <a:extLst>
                    <a:ext uri="{FF2B5EF4-FFF2-40B4-BE49-F238E27FC236}">
                      <a16:creationId xmlns:a16="http://schemas.microsoft.com/office/drawing/2014/main" id="{16C7485F-365F-D7EC-5EDA-67CDC508CF23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4309218" y="2055813"/>
                <a:ext cx="5395499" cy="3197674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3"/>
                </a:graphicData>
              </a:graphic>
            </p:graphicFrame>
          </mc:Choice>
          <mc:Fallback xmlns="">
            <p:graphicFrame>
              <p:nvGraphicFramePr>
                <p:cNvPr id="12" name="Chart 11">
                  <a:extLst>
                    <a:ext uri="{FF2B5EF4-FFF2-40B4-BE49-F238E27FC236}">
                      <a16:creationId xmlns:a16="http://schemas.microsoft.com/office/drawing/2014/main" id="{16C7485F-365F-D7EC-5EDA-67CDC508CF23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059817033"/>
                    </p:ext>
                  </p:extLst>
                </p:nvPr>
              </p:nvGraphicFramePr>
              <p:xfrm>
                <a:off x="4309218" y="2055813"/>
                <a:ext cx="5395499" cy="3197674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4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AE719E9-3C40-1DE6-EF55-83217D254596}"/>
                    </a:ext>
                  </a:extLst>
                </p:cNvPr>
                <p:cNvSpPr txBox="1"/>
                <p:nvPr/>
              </p:nvSpPr>
              <p:spPr>
                <a:xfrm>
                  <a:off x="6041501" y="5305711"/>
                  <a:ext cx="19309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Outcome (</a:t>
                  </a:r>
                  <a14:m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</m:oMath>
                  </a14:m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AE719E9-3C40-1DE6-EF55-83217D2545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1501" y="5305711"/>
                  <a:ext cx="1930932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8333" b="-2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0F93B72-1130-AA52-A284-A023D01521AF}"/>
                    </a:ext>
                  </a:extLst>
                </p:cNvPr>
                <p:cNvSpPr txBox="1"/>
                <p:nvPr/>
              </p:nvSpPr>
              <p:spPr>
                <a:xfrm rot="16200000">
                  <a:off x="2549075" y="3415411"/>
                  <a:ext cx="31610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Cumulative Probability (</a:t>
                  </a:r>
                  <a14:m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</m:oMath>
                  </a14:m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0F93B72-1130-AA52-A284-A023D01521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549075" y="3415411"/>
                  <a:ext cx="3161099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8333" t="-193" r="-28333" b="-1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7107DD0-4090-EAA6-64CA-98DB0BFD3E88}"/>
                  </a:ext>
                </a:extLst>
              </p:cNvPr>
              <p:cNvSpPr txBox="1"/>
              <p:nvPr/>
            </p:nvSpPr>
            <p:spPr>
              <a:xfrm>
                <a:off x="7222947" y="2228290"/>
                <a:ext cx="14039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Outcome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7107DD0-4090-EAA6-64CA-98DB0BFD3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2947" y="2228290"/>
                <a:ext cx="1403927" cy="369332"/>
              </a:xfrm>
              <a:prstGeom prst="rect">
                <a:avLst/>
              </a:prstGeom>
              <a:blipFill>
                <a:blip r:embed="rId7"/>
                <a:stretch>
                  <a:fillRect l="-3913" t="-8333" b="-2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7768759-F6EA-C9D9-B000-07060FDCADB1}"/>
                  </a:ext>
                </a:extLst>
              </p:cNvPr>
              <p:cNvSpPr txBox="1"/>
              <p:nvPr/>
            </p:nvSpPr>
            <p:spPr>
              <a:xfrm>
                <a:off x="9012918" y="2289923"/>
                <a:ext cx="14804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−3≤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≤+3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7768759-F6EA-C9D9-B000-07060FDCA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2918" y="2289923"/>
                <a:ext cx="1480470" cy="276999"/>
              </a:xfrm>
              <a:prstGeom prst="rect">
                <a:avLst/>
              </a:prstGeom>
              <a:blipFill>
                <a:blip r:embed="rId8"/>
                <a:stretch>
                  <a:fillRect l="-412" r="-3704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67F1FE20-1F14-F0D3-EE06-EF87A9C3D117}"/>
              </a:ext>
            </a:extLst>
          </p:cNvPr>
          <p:cNvGrpSpPr/>
          <p:nvPr/>
        </p:nvGrpSpPr>
        <p:grpSpPr>
          <a:xfrm>
            <a:off x="2578317" y="2278747"/>
            <a:ext cx="2091912" cy="2552045"/>
            <a:chOff x="2578317" y="2278747"/>
            <a:chExt cx="2091912" cy="255204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1D897D9-D812-2A87-5031-3638D512FAB4}"/>
                </a:ext>
              </a:extLst>
            </p:cNvPr>
            <p:cNvGrpSpPr/>
            <p:nvPr/>
          </p:nvGrpSpPr>
          <p:grpSpPr>
            <a:xfrm>
              <a:off x="2578317" y="2278747"/>
              <a:ext cx="2091912" cy="2552045"/>
              <a:chOff x="2578317" y="2278747"/>
              <a:chExt cx="2091912" cy="2552045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FF8AF33-6C97-B3EE-D607-80024655C51A}"/>
                  </a:ext>
                </a:extLst>
              </p:cNvPr>
              <p:cNvSpPr/>
              <p:nvPr/>
            </p:nvSpPr>
            <p:spPr>
              <a:xfrm>
                <a:off x="4506328" y="4675517"/>
                <a:ext cx="163901" cy="155275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4CA7D0CA-4F53-A95B-5070-4AC4437B9A3A}"/>
                      </a:ext>
                    </a:extLst>
                  </p:cNvPr>
                  <p:cNvSpPr txBox="1"/>
                  <p:nvPr/>
                </p:nvSpPr>
                <p:spPr>
                  <a:xfrm>
                    <a:off x="2578317" y="2278747"/>
                    <a:ext cx="1886670" cy="276999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e>
                          </m:d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func>
                            <m:func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sz="18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≤1</m:t>
                                  </m:r>
                                </m:e>
                              </m:d>
                            </m:e>
                          </m:func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70C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4CA7D0CA-4F53-A95B-5070-4AC4437B9A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78317" y="2278747"/>
                    <a:ext cx="1886670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589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7F8FA82B-6A71-473F-F95C-54A7CA4045A8}"/>
                  </a:ext>
                </a:extLst>
              </p:cNvPr>
              <p:cNvSpPr/>
              <p:nvPr/>
            </p:nvSpPr>
            <p:spPr>
              <a:xfrm>
                <a:off x="4501852" y="2488749"/>
                <a:ext cx="163901" cy="155275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CB0FA7D-F661-EB0D-2F00-FFA2FA2A9382}"/>
                </a:ext>
              </a:extLst>
            </p:cNvPr>
            <p:cNvCxnSpPr>
              <a:cxnSpLocks/>
              <a:stCxn id="24" idx="4"/>
              <a:endCxn id="18" idx="0"/>
            </p:cNvCxnSpPr>
            <p:nvPr/>
          </p:nvCxnSpPr>
          <p:spPr>
            <a:xfrm>
              <a:off x="4583803" y="2644024"/>
              <a:ext cx="4476" cy="2031493"/>
            </a:xfrm>
            <a:prstGeom prst="line">
              <a:avLst/>
            </a:prstGeom>
            <a:ln>
              <a:solidFill>
                <a:srgbClr val="0070C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E40CC376-F6DD-904F-C880-3A38290C4949}"/>
              </a:ext>
            </a:extLst>
          </p:cNvPr>
          <p:cNvSpPr/>
          <p:nvPr/>
        </p:nvSpPr>
        <p:spPr>
          <a:xfrm>
            <a:off x="2813889" y="4675517"/>
            <a:ext cx="163901" cy="15527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AACA887-1B28-B682-6225-06E533C23073}"/>
                  </a:ext>
                </a:extLst>
              </p:cNvPr>
              <p:cNvSpPr txBox="1"/>
              <p:nvPr/>
            </p:nvSpPr>
            <p:spPr>
              <a:xfrm>
                <a:off x="343246" y="3947357"/>
                <a:ext cx="2228559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unc>
                        <m:func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≤−1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AACA887-1B28-B682-6225-06E533C23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46" y="3947357"/>
                <a:ext cx="2228559" cy="276999"/>
              </a:xfrm>
              <a:prstGeom prst="rect">
                <a:avLst/>
              </a:prstGeom>
              <a:blipFill>
                <a:blip r:embed="rId10"/>
                <a:stretch>
                  <a:fillRect l="-2186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Oval 29">
            <a:extLst>
              <a:ext uri="{FF2B5EF4-FFF2-40B4-BE49-F238E27FC236}">
                <a16:creationId xmlns:a16="http://schemas.microsoft.com/office/drawing/2014/main" id="{31CEC708-692B-74D4-363D-AEA585D3483D}"/>
              </a:ext>
            </a:extLst>
          </p:cNvPr>
          <p:cNvSpPr/>
          <p:nvPr/>
        </p:nvSpPr>
        <p:spPr>
          <a:xfrm>
            <a:off x="2813889" y="4243810"/>
            <a:ext cx="163901" cy="155275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92B17E1-F609-8099-D73E-C88A40649C22}"/>
              </a:ext>
            </a:extLst>
          </p:cNvPr>
          <p:cNvCxnSpPr>
            <a:cxnSpLocks/>
            <a:stCxn id="30" idx="4"/>
          </p:cNvCxnSpPr>
          <p:nvPr/>
        </p:nvCxnSpPr>
        <p:spPr>
          <a:xfrm>
            <a:off x="2895840" y="4399085"/>
            <a:ext cx="4475" cy="332116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B209385-9745-CA54-32DE-F98DE878003F}"/>
                  </a:ext>
                </a:extLst>
              </p:cNvPr>
              <p:cNvSpPr txBox="1"/>
              <p:nvPr/>
            </p:nvSpPr>
            <p:spPr>
              <a:xfrm>
                <a:off x="278623" y="5426413"/>
                <a:ext cx="1119153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−3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B209385-9745-CA54-32DE-F98DE8780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23" y="5426413"/>
                <a:ext cx="1119153" cy="276999"/>
              </a:xfrm>
              <a:prstGeom prst="rect">
                <a:avLst/>
              </a:prstGeom>
              <a:blipFill>
                <a:blip r:embed="rId11"/>
                <a:stretch>
                  <a:fillRect l="-4918" r="-4918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C262CCB-C269-8DEC-8AE2-F0D5578A5C72}"/>
                  </a:ext>
                </a:extLst>
              </p:cNvPr>
              <p:cNvSpPr txBox="1"/>
              <p:nvPr/>
            </p:nvSpPr>
            <p:spPr>
              <a:xfrm>
                <a:off x="6233477" y="1744889"/>
                <a:ext cx="1119153" cy="27699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+3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C262CCB-C269-8DEC-8AE2-F0D5578A5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477" y="1744889"/>
                <a:ext cx="1119153" cy="276999"/>
              </a:xfrm>
              <a:prstGeom prst="rect">
                <a:avLst/>
              </a:prstGeom>
              <a:blipFill>
                <a:blip r:embed="rId12"/>
                <a:stretch>
                  <a:fillRect l="-4918" r="-4918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7BA73D1C-C9D7-2F6D-3539-6BA551665C64}"/>
              </a:ext>
            </a:extLst>
          </p:cNvPr>
          <p:cNvSpPr txBox="1"/>
          <p:nvPr/>
        </p:nvSpPr>
        <p:spPr>
          <a:xfrm>
            <a:off x="9012918" y="1492707"/>
            <a:ext cx="1759858" cy="369332"/>
          </a:xfrm>
          <a:custGeom>
            <a:avLst/>
            <a:gdLst>
              <a:gd name="csX0" fmla="*/ 0 w 1759858"/>
              <a:gd name="csY0" fmla="*/ 0 h 369332"/>
              <a:gd name="csX1" fmla="*/ 621816 w 1759858"/>
              <a:gd name="csY1" fmla="*/ 0 h 369332"/>
              <a:gd name="csX2" fmla="*/ 1226034 w 1759858"/>
              <a:gd name="csY2" fmla="*/ 0 h 369332"/>
              <a:gd name="csX3" fmla="*/ 1759858 w 1759858"/>
              <a:gd name="csY3" fmla="*/ 0 h 369332"/>
              <a:gd name="csX4" fmla="*/ 1759858 w 1759858"/>
              <a:gd name="csY4" fmla="*/ 369332 h 369332"/>
              <a:gd name="csX5" fmla="*/ 1208436 w 1759858"/>
              <a:gd name="csY5" fmla="*/ 369332 h 369332"/>
              <a:gd name="csX6" fmla="*/ 621816 w 1759858"/>
              <a:gd name="csY6" fmla="*/ 369332 h 369332"/>
              <a:gd name="csX7" fmla="*/ 0 w 1759858"/>
              <a:gd name="csY7" fmla="*/ 369332 h 369332"/>
              <a:gd name="csX8" fmla="*/ 0 w 1759858"/>
              <a:gd name="csY8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59858" h="369332" fill="none" extrusionOk="0">
                <a:moveTo>
                  <a:pt x="0" y="0"/>
                </a:moveTo>
                <a:cubicBezTo>
                  <a:pt x="129592" y="-44265"/>
                  <a:pt x="439266" y="23152"/>
                  <a:pt x="621816" y="0"/>
                </a:cubicBezTo>
                <a:cubicBezTo>
                  <a:pt x="804366" y="-23152"/>
                  <a:pt x="983472" y="12970"/>
                  <a:pt x="1226034" y="0"/>
                </a:cubicBezTo>
                <a:cubicBezTo>
                  <a:pt x="1468596" y="-12970"/>
                  <a:pt x="1558266" y="62449"/>
                  <a:pt x="1759858" y="0"/>
                </a:cubicBezTo>
                <a:cubicBezTo>
                  <a:pt x="1763896" y="158233"/>
                  <a:pt x="1723564" y="205698"/>
                  <a:pt x="1759858" y="369332"/>
                </a:cubicBezTo>
                <a:cubicBezTo>
                  <a:pt x="1633974" y="414939"/>
                  <a:pt x="1441336" y="329476"/>
                  <a:pt x="1208436" y="369332"/>
                </a:cubicBezTo>
                <a:cubicBezTo>
                  <a:pt x="975536" y="409188"/>
                  <a:pt x="792293" y="300664"/>
                  <a:pt x="621816" y="369332"/>
                </a:cubicBezTo>
                <a:cubicBezTo>
                  <a:pt x="451339" y="438000"/>
                  <a:pt x="218539" y="311318"/>
                  <a:pt x="0" y="369332"/>
                </a:cubicBezTo>
                <a:cubicBezTo>
                  <a:pt x="-34018" y="280347"/>
                  <a:pt x="27486" y="156341"/>
                  <a:pt x="0" y="0"/>
                </a:cubicBezTo>
                <a:close/>
              </a:path>
              <a:path w="1759858" h="369332" stroke="0" extrusionOk="0">
                <a:moveTo>
                  <a:pt x="0" y="0"/>
                </a:moveTo>
                <a:cubicBezTo>
                  <a:pt x="162794" y="-61914"/>
                  <a:pt x="325319" y="31406"/>
                  <a:pt x="569021" y="0"/>
                </a:cubicBezTo>
                <a:cubicBezTo>
                  <a:pt x="812723" y="-31406"/>
                  <a:pt x="983546" y="39402"/>
                  <a:pt x="1102844" y="0"/>
                </a:cubicBezTo>
                <a:cubicBezTo>
                  <a:pt x="1222142" y="-39402"/>
                  <a:pt x="1624873" y="37680"/>
                  <a:pt x="1759858" y="0"/>
                </a:cubicBezTo>
                <a:cubicBezTo>
                  <a:pt x="1795446" y="113493"/>
                  <a:pt x="1733051" y="197069"/>
                  <a:pt x="1759858" y="369332"/>
                </a:cubicBezTo>
                <a:cubicBezTo>
                  <a:pt x="1648667" y="377216"/>
                  <a:pt x="1335766" y="365400"/>
                  <a:pt x="1208436" y="369332"/>
                </a:cubicBezTo>
                <a:cubicBezTo>
                  <a:pt x="1081106" y="373264"/>
                  <a:pt x="792634" y="301766"/>
                  <a:pt x="586619" y="369332"/>
                </a:cubicBezTo>
                <a:cubicBezTo>
                  <a:pt x="380604" y="436898"/>
                  <a:pt x="148272" y="362852"/>
                  <a:pt x="0" y="369332"/>
                </a:cubicBezTo>
                <a:cubicBezTo>
                  <a:pt x="-22716" y="225711"/>
                  <a:pt x="27200" y="158340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Normal CDF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46C6115-5B79-BBB6-E366-55B6A7BEE380}"/>
                  </a:ext>
                </a:extLst>
              </p:cNvPr>
              <p:cNvSpPr txBox="1"/>
              <p:nvPr/>
            </p:nvSpPr>
            <p:spPr>
              <a:xfrm>
                <a:off x="6793053" y="5524217"/>
                <a:ext cx="20174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46C6115-5B79-BBB6-E366-55B6A7BEE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053" y="5524217"/>
                <a:ext cx="2017475" cy="276999"/>
              </a:xfrm>
              <a:prstGeom prst="rect">
                <a:avLst/>
              </a:prstGeom>
              <a:blipFill>
                <a:blip r:embed="rId13"/>
                <a:stretch>
                  <a:fillRect l="-2417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2B367FC-8FE0-70D5-7BB2-F05C0D58905F}"/>
                  </a:ext>
                </a:extLst>
              </p:cNvPr>
              <p:cNvSpPr txBox="1"/>
              <p:nvPr/>
            </p:nvSpPr>
            <p:spPr>
              <a:xfrm>
                <a:off x="9418670" y="5518997"/>
                <a:ext cx="21042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2B367FC-8FE0-70D5-7BB2-F05C0D589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8670" y="5518997"/>
                <a:ext cx="2104294" cy="276999"/>
              </a:xfrm>
              <a:prstGeom prst="rect">
                <a:avLst/>
              </a:prstGeom>
              <a:blipFill>
                <a:blip r:embed="rId14"/>
                <a:stretch>
                  <a:fillRect l="-2319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76DE3B3-1235-CE36-DB32-FCEE3BBDCAC9}"/>
                  </a:ext>
                </a:extLst>
              </p:cNvPr>
              <p:cNvSpPr txBox="1"/>
              <p:nvPr/>
            </p:nvSpPr>
            <p:spPr>
              <a:xfrm>
                <a:off x="6793053" y="6152923"/>
                <a:ext cx="35137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≤</m:t>
                                  </m:r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76DE3B3-1235-CE36-DB32-FCEE3BBDC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053" y="6152923"/>
                <a:ext cx="3513719" cy="276999"/>
              </a:xfrm>
              <a:prstGeom prst="rect">
                <a:avLst/>
              </a:prstGeom>
              <a:blipFill>
                <a:blip r:embed="rId15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95F8C267-7D94-EB43-4026-2F56DEA2BD7D}"/>
              </a:ext>
            </a:extLst>
          </p:cNvPr>
          <p:cNvGrpSpPr/>
          <p:nvPr/>
        </p:nvGrpSpPr>
        <p:grpSpPr>
          <a:xfrm>
            <a:off x="6510744" y="4812050"/>
            <a:ext cx="5469304" cy="1826875"/>
            <a:chOff x="6510744" y="4812050"/>
            <a:chExt cx="5469304" cy="18268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2B4B3699-BFD2-CA06-4C5D-ACB822BBD33A}"/>
                    </a:ext>
                  </a:extLst>
                </p:cNvPr>
                <p:cNvSpPr txBox="1"/>
                <p:nvPr/>
              </p:nvSpPr>
              <p:spPr>
                <a:xfrm>
                  <a:off x="6673607" y="4922309"/>
                  <a:ext cx="530644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Probability that the outcome is between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</m:e>
                        <m:sub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𝒍</m:t>
                          </m:r>
                        </m:sub>
                      </m:sSub>
                    </m:oMath>
                  </a14:m>
                  <a:r>
                    <a:rPr kumimoji="0" 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</m:e>
                        <m:sub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𝒉</m:t>
                          </m:r>
                        </m:sub>
                      </m:sSub>
                    </m:oMath>
                  </a14:m>
                  <a:endPara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2B4B3699-BFD2-CA06-4C5D-ACB822BBD3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3607" y="4922309"/>
                  <a:ext cx="5306441" cy="369332"/>
                </a:xfrm>
                <a:prstGeom prst="rect">
                  <a:avLst/>
                </a:prstGeom>
                <a:blipFill>
                  <a:blip r:embed="rId16"/>
                  <a:stretch>
                    <a:fillRect l="-1034" t="-6557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3418270-6FC0-09C1-5A57-F2D4614CBEBE}"/>
                </a:ext>
              </a:extLst>
            </p:cNvPr>
            <p:cNvCxnSpPr>
              <a:cxnSpLocks/>
            </p:cNvCxnSpPr>
            <p:nvPr/>
          </p:nvCxnSpPr>
          <p:spPr>
            <a:xfrm>
              <a:off x="6577419" y="4812050"/>
              <a:ext cx="0" cy="182687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41A06E2-99F5-65A8-5FDD-19C9B7FAD432}"/>
                </a:ext>
              </a:extLst>
            </p:cNvPr>
            <p:cNvCxnSpPr>
              <a:cxnSpLocks/>
            </p:cNvCxnSpPr>
            <p:nvPr/>
          </p:nvCxnSpPr>
          <p:spPr>
            <a:xfrm>
              <a:off x="6510744" y="4920085"/>
              <a:ext cx="54026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DE96031-B923-AA3F-9180-92620B2F437F}"/>
              </a:ext>
            </a:extLst>
          </p:cNvPr>
          <p:cNvSpPr txBox="1"/>
          <p:nvPr/>
        </p:nvSpPr>
        <p:spPr>
          <a:xfrm>
            <a:off x="180575" y="6050941"/>
            <a:ext cx="6396843" cy="646331"/>
          </a:xfrm>
          <a:custGeom>
            <a:avLst/>
            <a:gdLst>
              <a:gd name="csX0" fmla="*/ 0 w 6396843"/>
              <a:gd name="csY0" fmla="*/ 0 h 646331"/>
              <a:gd name="csX1" fmla="*/ 517563 w 6396843"/>
              <a:gd name="csY1" fmla="*/ 0 h 646331"/>
              <a:gd name="csX2" fmla="*/ 907189 w 6396843"/>
              <a:gd name="csY2" fmla="*/ 0 h 646331"/>
              <a:gd name="csX3" fmla="*/ 1616657 w 6396843"/>
              <a:gd name="csY3" fmla="*/ 0 h 646331"/>
              <a:gd name="csX4" fmla="*/ 2134219 w 6396843"/>
              <a:gd name="csY4" fmla="*/ 0 h 646331"/>
              <a:gd name="csX5" fmla="*/ 2651782 w 6396843"/>
              <a:gd name="csY5" fmla="*/ 0 h 646331"/>
              <a:gd name="csX6" fmla="*/ 3361250 w 6396843"/>
              <a:gd name="csY6" fmla="*/ 0 h 646331"/>
              <a:gd name="csX7" fmla="*/ 3814845 w 6396843"/>
              <a:gd name="csY7" fmla="*/ 0 h 646331"/>
              <a:gd name="csX8" fmla="*/ 4524313 w 6396843"/>
              <a:gd name="csY8" fmla="*/ 0 h 646331"/>
              <a:gd name="csX9" fmla="*/ 5233781 w 6396843"/>
              <a:gd name="csY9" fmla="*/ 0 h 646331"/>
              <a:gd name="csX10" fmla="*/ 5815312 w 6396843"/>
              <a:gd name="csY10" fmla="*/ 0 h 646331"/>
              <a:gd name="csX11" fmla="*/ 6396843 w 6396843"/>
              <a:gd name="csY11" fmla="*/ 0 h 646331"/>
              <a:gd name="csX12" fmla="*/ 6396843 w 6396843"/>
              <a:gd name="csY12" fmla="*/ 316702 h 646331"/>
              <a:gd name="csX13" fmla="*/ 6396843 w 6396843"/>
              <a:gd name="csY13" fmla="*/ 646331 h 646331"/>
              <a:gd name="csX14" fmla="*/ 5815312 w 6396843"/>
              <a:gd name="csY14" fmla="*/ 646331 h 646331"/>
              <a:gd name="csX15" fmla="*/ 5361717 w 6396843"/>
              <a:gd name="csY15" fmla="*/ 646331 h 646331"/>
              <a:gd name="csX16" fmla="*/ 4780186 w 6396843"/>
              <a:gd name="csY16" fmla="*/ 646331 h 646331"/>
              <a:gd name="csX17" fmla="*/ 4070718 w 6396843"/>
              <a:gd name="csY17" fmla="*/ 646331 h 646331"/>
              <a:gd name="csX18" fmla="*/ 3489187 w 6396843"/>
              <a:gd name="csY18" fmla="*/ 646331 h 646331"/>
              <a:gd name="csX19" fmla="*/ 3099561 w 6396843"/>
              <a:gd name="csY19" fmla="*/ 646331 h 646331"/>
              <a:gd name="csX20" fmla="*/ 2645967 w 6396843"/>
              <a:gd name="csY20" fmla="*/ 646331 h 646331"/>
              <a:gd name="csX21" fmla="*/ 1936499 w 6396843"/>
              <a:gd name="csY21" fmla="*/ 646331 h 646331"/>
              <a:gd name="csX22" fmla="*/ 1354968 w 6396843"/>
              <a:gd name="csY22" fmla="*/ 646331 h 646331"/>
              <a:gd name="csX23" fmla="*/ 901373 w 6396843"/>
              <a:gd name="csY23" fmla="*/ 646331 h 646331"/>
              <a:gd name="csX24" fmla="*/ 0 w 6396843"/>
              <a:gd name="csY24" fmla="*/ 646331 h 646331"/>
              <a:gd name="csX25" fmla="*/ 0 w 6396843"/>
              <a:gd name="csY25" fmla="*/ 342555 h 646331"/>
              <a:gd name="csX26" fmla="*/ 0 w 6396843"/>
              <a:gd name="csY26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6396843" h="646331" extrusionOk="0">
                <a:moveTo>
                  <a:pt x="0" y="0"/>
                </a:moveTo>
                <a:cubicBezTo>
                  <a:pt x="258511" y="-36032"/>
                  <a:pt x="381896" y="36988"/>
                  <a:pt x="517563" y="0"/>
                </a:cubicBezTo>
                <a:cubicBezTo>
                  <a:pt x="653230" y="-36988"/>
                  <a:pt x="809909" y="565"/>
                  <a:pt x="907189" y="0"/>
                </a:cubicBezTo>
                <a:cubicBezTo>
                  <a:pt x="1004469" y="-565"/>
                  <a:pt x="1434816" y="70905"/>
                  <a:pt x="1616657" y="0"/>
                </a:cubicBezTo>
                <a:cubicBezTo>
                  <a:pt x="1798498" y="-70905"/>
                  <a:pt x="1935717" y="7333"/>
                  <a:pt x="2134219" y="0"/>
                </a:cubicBezTo>
                <a:cubicBezTo>
                  <a:pt x="2332721" y="-7333"/>
                  <a:pt x="2405118" y="25300"/>
                  <a:pt x="2651782" y="0"/>
                </a:cubicBezTo>
                <a:cubicBezTo>
                  <a:pt x="2898446" y="-25300"/>
                  <a:pt x="3098627" y="63193"/>
                  <a:pt x="3361250" y="0"/>
                </a:cubicBezTo>
                <a:cubicBezTo>
                  <a:pt x="3623873" y="-63193"/>
                  <a:pt x="3694008" y="33443"/>
                  <a:pt x="3814845" y="0"/>
                </a:cubicBezTo>
                <a:cubicBezTo>
                  <a:pt x="3935683" y="-33443"/>
                  <a:pt x="4349066" y="73729"/>
                  <a:pt x="4524313" y="0"/>
                </a:cubicBezTo>
                <a:cubicBezTo>
                  <a:pt x="4699560" y="-73729"/>
                  <a:pt x="5064740" y="51546"/>
                  <a:pt x="5233781" y="0"/>
                </a:cubicBezTo>
                <a:cubicBezTo>
                  <a:pt x="5402822" y="-51546"/>
                  <a:pt x="5547256" y="67742"/>
                  <a:pt x="5815312" y="0"/>
                </a:cubicBezTo>
                <a:cubicBezTo>
                  <a:pt x="6083368" y="-67742"/>
                  <a:pt x="6243804" y="37923"/>
                  <a:pt x="6396843" y="0"/>
                </a:cubicBezTo>
                <a:cubicBezTo>
                  <a:pt x="6432781" y="82963"/>
                  <a:pt x="6373905" y="180507"/>
                  <a:pt x="6396843" y="316702"/>
                </a:cubicBezTo>
                <a:cubicBezTo>
                  <a:pt x="6419781" y="452897"/>
                  <a:pt x="6357710" y="530388"/>
                  <a:pt x="6396843" y="646331"/>
                </a:cubicBezTo>
                <a:cubicBezTo>
                  <a:pt x="6263508" y="681298"/>
                  <a:pt x="5993466" y="625356"/>
                  <a:pt x="5815312" y="646331"/>
                </a:cubicBezTo>
                <a:cubicBezTo>
                  <a:pt x="5637158" y="667306"/>
                  <a:pt x="5500796" y="621393"/>
                  <a:pt x="5361717" y="646331"/>
                </a:cubicBezTo>
                <a:cubicBezTo>
                  <a:pt x="5222638" y="671269"/>
                  <a:pt x="4909722" y="639644"/>
                  <a:pt x="4780186" y="646331"/>
                </a:cubicBezTo>
                <a:cubicBezTo>
                  <a:pt x="4650650" y="653018"/>
                  <a:pt x="4309938" y="639694"/>
                  <a:pt x="4070718" y="646331"/>
                </a:cubicBezTo>
                <a:cubicBezTo>
                  <a:pt x="3831498" y="652968"/>
                  <a:pt x="3633187" y="627277"/>
                  <a:pt x="3489187" y="646331"/>
                </a:cubicBezTo>
                <a:cubicBezTo>
                  <a:pt x="3345187" y="665385"/>
                  <a:pt x="3258404" y="634079"/>
                  <a:pt x="3099561" y="646331"/>
                </a:cubicBezTo>
                <a:cubicBezTo>
                  <a:pt x="2940718" y="658583"/>
                  <a:pt x="2826421" y="623935"/>
                  <a:pt x="2645967" y="646331"/>
                </a:cubicBezTo>
                <a:cubicBezTo>
                  <a:pt x="2465513" y="668727"/>
                  <a:pt x="2254876" y="572398"/>
                  <a:pt x="1936499" y="646331"/>
                </a:cubicBezTo>
                <a:cubicBezTo>
                  <a:pt x="1618122" y="720264"/>
                  <a:pt x="1588266" y="583361"/>
                  <a:pt x="1354968" y="646331"/>
                </a:cubicBezTo>
                <a:cubicBezTo>
                  <a:pt x="1121670" y="709301"/>
                  <a:pt x="1010870" y="643870"/>
                  <a:pt x="901373" y="646331"/>
                </a:cubicBezTo>
                <a:cubicBezTo>
                  <a:pt x="791876" y="648792"/>
                  <a:pt x="189909" y="558692"/>
                  <a:pt x="0" y="646331"/>
                </a:cubicBezTo>
                <a:cubicBezTo>
                  <a:pt x="-10891" y="578005"/>
                  <a:pt x="13391" y="448872"/>
                  <a:pt x="0" y="342555"/>
                </a:cubicBezTo>
                <a:cubicBezTo>
                  <a:pt x="-13391" y="236238"/>
                  <a:pt x="2374" y="70449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When outcomes are continuous and uncertain, the CDF allows us to assign probabilities to specific ranges of outcomes.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C5982E0-76DA-8BB2-3495-77A66126FE75}"/>
              </a:ext>
            </a:extLst>
          </p:cNvPr>
          <p:cNvGrpSpPr/>
          <p:nvPr/>
        </p:nvGrpSpPr>
        <p:grpSpPr>
          <a:xfrm>
            <a:off x="7348274" y="3181347"/>
            <a:ext cx="1891026" cy="760488"/>
            <a:chOff x="7348274" y="3181347"/>
            <a:chExt cx="1891026" cy="7604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DDC836F-7AF0-0ACF-A8FF-200440790462}"/>
                    </a:ext>
                  </a:extLst>
                </p:cNvPr>
                <p:cNvSpPr txBox="1"/>
                <p:nvPr/>
              </p:nvSpPr>
              <p:spPr>
                <a:xfrm>
                  <a:off x="7352630" y="3664836"/>
                  <a:ext cx="188667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𝐹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</m:d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func>
                          <m:func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US" sz="18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≤</m:t>
                                </m:r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DDC836F-7AF0-0ACF-A8FF-2004407904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2630" y="3664836"/>
                  <a:ext cx="1886670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581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0B766B2-2307-36E6-170C-196C43746A54}"/>
                </a:ext>
              </a:extLst>
            </p:cNvPr>
            <p:cNvSpPr txBox="1"/>
            <p:nvPr/>
          </p:nvSpPr>
          <p:spPr>
            <a:xfrm>
              <a:off x="7348274" y="3181347"/>
              <a:ext cx="700454" cy="369332"/>
            </a:xfrm>
            <a:custGeom>
              <a:avLst/>
              <a:gdLst>
                <a:gd name="csX0" fmla="*/ 0 w 700454"/>
                <a:gd name="csY0" fmla="*/ 0 h 369332"/>
                <a:gd name="csX1" fmla="*/ 343222 w 700454"/>
                <a:gd name="csY1" fmla="*/ 0 h 369332"/>
                <a:gd name="csX2" fmla="*/ 700454 w 700454"/>
                <a:gd name="csY2" fmla="*/ 0 h 369332"/>
                <a:gd name="csX3" fmla="*/ 700454 w 700454"/>
                <a:gd name="csY3" fmla="*/ 369332 h 369332"/>
                <a:gd name="csX4" fmla="*/ 350227 w 700454"/>
                <a:gd name="csY4" fmla="*/ 369332 h 369332"/>
                <a:gd name="csX5" fmla="*/ 0 w 700454"/>
                <a:gd name="csY5" fmla="*/ 369332 h 369332"/>
                <a:gd name="csX6" fmla="*/ 0 w 700454"/>
                <a:gd name="csY6" fmla="*/ 0 h 369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00454" h="369332" extrusionOk="0">
                  <a:moveTo>
                    <a:pt x="0" y="0"/>
                  </a:moveTo>
                  <a:cubicBezTo>
                    <a:pt x="158880" y="-19495"/>
                    <a:pt x="175854" y="38567"/>
                    <a:pt x="343222" y="0"/>
                  </a:cubicBezTo>
                  <a:cubicBezTo>
                    <a:pt x="510590" y="-38567"/>
                    <a:pt x="628241" y="11308"/>
                    <a:pt x="700454" y="0"/>
                  </a:cubicBezTo>
                  <a:cubicBezTo>
                    <a:pt x="728417" y="78977"/>
                    <a:pt x="670030" y="271296"/>
                    <a:pt x="700454" y="369332"/>
                  </a:cubicBezTo>
                  <a:cubicBezTo>
                    <a:pt x="530948" y="379826"/>
                    <a:pt x="466257" y="365638"/>
                    <a:pt x="350227" y="369332"/>
                  </a:cubicBezTo>
                  <a:cubicBezTo>
                    <a:pt x="234197" y="373026"/>
                    <a:pt x="160256" y="343018"/>
                    <a:pt x="0" y="369332"/>
                  </a:cubicBezTo>
                  <a:cubicBezTo>
                    <a:pt x="-6017" y="217080"/>
                    <a:pt x="5246" y="88445"/>
                    <a:pt x="0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CDF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22F114-5978-ADBD-FC09-E23691444F10}"/>
                  </a:ext>
                </a:extLst>
              </p:cNvPr>
              <p:cNvSpPr txBox="1"/>
              <p:nvPr/>
            </p:nvSpPr>
            <p:spPr>
              <a:xfrm>
                <a:off x="1876568" y="1532134"/>
                <a:ext cx="3550159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96B2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96B2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96B24">
                        <a:lumMod val="50000"/>
                      </a:srgbClr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rPr>
                  <a:t>Your daily mood rating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22F114-5978-ADBD-FC09-E23691444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6568" y="1532134"/>
                <a:ext cx="3550159" cy="369332"/>
              </a:xfrm>
              <a:prstGeom prst="rect">
                <a:avLst/>
              </a:prstGeom>
              <a:blipFill>
                <a:blip r:embed="rId18"/>
                <a:stretch>
                  <a:fillRect t="-4918" r="-344" b="-27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5B64959-9066-F155-256A-71B6DB8EC0CF}"/>
              </a:ext>
            </a:extLst>
          </p:cNvPr>
          <p:cNvSpPr txBox="1"/>
          <p:nvPr/>
        </p:nvSpPr>
        <p:spPr>
          <a:xfrm>
            <a:off x="9333558" y="3457164"/>
            <a:ext cx="2020242" cy="584775"/>
          </a:xfrm>
          <a:custGeom>
            <a:avLst/>
            <a:gdLst>
              <a:gd name="csX0" fmla="*/ 0 w 2020242"/>
              <a:gd name="csY0" fmla="*/ 0 h 584775"/>
              <a:gd name="csX1" fmla="*/ 484858 w 2020242"/>
              <a:gd name="csY1" fmla="*/ 0 h 584775"/>
              <a:gd name="csX2" fmla="*/ 989919 w 2020242"/>
              <a:gd name="csY2" fmla="*/ 0 h 584775"/>
              <a:gd name="csX3" fmla="*/ 1494979 w 2020242"/>
              <a:gd name="csY3" fmla="*/ 0 h 584775"/>
              <a:gd name="csX4" fmla="*/ 2020242 w 2020242"/>
              <a:gd name="csY4" fmla="*/ 0 h 584775"/>
              <a:gd name="csX5" fmla="*/ 2020242 w 2020242"/>
              <a:gd name="csY5" fmla="*/ 584775 h 584775"/>
              <a:gd name="csX6" fmla="*/ 1515182 w 2020242"/>
              <a:gd name="csY6" fmla="*/ 584775 h 584775"/>
              <a:gd name="csX7" fmla="*/ 1050526 w 2020242"/>
              <a:gd name="csY7" fmla="*/ 584775 h 584775"/>
              <a:gd name="csX8" fmla="*/ 585870 w 2020242"/>
              <a:gd name="csY8" fmla="*/ 584775 h 584775"/>
              <a:gd name="csX9" fmla="*/ 0 w 2020242"/>
              <a:gd name="csY9" fmla="*/ 584775 h 584775"/>
              <a:gd name="csX10" fmla="*/ 0 w 2020242"/>
              <a:gd name="csY10" fmla="*/ 0 h 584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020242" h="584775" fill="none" extrusionOk="0">
                <a:moveTo>
                  <a:pt x="0" y="0"/>
                </a:moveTo>
                <a:cubicBezTo>
                  <a:pt x="185364" y="-30244"/>
                  <a:pt x="271905" y="38582"/>
                  <a:pt x="484858" y="0"/>
                </a:cubicBezTo>
                <a:cubicBezTo>
                  <a:pt x="697811" y="-38582"/>
                  <a:pt x="818461" y="2790"/>
                  <a:pt x="989919" y="0"/>
                </a:cubicBezTo>
                <a:cubicBezTo>
                  <a:pt x="1161377" y="-2790"/>
                  <a:pt x="1314876" y="25749"/>
                  <a:pt x="1494979" y="0"/>
                </a:cubicBezTo>
                <a:cubicBezTo>
                  <a:pt x="1675082" y="-25749"/>
                  <a:pt x="1800975" y="56823"/>
                  <a:pt x="2020242" y="0"/>
                </a:cubicBezTo>
                <a:cubicBezTo>
                  <a:pt x="2027776" y="197191"/>
                  <a:pt x="2014750" y="374282"/>
                  <a:pt x="2020242" y="584775"/>
                </a:cubicBezTo>
                <a:cubicBezTo>
                  <a:pt x="1832104" y="586699"/>
                  <a:pt x="1755550" y="540697"/>
                  <a:pt x="1515182" y="584775"/>
                </a:cubicBezTo>
                <a:cubicBezTo>
                  <a:pt x="1274814" y="628853"/>
                  <a:pt x="1242358" y="559708"/>
                  <a:pt x="1050526" y="584775"/>
                </a:cubicBezTo>
                <a:cubicBezTo>
                  <a:pt x="858694" y="609842"/>
                  <a:pt x="722645" y="529093"/>
                  <a:pt x="585870" y="584775"/>
                </a:cubicBezTo>
                <a:cubicBezTo>
                  <a:pt x="449095" y="640457"/>
                  <a:pt x="233966" y="525643"/>
                  <a:pt x="0" y="584775"/>
                </a:cubicBezTo>
                <a:cubicBezTo>
                  <a:pt x="-18641" y="399863"/>
                  <a:pt x="1086" y="205998"/>
                  <a:pt x="0" y="0"/>
                </a:cubicBezTo>
                <a:close/>
              </a:path>
              <a:path w="2020242" h="584775" stroke="0" extrusionOk="0">
                <a:moveTo>
                  <a:pt x="0" y="0"/>
                </a:moveTo>
                <a:cubicBezTo>
                  <a:pt x="103461" y="-25290"/>
                  <a:pt x="363741" y="57535"/>
                  <a:pt x="484858" y="0"/>
                </a:cubicBezTo>
                <a:cubicBezTo>
                  <a:pt x="605975" y="-57535"/>
                  <a:pt x="818343" y="35776"/>
                  <a:pt x="929311" y="0"/>
                </a:cubicBezTo>
                <a:cubicBezTo>
                  <a:pt x="1040279" y="-35776"/>
                  <a:pt x="1221401" y="23674"/>
                  <a:pt x="1474777" y="0"/>
                </a:cubicBezTo>
                <a:cubicBezTo>
                  <a:pt x="1728153" y="-23674"/>
                  <a:pt x="1812404" y="20518"/>
                  <a:pt x="2020242" y="0"/>
                </a:cubicBezTo>
                <a:cubicBezTo>
                  <a:pt x="2026940" y="120638"/>
                  <a:pt x="2012467" y="453480"/>
                  <a:pt x="2020242" y="584775"/>
                </a:cubicBezTo>
                <a:cubicBezTo>
                  <a:pt x="1823268" y="633210"/>
                  <a:pt x="1746514" y="580288"/>
                  <a:pt x="1555586" y="584775"/>
                </a:cubicBezTo>
                <a:cubicBezTo>
                  <a:pt x="1364658" y="589262"/>
                  <a:pt x="1264160" y="558525"/>
                  <a:pt x="1090931" y="584775"/>
                </a:cubicBezTo>
                <a:cubicBezTo>
                  <a:pt x="917702" y="611025"/>
                  <a:pt x="776850" y="528142"/>
                  <a:pt x="545465" y="584775"/>
                </a:cubicBezTo>
                <a:cubicBezTo>
                  <a:pt x="314080" y="641408"/>
                  <a:pt x="163407" y="525156"/>
                  <a:pt x="0" y="584775"/>
                </a:cubicBezTo>
                <a:cubicBezTo>
                  <a:pt x="-7399" y="344304"/>
                  <a:pt x="51418" y="249993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Non-decreasing function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E4B497-7CE7-0F0D-4DB1-835C62012873}"/>
              </a:ext>
            </a:extLst>
          </p:cNvPr>
          <p:cNvSpPr/>
          <p:nvPr/>
        </p:nvSpPr>
        <p:spPr>
          <a:xfrm>
            <a:off x="8810528" y="6133237"/>
            <a:ext cx="1594292" cy="3596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1B25C4E-CAAF-6B7A-DFBD-9B0D27024D01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1255059" y="4321448"/>
            <a:ext cx="1558830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ight Brace 30">
            <a:extLst>
              <a:ext uri="{FF2B5EF4-FFF2-40B4-BE49-F238E27FC236}">
                <a16:creationId xmlns:a16="http://schemas.microsoft.com/office/drawing/2014/main" id="{199471F6-9A2B-C0AF-ED67-8C471614BEEB}"/>
              </a:ext>
            </a:extLst>
          </p:cNvPr>
          <p:cNvSpPr/>
          <p:nvPr/>
        </p:nvSpPr>
        <p:spPr>
          <a:xfrm rot="5400000">
            <a:off x="1917077" y="4457497"/>
            <a:ext cx="316739" cy="164077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7E0897-496C-C2FF-F009-DCADD60D7FD8}"/>
                  </a:ext>
                </a:extLst>
              </p:cNvPr>
              <p:cNvSpPr txBox="1"/>
              <p:nvPr/>
            </p:nvSpPr>
            <p:spPr>
              <a:xfrm>
                <a:off x="1642806" y="5425328"/>
                <a:ext cx="8777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≤−1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7E0897-496C-C2FF-F009-DCADD60D7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2806" y="5425328"/>
                <a:ext cx="877741" cy="276999"/>
              </a:xfrm>
              <a:prstGeom prst="rect">
                <a:avLst/>
              </a:prstGeom>
              <a:blipFill>
                <a:blip r:embed="rId19"/>
                <a:stretch>
                  <a:fillRect l="-4167" r="-6944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D1DB7077-64AA-64C9-F0A1-62C3EDC7D7A8}"/>
              </a:ext>
            </a:extLst>
          </p:cNvPr>
          <p:cNvSpPr txBox="1"/>
          <p:nvPr/>
        </p:nvSpPr>
        <p:spPr>
          <a:xfrm>
            <a:off x="7698501" y="2603179"/>
            <a:ext cx="3525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…continuous random variable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A69B67A-8AAF-8043-2429-37A63B97710A}"/>
              </a:ext>
            </a:extLst>
          </p:cNvPr>
          <p:cNvGrpSpPr/>
          <p:nvPr/>
        </p:nvGrpSpPr>
        <p:grpSpPr>
          <a:xfrm>
            <a:off x="1255057" y="5015055"/>
            <a:ext cx="3357309" cy="710432"/>
            <a:chOff x="1255057" y="5015055"/>
            <a:chExt cx="3357309" cy="710432"/>
          </a:xfrm>
        </p:grpSpPr>
        <p:sp>
          <p:nvSpPr>
            <p:cNvPr id="27" name="Right Brace 26">
              <a:extLst>
                <a:ext uri="{FF2B5EF4-FFF2-40B4-BE49-F238E27FC236}">
                  <a16:creationId xmlns:a16="http://schemas.microsoft.com/office/drawing/2014/main" id="{757BD16A-A5C0-7D9E-3C63-224CFDEBFF18}"/>
                </a:ext>
              </a:extLst>
            </p:cNvPr>
            <p:cNvSpPr/>
            <p:nvPr/>
          </p:nvSpPr>
          <p:spPr>
            <a:xfrm rot="5400000">
              <a:off x="2775342" y="3494770"/>
              <a:ext cx="316739" cy="3357309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CF953C9-2819-A034-0F60-2B93A0C7EE71}"/>
                    </a:ext>
                  </a:extLst>
                </p:cNvPr>
                <p:cNvSpPr txBox="1"/>
                <p:nvPr/>
              </p:nvSpPr>
              <p:spPr>
                <a:xfrm>
                  <a:off x="2276056" y="5448488"/>
                  <a:ext cx="70461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</m:t>
                            </m:r>
                          </m:sub>
                        </m:sSub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≤1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CF953C9-2819-A034-0F60-2B93A0C7EE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6056" y="5448488"/>
                  <a:ext cx="704616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5172" r="-7759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ECE254F-AB62-2A6E-FC4B-B856CF41DA66}"/>
              </a:ext>
            </a:extLst>
          </p:cNvPr>
          <p:cNvSpPr txBox="1"/>
          <p:nvPr/>
        </p:nvSpPr>
        <p:spPr>
          <a:xfrm rot="21127232">
            <a:off x="10732896" y="3889526"/>
            <a:ext cx="851617" cy="338554"/>
          </a:xfrm>
          <a:custGeom>
            <a:avLst/>
            <a:gdLst>
              <a:gd name="csX0" fmla="*/ 0 w 851617"/>
              <a:gd name="csY0" fmla="*/ 0 h 338554"/>
              <a:gd name="csX1" fmla="*/ 442841 w 851617"/>
              <a:gd name="csY1" fmla="*/ 0 h 338554"/>
              <a:gd name="csX2" fmla="*/ 851617 w 851617"/>
              <a:gd name="csY2" fmla="*/ 0 h 338554"/>
              <a:gd name="csX3" fmla="*/ 851617 w 851617"/>
              <a:gd name="csY3" fmla="*/ 338554 h 338554"/>
              <a:gd name="csX4" fmla="*/ 434325 w 851617"/>
              <a:gd name="csY4" fmla="*/ 338554 h 338554"/>
              <a:gd name="csX5" fmla="*/ 0 w 851617"/>
              <a:gd name="csY5" fmla="*/ 338554 h 338554"/>
              <a:gd name="csX6" fmla="*/ 0 w 851617"/>
              <a:gd name="csY6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51617" h="338554" fill="none" extrusionOk="0">
                <a:moveTo>
                  <a:pt x="0" y="0"/>
                </a:moveTo>
                <a:cubicBezTo>
                  <a:pt x="120737" y="-47201"/>
                  <a:pt x="221445" y="11104"/>
                  <a:pt x="442841" y="0"/>
                </a:cubicBezTo>
                <a:cubicBezTo>
                  <a:pt x="664237" y="-11104"/>
                  <a:pt x="729367" y="44546"/>
                  <a:pt x="851617" y="0"/>
                </a:cubicBezTo>
                <a:cubicBezTo>
                  <a:pt x="859252" y="126744"/>
                  <a:pt x="814031" y="253838"/>
                  <a:pt x="851617" y="338554"/>
                </a:cubicBezTo>
                <a:cubicBezTo>
                  <a:pt x="757110" y="346440"/>
                  <a:pt x="585522" y="294494"/>
                  <a:pt x="434325" y="338554"/>
                </a:cubicBezTo>
                <a:cubicBezTo>
                  <a:pt x="283128" y="382614"/>
                  <a:pt x="134044" y="314746"/>
                  <a:pt x="0" y="338554"/>
                </a:cubicBezTo>
                <a:cubicBezTo>
                  <a:pt x="-33099" y="247216"/>
                  <a:pt x="8235" y="114205"/>
                  <a:pt x="0" y="0"/>
                </a:cubicBezTo>
                <a:close/>
              </a:path>
              <a:path w="851617" h="338554" stroke="0" extrusionOk="0">
                <a:moveTo>
                  <a:pt x="0" y="0"/>
                </a:moveTo>
                <a:cubicBezTo>
                  <a:pt x="202516" y="-47044"/>
                  <a:pt x="241626" y="27102"/>
                  <a:pt x="417292" y="0"/>
                </a:cubicBezTo>
                <a:cubicBezTo>
                  <a:pt x="592958" y="-27102"/>
                  <a:pt x="715345" y="13847"/>
                  <a:pt x="851617" y="0"/>
                </a:cubicBezTo>
                <a:cubicBezTo>
                  <a:pt x="883624" y="165407"/>
                  <a:pt x="827166" y="265303"/>
                  <a:pt x="851617" y="338554"/>
                </a:cubicBezTo>
                <a:cubicBezTo>
                  <a:pt x="654648" y="389264"/>
                  <a:pt x="586296" y="309946"/>
                  <a:pt x="425809" y="338554"/>
                </a:cubicBezTo>
                <a:cubicBezTo>
                  <a:pt x="265322" y="367162"/>
                  <a:pt x="160086" y="328506"/>
                  <a:pt x="0" y="338554"/>
                </a:cubicBezTo>
                <a:cubicBezTo>
                  <a:pt x="-6802" y="201495"/>
                  <a:pt x="23749" y="127991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Flat</a:t>
            </a:r>
          </a:p>
        </p:txBody>
      </p:sp>
      <p:pic>
        <p:nvPicPr>
          <p:cNvPr id="20" name="Picture 19" descr="A large rock on a black background&#10;&#10;Description automatically generated">
            <a:extLst>
              <a:ext uri="{FF2B5EF4-FFF2-40B4-BE49-F238E27FC236}">
                <a16:creationId xmlns:a16="http://schemas.microsoft.com/office/drawing/2014/main" id="{4F8A1BAE-C8B9-8064-5FB0-B4CA4BA167C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396" y="5277885"/>
            <a:ext cx="2404584" cy="1380757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D03289A3-B5C2-E992-1527-000258748508}"/>
              </a:ext>
            </a:extLst>
          </p:cNvPr>
          <p:cNvSpPr txBox="1"/>
          <p:nvPr/>
        </p:nvSpPr>
        <p:spPr>
          <a:xfrm rot="16200000">
            <a:off x="-765274" y="3355063"/>
            <a:ext cx="3161099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Cumulative Mass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A0F1B1-79CA-1C13-AA30-1A00061CF5FC}"/>
              </a:ext>
            </a:extLst>
          </p:cNvPr>
          <p:cNvSpPr txBox="1"/>
          <p:nvPr/>
        </p:nvSpPr>
        <p:spPr>
          <a:xfrm>
            <a:off x="2666746" y="5287471"/>
            <a:ext cx="2214738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prstClr val="black"/>
                </a:solidFill>
                <a:latin typeface="Aptos" panose="02110004020202020204"/>
              </a:rPr>
              <a:t>V</a:t>
            </a:r>
            <a:r>
              <a:rPr lang="en-US" dirty="0" err="1">
                <a:solidFill>
                  <a:prstClr val="black"/>
                </a:solidFill>
                <a:latin typeface="Aptos" panose="02110004020202020204"/>
              </a:rPr>
              <a:t>olume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 Considered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A51BB1A-9DF4-2508-FCDF-40F8A60235D1}"/>
              </a:ext>
            </a:extLst>
          </p:cNvPr>
          <p:cNvSpPr txBox="1"/>
          <p:nvPr/>
        </p:nvSpPr>
        <p:spPr>
          <a:xfrm>
            <a:off x="6635955" y="4289773"/>
            <a:ext cx="3300622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CDF </a:t>
            </a:r>
            <a:r>
              <a:rPr lang="en-IN" dirty="0">
                <a:sym typeface="Wingdings" panose="05000000000000000000" pitchFamily="2" charset="2"/>
              </a:rPr>
              <a:t> PDF  Expected Payoff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4C54786-B532-4B03-E2FD-06F7A5523D91}"/>
                  </a:ext>
                </a:extLst>
              </p:cNvPr>
              <p:cNvSpPr txBox="1"/>
              <p:nvPr/>
            </p:nvSpPr>
            <p:spPr>
              <a:xfrm>
                <a:off x="1707403" y="1962534"/>
                <a:ext cx="9315831" cy="313932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/>
                  <a:t>THE ANALOGY</a:t>
                </a:r>
              </a:p>
              <a:p>
                <a:pPr algn="just"/>
                <a:endParaRPr lang="en-IN" dirty="0"/>
              </a:p>
              <a:p>
                <a:pPr algn="just"/>
                <a:r>
                  <a:rPr lang="en-IN" dirty="0">
                    <a:solidFill>
                      <a:srgbClr val="7030A0"/>
                    </a:solidFill>
                  </a:rPr>
                  <a:t>STONE</a:t>
                </a:r>
                <a:r>
                  <a:rPr lang="en-IN" dirty="0"/>
                  <a:t> – </a:t>
                </a:r>
                <a:r>
                  <a:rPr lang="en-IN" dirty="0">
                    <a:solidFill>
                      <a:srgbClr val="0070C0"/>
                    </a:solidFill>
                  </a:rPr>
                  <a:t>RANDOM VARIABLE</a:t>
                </a:r>
              </a:p>
              <a:p>
                <a:r>
                  <a:rPr lang="en-IN" dirty="0">
                    <a:solidFill>
                      <a:srgbClr val="7030A0"/>
                    </a:solidFill>
                  </a:rPr>
                  <a:t>Mass</a:t>
                </a:r>
                <a:r>
                  <a:rPr lang="en-IN" dirty="0"/>
                  <a:t> – </a:t>
                </a:r>
                <a:r>
                  <a:rPr lang="en-IN" dirty="0">
                    <a:solidFill>
                      <a:srgbClr val="0070C0"/>
                    </a:solidFill>
                  </a:rPr>
                  <a:t>Probability</a:t>
                </a:r>
              </a:p>
              <a:p>
                <a:r>
                  <a:rPr lang="en-IN" dirty="0">
                    <a:solidFill>
                      <a:srgbClr val="7030A0"/>
                    </a:solidFill>
                  </a:rPr>
                  <a:t>Geometric Point</a:t>
                </a:r>
                <a:r>
                  <a:rPr lang="en-IN" dirty="0"/>
                  <a:t> – </a:t>
                </a:r>
                <a:r>
                  <a:rPr lang="en-IN" dirty="0">
                    <a:solidFill>
                      <a:srgbClr val="0070C0"/>
                    </a:solidFill>
                  </a:rPr>
                  <a:t>Single outcome</a:t>
                </a:r>
              </a:p>
              <a:p>
                <a:r>
                  <a:rPr lang="en-IN" dirty="0">
                    <a:solidFill>
                      <a:srgbClr val="7030A0"/>
                    </a:solidFill>
                  </a:rPr>
                  <a:t>	Mass at a Point</a:t>
                </a:r>
                <a:r>
                  <a:rPr lang="en-IN" dirty="0"/>
                  <a:t> = </a:t>
                </a:r>
                <a:r>
                  <a:rPr lang="en-IN" dirty="0">
                    <a:solidFill>
                      <a:srgbClr val="0070C0"/>
                    </a:solidFill>
                  </a:rPr>
                  <a:t>Probability of Single Outcome</a:t>
                </a:r>
                <a:r>
                  <a:rPr lang="en-IN" dirty="0"/>
                  <a:t> = 0</a:t>
                </a:r>
              </a:p>
              <a:p>
                <a:r>
                  <a:rPr lang="en-IN" dirty="0">
                    <a:solidFill>
                      <a:srgbClr val="7030A0"/>
                    </a:solidFill>
                  </a:rPr>
                  <a:t>Particle (Control Volume)</a:t>
                </a:r>
                <a:r>
                  <a:rPr lang="en-IN" dirty="0"/>
                  <a:t> = </a:t>
                </a:r>
                <a:r>
                  <a:rPr lang="en-IN" dirty="0">
                    <a:solidFill>
                      <a:srgbClr val="0070C0"/>
                    </a:solidFill>
                  </a:rPr>
                  <a:t>Range of Outcomes</a:t>
                </a:r>
              </a:p>
              <a:p>
                <a:r>
                  <a:rPr lang="en-IN" dirty="0">
                    <a:solidFill>
                      <a:srgbClr val="7030A0"/>
                    </a:solidFill>
                  </a:rPr>
                  <a:t>	Mass of a Particle</a:t>
                </a:r>
                <a:r>
                  <a:rPr lang="en-IN" dirty="0"/>
                  <a:t> = </a:t>
                </a:r>
                <a:r>
                  <a:rPr lang="en-IN" dirty="0">
                    <a:solidFill>
                      <a:srgbClr val="0070C0"/>
                    </a:solidFill>
                  </a:rPr>
                  <a:t>Probability that outcome lies in a certain range</a:t>
                </a:r>
                <a:r>
                  <a:rPr lang="en-IN" dirty="0"/>
                  <a:t> = nonzero</a:t>
                </a:r>
              </a:p>
              <a:p>
                <a:r>
                  <a:rPr lang="en-IN" dirty="0"/>
                  <a:t>CDF: </a:t>
                </a:r>
                <a:r>
                  <a:rPr lang="en-IN" dirty="0">
                    <a:solidFill>
                      <a:srgbClr val="7030A0"/>
                    </a:solidFill>
                  </a:rPr>
                  <a:t>Cumulative Mass vs. Volume Considered </a:t>
                </a:r>
                <a:r>
                  <a:rPr lang="en-IN" dirty="0"/>
                  <a:t>– </a:t>
                </a:r>
                <a:r>
                  <a:rPr lang="en-IN" dirty="0">
                    <a:solidFill>
                      <a:srgbClr val="0070C0"/>
                    </a:solidFill>
                  </a:rPr>
                  <a:t>Cumulative Probability vs. Outcome value</a:t>
                </a:r>
              </a:p>
              <a:p>
                <a:r>
                  <a:rPr lang="en-IN" dirty="0"/>
                  <a:t>	Vertical Axis Range: </a:t>
                </a:r>
                <a:r>
                  <a:rPr lang="en-IN" dirty="0">
                    <a:solidFill>
                      <a:srgbClr val="7030A0"/>
                    </a:solidFill>
                  </a:rPr>
                  <a:t>(0 – Total Mass)</a:t>
                </a:r>
                <a:r>
                  <a:rPr lang="en-IN" dirty="0"/>
                  <a:t> – </a:t>
                </a:r>
                <a:r>
                  <a:rPr lang="en-IN" dirty="0">
                    <a:solidFill>
                      <a:srgbClr val="0070C0"/>
                    </a:solidFill>
                  </a:rPr>
                  <a:t>(0 to 1)</a:t>
                </a:r>
              </a:p>
              <a:p>
                <a:r>
                  <a:rPr lang="en-IN" dirty="0"/>
                  <a:t>	Slope of CDF Curve: </a:t>
                </a:r>
                <a:r>
                  <a:rPr lang="en-IN" dirty="0">
                    <a:solidFill>
                      <a:srgbClr val="7030A0"/>
                    </a:solidFill>
                  </a:rPr>
                  <a:t>Mass Density (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𝑑𝑀</m:t>
                    </m:r>
                    <m:r>
                      <a:rPr lang="en-I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𝑑𝑉</m:t>
                    </m:r>
                  </m:oMath>
                </a14:m>
                <a:r>
                  <a:rPr lang="en-IN" dirty="0">
                    <a:solidFill>
                      <a:srgbClr val="7030A0"/>
                    </a:solidFill>
                  </a:rPr>
                  <a:t>) </a:t>
                </a:r>
                <a:r>
                  <a:rPr lang="en-IN" dirty="0"/>
                  <a:t>– </a:t>
                </a:r>
                <a:r>
                  <a:rPr lang="en-IN" dirty="0">
                    <a:solidFill>
                      <a:srgbClr val="0070C0"/>
                    </a:solidFill>
                  </a:rPr>
                  <a:t>Probability Density (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𝑑𝐹</m:t>
                    </m:r>
                    <m:r>
                      <a:rPr lang="en-I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IN" dirty="0">
                    <a:solidFill>
                      <a:srgbClr val="0070C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4C54786-B532-4B03-E2FD-06F7A5523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403" y="1962534"/>
                <a:ext cx="9315831" cy="3139321"/>
              </a:xfrm>
              <a:prstGeom prst="rect">
                <a:avLst/>
              </a:prstGeom>
              <a:blipFill>
                <a:blip r:embed="rId22"/>
                <a:stretch>
                  <a:fillRect l="-458" t="-774" b="-2128"/>
                </a:stretch>
              </a:blipFill>
              <a:ln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616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40" grpId="0" animBg="1"/>
      <p:bldP spid="41" grpId="0" animBg="1"/>
      <p:bldP spid="46" grpId="0"/>
      <p:bldP spid="47" grpId="0"/>
      <p:bldP spid="48" grpId="0"/>
      <p:bldP spid="3" grpId="0" animBg="1"/>
      <p:bldP spid="6" grpId="0" animBg="1"/>
      <p:bldP spid="7" grpId="0" animBg="1"/>
      <p:bldP spid="8" grpId="0" animBg="1"/>
      <p:bldP spid="31" grpId="0" animBg="1"/>
      <p:bldP spid="31" grpId="1" animBg="1"/>
      <p:bldP spid="33" grpId="0"/>
      <p:bldP spid="33" grpId="1"/>
      <p:bldP spid="10" grpId="0"/>
      <p:bldP spid="11" grpId="0" animBg="1"/>
      <p:bldP spid="37" grpId="0" animBg="1"/>
      <p:bldP spid="38" grpId="0" animBg="1"/>
      <p:bldP spid="43" grpId="0" animBg="1"/>
      <p:bldP spid="4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C93E0A-8D48-A68B-1BD2-484D04D3E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14037E2-7EB9-4221-33F9-3E83E083F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8A01DD2B-EA46-2A61-1474-F9963B2A3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F1401B4-44EF-8B90-4A56-F83E9E0E52C9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60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DFA940E8-68A4-FA1E-3282-FF41551F331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6BAF533-91DE-FD8E-432E-7742724235EC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MATH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C88DE9A-B661-6F84-18B5-6E9C64B1B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Probability Density Function (PDF)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4DC4FD3-C768-1256-C862-81BE60402BB3}"/>
              </a:ext>
            </a:extLst>
          </p:cNvPr>
          <p:cNvGrpSpPr/>
          <p:nvPr/>
        </p:nvGrpSpPr>
        <p:grpSpPr>
          <a:xfrm>
            <a:off x="669036" y="1764579"/>
            <a:ext cx="5633150" cy="3655516"/>
            <a:chOff x="3944959" y="2019527"/>
            <a:chExt cx="5633150" cy="3655516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5" name="Chart 4">
                  <a:extLst>
                    <a:ext uri="{FF2B5EF4-FFF2-40B4-BE49-F238E27FC236}">
                      <a16:creationId xmlns:a16="http://schemas.microsoft.com/office/drawing/2014/main" id="{B7AA9450-F5D4-D0D0-6A15-BD6D76BCBF68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4309219" y="2194671"/>
                <a:ext cx="5268890" cy="3153184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3"/>
                </a:graphicData>
              </a:graphic>
            </p:graphicFrame>
          </mc:Choice>
          <mc:Fallback xmlns="">
            <p:graphicFrame>
              <p:nvGraphicFramePr>
                <p:cNvPr id="5" name="Chart 4">
                  <a:extLst>
                    <a:ext uri="{FF2B5EF4-FFF2-40B4-BE49-F238E27FC236}">
                      <a16:creationId xmlns:a16="http://schemas.microsoft.com/office/drawing/2014/main" id="{B7AA9450-F5D4-D0D0-6A15-BD6D76BCBF68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4309219" y="2194671"/>
                <a:ext cx="5268890" cy="3153184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4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4BC9E915-B4A7-5AFA-0904-1F73334639AA}"/>
                    </a:ext>
                  </a:extLst>
                </p:cNvPr>
                <p:cNvSpPr txBox="1"/>
                <p:nvPr/>
              </p:nvSpPr>
              <p:spPr>
                <a:xfrm>
                  <a:off x="6041501" y="5305711"/>
                  <a:ext cx="19309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Outcome (</a:t>
                  </a:r>
                  <a14:m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</m:oMath>
                  </a14:m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4BC9E915-B4A7-5AFA-0904-1F73334639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1501" y="5305711"/>
                  <a:ext cx="1930932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8333" b="-2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74303B56-6343-7E4D-C0E9-CFA61F637A02}"/>
                    </a:ext>
                  </a:extLst>
                </p:cNvPr>
                <p:cNvSpPr txBox="1"/>
                <p:nvPr/>
              </p:nvSpPr>
              <p:spPr>
                <a:xfrm rot="16200000">
                  <a:off x="2549075" y="3415411"/>
                  <a:ext cx="31610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Probability Density (</a:t>
                  </a:r>
                  <a14:m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</m:oMath>
                  </a14:m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74303B56-6343-7E4D-C0E9-CFA61F637A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549075" y="3415411"/>
                  <a:ext cx="3161099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8333" r="-2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A6F3524-2863-B871-6C38-E1F0F76EED35}"/>
              </a:ext>
            </a:extLst>
          </p:cNvPr>
          <p:cNvSpPr txBox="1"/>
          <p:nvPr/>
        </p:nvSpPr>
        <p:spPr>
          <a:xfrm>
            <a:off x="8029575" y="1492707"/>
            <a:ext cx="2743201" cy="369332"/>
          </a:xfrm>
          <a:custGeom>
            <a:avLst/>
            <a:gdLst>
              <a:gd name="csX0" fmla="*/ 0 w 2743201"/>
              <a:gd name="csY0" fmla="*/ 0 h 369332"/>
              <a:gd name="csX1" fmla="*/ 521208 w 2743201"/>
              <a:gd name="csY1" fmla="*/ 0 h 369332"/>
              <a:gd name="csX2" fmla="*/ 1069848 w 2743201"/>
              <a:gd name="csY2" fmla="*/ 0 h 369332"/>
              <a:gd name="csX3" fmla="*/ 1645921 w 2743201"/>
              <a:gd name="csY3" fmla="*/ 0 h 369332"/>
              <a:gd name="csX4" fmla="*/ 2221993 w 2743201"/>
              <a:gd name="csY4" fmla="*/ 0 h 369332"/>
              <a:gd name="csX5" fmla="*/ 2743201 w 2743201"/>
              <a:gd name="csY5" fmla="*/ 0 h 369332"/>
              <a:gd name="csX6" fmla="*/ 2743201 w 2743201"/>
              <a:gd name="csY6" fmla="*/ 369332 h 369332"/>
              <a:gd name="csX7" fmla="*/ 2139697 w 2743201"/>
              <a:gd name="csY7" fmla="*/ 369332 h 369332"/>
              <a:gd name="csX8" fmla="*/ 1536193 w 2743201"/>
              <a:gd name="csY8" fmla="*/ 369332 h 369332"/>
              <a:gd name="csX9" fmla="*/ 987552 w 2743201"/>
              <a:gd name="csY9" fmla="*/ 369332 h 369332"/>
              <a:gd name="csX10" fmla="*/ 0 w 2743201"/>
              <a:gd name="csY10" fmla="*/ 369332 h 369332"/>
              <a:gd name="csX11" fmla="*/ 0 w 2743201"/>
              <a:gd name="csY11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743201" h="369332" fill="none" extrusionOk="0">
                <a:moveTo>
                  <a:pt x="0" y="0"/>
                </a:moveTo>
                <a:cubicBezTo>
                  <a:pt x="182979" y="-23115"/>
                  <a:pt x="405601" y="34458"/>
                  <a:pt x="521208" y="0"/>
                </a:cubicBezTo>
                <a:cubicBezTo>
                  <a:pt x="636815" y="-34458"/>
                  <a:pt x="822702" y="64997"/>
                  <a:pt x="1069848" y="0"/>
                </a:cubicBezTo>
                <a:cubicBezTo>
                  <a:pt x="1316994" y="-64997"/>
                  <a:pt x="1502990" y="43833"/>
                  <a:pt x="1645921" y="0"/>
                </a:cubicBezTo>
                <a:cubicBezTo>
                  <a:pt x="1788852" y="-43833"/>
                  <a:pt x="2078740" y="53556"/>
                  <a:pt x="2221993" y="0"/>
                </a:cubicBezTo>
                <a:cubicBezTo>
                  <a:pt x="2365246" y="-53556"/>
                  <a:pt x="2625272" y="49694"/>
                  <a:pt x="2743201" y="0"/>
                </a:cubicBezTo>
                <a:cubicBezTo>
                  <a:pt x="2760035" y="102192"/>
                  <a:pt x="2706436" y="207137"/>
                  <a:pt x="2743201" y="369332"/>
                </a:cubicBezTo>
                <a:cubicBezTo>
                  <a:pt x="2556892" y="425093"/>
                  <a:pt x="2435331" y="301861"/>
                  <a:pt x="2139697" y="369332"/>
                </a:cubicBezTo>
                <a:cubicBezTo>
                  <a:pt x="1844063" y="436803"/>
                  <a:pt x="1713567" y="301074"/>
                  <a:pt x="1536193" y="369332"/>
                </a:cubicBezTo>
                <a:cubicBezTo>
                  <a:pt x="1358819" y="437590"/>
                  <a:pt x="1176558" y="348731"/>
                  <a:pt x="987552" y="369332"/>
                </a:cubicBezTo>
                <a:cubicBezTo>
                  <a:pt x="798546" y="389933"/>
                  <a:pt x="335435" y="339120"/>
                  <a:pt x="0" y="369332"/>
                </a:cubicBezTo>
                <a:cubicBezTo>
                  <a:pt x="-1275" y="191808"/>
                  <a:pt x="34267" y="163671"/>
                  <a:pt x="0" y="0"/>
                </a:cubicBezTo>
                <a:close/>
              </a:path>
              <a:path w="2743201" h="369332" stroke="0" extrusionOk="0">
                <a:moveTo>
                  <a:pt x="0" y="0"/>
                </a:moveTo>
                <a:cubicBezTo>
                  <a:pt x="229318" y="-6392"/>
                  <a:pt x="401789" y="18958"/>
                  <a:pt x="521208" y="0"/>
                </a:cubicBezTo>
                <a:cubicBezTo>
                  <a:pt x="640627" y="-18958"/>
                  <a:pt x="889635" y="51740"/>
                  <a:pt x="987552" y="0"/>
                </a:cubicBezTo>
                <a:cubicBezTo>
                  <a:pt x="1085469" y="-51740"/>
                  <a:pt x="1386870" y="27534"/>
                  <a:pt x="1591057" y="0"/>
                </a:cubicBezTo>
                <a:cubicBezTo>
                  <a:pt x="1795245" y="-27534"/>
                  <a:pt x="1962287" y="57170"/>
                  <a:pt x="2112265" y="0"/>
                </a:cubicBezTo>
                <a:cubicBezTo>
                  <a:pt x="2262243" y="-57170"/>
                  <a:pt x="2440660" y="58656"/>
                  <a:pt x="2743201" y="0"/>
                </a:cubicBezTo>
                <a:cubicBezTo>
                  <a:pt x="2779361" y="81226"/>
                  <a:pt x="2721663" y="278722"/>
                  <a:pt x="2743201" y="369332"/>
                </a:cubicBezTo>
                <a:cubicBezTo>
                  <a:pt x="2596772" y="399677"/>
                  <a:pt x="2388668" y="322759"/>
                  <a:pt x="2194561" y="369332"/>
                </a:cubicBezTo>
                <a:cubicBezTo>
                  <a:pt x="2000454" y="415905"/>
                  <a:pt x="1818949" y="351869"/>
                  <a:pt x="1591057" y="369332"/>
                </a:cubicBezTo>
                <a:cubicBezTo>
                  <a:pt x="1363165" y="386795"/>
                  <a:pt x="1306568" y="334465"/>
                  <a:pt x="1124712" y="369332"/>
                </a:cubicBezTo>
                <a:cubicBezTo>
                  <a:pt x="942857" y="404199"/>
                  <a:pt x="697154" y="352307"/>
                  <a:pt x="576072" y="369332"/>
                </a:cubicBezTo>
                <a:cubicBezTo>
                  <a:pt x="454990" y="386357"/>
                  <a:pt x="181581" y="341617"/>
                  <a:pt x="0" y="369332"/>
                </a:cubicBezTo>
                <a:cubicBezTo>
                  <a:pt x="-36656" y="211973"/>
                  <a:pt x="14639" y="175527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Normal Distribution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7D6ED2-EF93-C35C-2861-7FC3716B1A88}"/>
              </a:ext>
            </a:extLst>
          </p:cNvPr>
          <p:cNvSpPr txBox="1"/>
          <p:nvPr/>
        </p:nvSpPr>
        <p:spPr>
          <a:xfrm>
            <a:off x="6917436" y="2948584"/>
            <a:ext cx="4436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Slope of the CDF curve: Contribution of that outcome to the cumulative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256602-2342-F6CC-444D-03279295BDD0}"/>
                  </a:ext>
                </a:extLst>
              </p:cNvPr>
              <p:cNvSpPr txBox="1"/>
              <p:nvPr/>
            </p:nvSpPr>
            <p:spPr>
              <a:xfrm>
                <a:off x="6984786" y="2180418"/>
                <a:ext cx="764376" cy="5241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𝑑𝐹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256602-2342-F6CC-444D-03279295B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786" y="2180418"/>
                <a:ext cx="764376" cy="5241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B390E0-3642-92CA-461C-7B55E8E07CEB}"/>
                  </a:ext>
                </a:extLst>
              </p:cNvPr>
              <p:cNvSpPr txBox="1"/>
              <p:nvPr/>
            </p:nvSpPr>
            <p:spPr>
              <a:xfrm>
                <a:off x="6673607" y="5406530"/>
                <a:ext cx="35137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≤</m:t>
                                  </m:r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B390E0-3642-92CA-461C-7B55E8E07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607" y="5406530"/>
                <a:ext cx="3513719" cy="276999"/>
              </a:xfrm>
              <a:prstGeom prst="rect">
                <a:avLst/>
              </a:prstGeom>
              <a:blipFill>
                <a:blip r:embed="rId8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1D1A0315-74EA-C74B-E713-B5985318B7AE}"/>
              </a:ext>
            </a:extLst>
          </p:cNvPr>
          <p:cNvGrpSpPr/>
          <p:nvPr/>
        </p:nvGrpSpPr>
        <p:grpSpPr>
          <a:xfrm>
            <a:off x="6510744" y="4812050"/>
            <a:ext cx="5469304" cy="1826875"/>
            <a:chOff x="6510744" y="4812050"/>
            <a:chExt cx="5469304" cy="18268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2FA22AC-6186-8D91-CBD1-45D8EE3044E4}"/>
                    </a:ext>
                  </a:extLst>
                </p:cNvPr>
                <p:cNvSpPr txBox="1"/>
                <p:nvPr/>
              </p:nvSpPr>
              <p:spPr>
                <a:xfrm>
                  <a:off x="6673607" y="4922309"/>
                  <a:ext cx="530644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Probability that the outcome is between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</m:e>
                        <m:sub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𝒍</m:t>
                          </m:r>
                        </m:sub>
                      </m:sSub>
                    </m:oMath>
                  </a14:m>
                  <a:r>
                    <a:rPr kumimoji="0" 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</m:e>
                        <m:sub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𝒉</m:t>
                          </m:r>
                        </m:sub>
                      </m:sSub>
                    </m:oMath>
                  </a14:m>
                  <a:endPara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2FA22AC-6186-8D91-CBD1-45D8EE3044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3607" y="4922309"/>
                  <a:ext cx="5306441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1034" t="-6557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97468B2-6858-6CA4-7401-0F7B3F044D63}"/>
                </a:ext>
              </a:extLst>
            </p:cNvPr>
            <p:cNvCxnSpPr>
              <a:cxnSpLocks/>
            </p:cNvCxnSpPr>
            <p:nvPr/>
          </p:nvCxnSpPr>
          <p:spPr>
            <a:xfrm>
              <a:off x="6577419" y="4812050"/>
              <a:ext cx="0" cy="182687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7773BE3-5DC4-9F13-FCF8-DED0755BEEC1}"/>
                </a:ext>
              </a:extLst>
            </p:cNvPr>
            <p:cNvCxnSpPr>
              <a:cxnSpLocks/>
            </p:cNvCxnSpPr>
            <p:nvPr/>
          </p:nvCxnSpPr>
          <p:spPr>
            <a:xfrm>
              <a:off x="6510744" y="4920085"/>
              <a:ext cx="540263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6C54DD0-783F-2679-FA17-684A7F06A13E}"/>
                  </a:ext>
                </a:extLst>
              </p:cNvPr>
              <p:cNvSpPr txBox="1"/>
              <p:nvPr/>
            </p:nvSpPr>
            <p:spPr>
              <a:xfrm>
                <a:off x="6917436" y="3772125"/>
                <a:ext cx="44363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High CDF slope = High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d>
                      <m:d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= High probability of outcome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6C54DD0-783F-2679-FA17-684A7F06A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7436" y="3772125"/>
                <a:ext cx="4436364" cy="646331"/>
              </a:xfrm>
              <a:prstGeom prst="rect">
                <a:avLst/>
              </a:prstGeom>
              <a:blipFill>
                <a:blip r:embed="rId10"/>
                <a:stretch>
                  <a:fillRect l="-1236" t="-4717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E4E2E4E-8D14-5590-D4A2-289C307B2070}"/>
                  </a:ext>
                </a:extLst>
              </p:cNvPr>
              <p:cNvSpPr txBox="1"/>
              <p:nvPr/>
            </p:nvSpPr>
            <p:spPr>
              <a:xfrm>
                <a:off x="6673606" y="5968257"/>
                <a:ext cx="3124958" cy="635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≤</m:t>
                                  </m:r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𝑙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h</m:t>
                              </m:r>
                            </m:sub>
                          </m:sSub>
                        </m:sup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E4E2E4E-8D14-5590-D4A2-289C307B2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606" y="5968257"/>
                <a:ext cx="3124958" cy="635110"/>
              </a:xfrm>
              <a:prstGeom prst="rect">
                <a:avLst/>
              </a:prstGeom>
              <a:blipFill>
                <a:blip r:embed="rId11"/>
                <a:stretch>
                  <a:fillRect b="-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5A47BD1A-2EFB-D6C9-D615-8ED0C32F9F93}"/>
              </a:ext>
            </a:extLst>
          </p:cNvPr>
          <p:cNvGrpSpPr/>
          <p:nvPr/>
        </p:nvGrpSpPr>
        <p:grpSpPr>
          <a:xfrm>
            <a:off x="684991" y="4281854"/>
            <a:ext cx="2787996" cy="1766609"/>
            <a:chOff x="684991" y="4281854"/>
            <a:chExt cx="2787996" cy="176660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426580C-B783-1EAA-DFBF-AAE5B69E7C46}"/>
                </a:ext>
              </a:extLst>
            </p:cNvPr>
            <p:cNvSpPr txBox="1"/>
            <p:nvPr/>
          </p:nvSpPr>
          <p:spPr>
            <a:xfrm>
              <a:off x="684991" y="5679131"/>
              <a:ext cx="2284253" cy="369332"/>
            </a:xfrm>
            <a:custGeom>
              <a:avLst/>
              <a:gdLst>
                <a:gd name="csX0" fmla="*/ 0 w 2284253"/>
                <a:gd name="csY0" fmla="*/ 0 h 369332"/>
                <a:gd name="csX1" fmla="*/ 548221 w 2284253"/>
                <a:gd name="csY1" fmla="*/ 0 h 369332"/>
                <a:gd name="csX2" fmla="*/ 1119284 w 2284253"/>
                <a:gd name="csY2" fmla="*/ 0 h 369332"/>
                <a:gd name="csX3" fmla="*/ 1690347 w 2284253"/>
                <a:gd name="csY3" fmla="*/ 0 h 369332"/>
                <a:gd name="csX4" fmla="*/ 2284253 w 2284253"/>
                <a:gd name="csY4" fmla="*/ 0 h 369332"/>
                <a:gd name="csX5" fmla="*/ 2284253 w 2284253"/>
                <a:gd name="csY5" fmla="*/ 369332 h 369332"/>
                <a:gd name="csX6" fmla="*/ 1713190 w 2284253"/>
                <a:gd name="csY6" fmla="*/ 369332 h 369332"/>
                <a:gd name="csX7" fmla="*/ 1187812 w 2284253"/>
                <a:gd name="csY7" fmla="*/ 369332 h 369332"/>
                <a:gd name="csX8" fmla="*/ 662433 w 2284253"/>
                <a:gd name="csY8" fmla="*/ 369332 h 369332"/>
                <a:gd name="csX9" fmla="*/ 0 w 2284253"/>
                <a:gd name="csY9" fmla="*/ 369332 h 369332"/>
                <a:gd name="csX10" fmla="*/ 0 w 2284253"/>
                <a:gd name="csY10" fmla="*/ 0 h 369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284253" h="369332" fill="none" extrusionOk="0">
                  <a:moveTo>
                    <a:pt x="0" y="0"/>
                  </a:moveTo>
                  <a:cubicBezTo>
                    <a:pt x="169840" y="-48778"/>
                    <a:pt x="306360" y="49815"/>
                    <a:pt x="548221" y="0"/>
                  </a:cubicBezTo>
                  <a:cubicBezTo>
                    <a:pt x="790082" y="-49815"/>
                    <a:pt x="854388" y="43995"/>
                    <a:pt x="1119284" y="0"/>
                  </a:cubicBezTo>
                  <a:cubicBezTo>
                    <a:pt x="1384180" y="-43995"/>
                    <a:pt x="1442395" y="63123"/>
                    <a:pt x="1690347" y="0"/>
                  </a:cubicBezTo>
                  <a:cubicBezTo>
                    <a:pt x="1938299" y="-63123"/>
                    <a:pt x="1991108" y="68355"/>
                    <a:pt x="2284253" y="0"/>
                  </a:cubicBezTo>
                  <a:cubicBezTo>
                    <a:pt x="2318380" y="155178"/>
                    <a:pt x="2250769" y="252069"/>
                    <a:pt x="2284253" y="369332"/>
                  </a:cubicBezTo>
                  <a:cubicBezTo>
                    <a:pt x="2093392" y="434848"/>
                    <a:pt x="1948106" y="365849"/>
                    <a:pt x="1713190" y="369332"/>
                  </a:cubicBezTo>
                  <a:cubicBezTo>
                    <a:pt x="1478274" y="372815"/>
                    <a:pt x="1415302" y="329228"/>
                    <a:pt x="1187812" y="369332"/>
                  </a:cubicBezTo>
                  <a:cubicBezTo>
                    <a:pt x="960322" y="409436"/>
                    <a:pt x="808496" y="310213"/>
                    <a:pt x="662433" y="369332"/>
                  </a:cubicBezTo>
                  <a:cubicBezTo>
                    <a:pt x="516370" y="428451"/>
                    <a:pt x="191403" y="325137"/>
                    <a:pt x="0" y="369332"/>
                  </a:cubicBezTo>
                  <a:cubicBezTo>
                    <a:pt x="-14311" y="228637"/>
                    <a:pt x="33447" y="133990"/>
                    <a:pt x="0" y="0"/>
                  </a:cubicBezTo>
                  <a:close/>
                </a:path>
                <a:path w="2284253" h="369332" stroke="0" extrusionOk="0">
                  <a:moveTo>
                    <a:pt x="0" y="0"/>
                  </a:moveTo>
                  <a:cubicBezTo>
                    <a:pt x="209351" y="-11783"/>
                    <a:pt x="426358" y="19559"/>
                    <a:pt x="548221" y="0"/>
                  </a:cubicBezTo>
                  <a:cubicBezTo>
                    <a:pt x="670084" y="-19559"/>
                    <a:pt x="845625" y="5651"/>
                    <a:pt x="1050756" y="0"/>
                  </a:cubicBezTo>
                  <a:cubicBezTo>
                    <a:pt x="1255887" y="-5651"/>
                    <a:pt x="1541940" y="53216"/>
                    <a:pt x="1667505" y="0"/>
                  </a:cubicBezTo>
                  <a:cubicBezTo>
                    <a:pt x="1793070" y="-53216"/>
                    <a:pt x="2046801" y="32408"/>
                    <a:pt x="2284253" y="0"/>
                  </a:cubicBezTo>
                  <a:cubicBezTo>
                    <a:pt x="2305052" y="91456"/>
                    <a:pt x="2269173" y="211595"/>
                    <a:pt x="2284253" y="369332"/>
                  </a:cubicBezTo>
                  <a:cubicBezTo>
                    <a:pt x="2039270" y="374406"/>
                    <a:pt x="2014614" y="347860"/>
                    <a:pt x="1758875" y="369332"/>
                  </a:cubicBezTo>
                  <a:cubicBezTo>
                    <a:pt x="1503136" y="390804"/>
                    <a:pt x="1414953" y="311502"/>
                    <a:pt x="1233497" y="369332"/>
                  </a:cubicBezTo>
                  <a:cubicBezTo>
                    <a:pt x="1052041" y="427162"/>
                    <a:pt x="786249" y="365709"/>
                    <a:pt x="616748" y="369332"/>
                  </a:cubicBezTo>
                  <a:cubicBezTo>
                    <a:pt x="447247" y="372955"/>
                    <a:pt x="266199" y="343091"/>
                    <a:pt x="0" y="369332"/>
                  </a:cubicBezTo>
                  <a:cubicBezTo>
                    <a:pt x="-29239" y="231265"/>
                    <a:pt x="21229" y="175783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9050">
              <a:solidFill>
                <a:schemeClr val="accent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Area under curve = 1</a:t>
              </a: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33761DC-82E5-0539-C77B-DD227ED94FB0}"/>
                </a:ext>
              </a:extLst>
            </p:cNvPr>
            <p:cNvSpPr/>
            <p:nvPr/>
          </p:nvSpPr>
          <p:spPr>
            <a:xfrm>
              <a:off x="1837592" y="4281854"/>
              <a:ext cx="1635395" cy="1408545"/>
            </a:xfrm>
            <a:custGeom>
              <a:avLst/>
              <a:gdLst>
                <a:gd name="csX0" fmla="*/ 0 w 1635395"/>
                <a:gd name="csY0" fmla="*/ 1389184 h 1408545"/>
                <a:gd name="csX1" fmla="*/ 808893 w 1635395"/>
                <a:gd name="csY1" fmla="*/ 1011115 h 1408545"/>
                <a:gd name="csX2" fmla="*/ 1046285 w 1635395"/>
                <a:gd name="csY2" fmla="*/ 852854 h 1408545"/>
                <a:gd name="csX3" fmla="*/ 1345223 w 1635395"/>
                <a:gd name="csY3" fmla="*/ 553915 h 1408545"/>
                <a:gd name="csX4" fmla="*/ 1433146 w 1635395"/>
                <a:gd name="csY4" fmla="*/ 465992 h 1408545"/>
                <a:gd name="csX5" fmla="*/ 1556239 w 1635395"/>
                <a:gd name="csY5" fmla="*/ 298938 h 1408545"/>
                <a:gd name="csX6" fmla="*/ 1591408 w 1635395"/>
                <a:gd name="csY6" fmla="*/ 237392 h 1408545"/>
                <a:gd name="csX7" fmla="*/ 1617785 w 1635395"/>
                <a:gd name="csY7" fmla="*/ 131884 h 1408545"/>
                <a:gd name="csX8" fmla="*/ 1635370 w 1635395"/>
                <a:gd name="csY8" fmla="*/ 0 h 14085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35395" h="1408545" extrusionOk="0">
                  <a:moveTo>
                    <a:pt x="0" y="1389184"/>
                  </a:moveTo>
                  <a:cubicBezTo>
                    <a:pt x="303958" y="1420824"/>
                    <a:pt x="173269" y="1431707"/>
                    <a:pt x="808893" y="1011115"/>
                  </a:cubicBezTo>
                  <a:cubicBezTo>
                    <a:pt x="904197" y="961766"/>
                    <a:pt x="947428" y="912874"/>
                    <a:pt x="1046285" y="852854"/>
                  </a:cubicBezTo>
                  <a:cubicBezTo>
                    <a:pt x="1385277" y="588846"/>
                    <a:pt x="1177097" y="769562"/>
                    <a:pt x="1345223" y="553915"/>
                  </a:cubicBezTo>
                  <a:cubicBezTo>
                    <a:pt x="1371831" y="522464"/>
                    <a:pt x="1411217" y="499569"/>
                    <a:pt x="1433146" y="465992"/>
                  </a:cubicBezTo>
                  <a:cubicBezTo>
                    <a:pt x="1497697" y="402386"/>
                    <a:pt x="1512470" y="363132"/>
                    <a:pt x="1556239" y="298938"/>
                  </a:cubicBezTo>
                  <a:cubicBezTo>
                    <a:pt x="1581702" y="183329"/>
                    <a:pt x="1531893" y="348869"/>
                    <a:pt x="1591408" y="237392"/>
                  </a:cubicBezTo>
                  <a:cubicBezTo>
                    <a:pt x="1600246" y="212659"/>
                    <a:pt x="1609409" y="162356"/>
                    <a:pt x="1617785" y="131884"/>
                  </a:cubicBezTo>
                  <a:cubicBezTo>
                    <a:pt x="1638253" y="24850"/>
                    <a:pt x="1645235" y="62840"/>
                    <a:pt x="1635370" y="0"/>
                  </a:cubicBezTo>
                </a:path>
              </a:pathLst>
            </a:custGeom>
            <a:noFill/>
            <a:ln>
              <a:tailEnd type="stealth" w="lg" len="lg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1635395"/>
                        <a:gd name="connsiteY0" fmla="*/ 1389184 h 1408545"/>
                        <a:gd name="connsiteX1" fmla="*/ 808893 w 1635395"/>
                        <a:gd name="connsiteY1" fmla="*/ 1011115 h 1408545"/>
                        <a:gd name="connsiteX2" fmla="*/ 1046285 w 1635395"/>
                        <a:gd name="connsiteY2" fmla="*/ 852854 h 1408545"/>
                        <a:gd name="connsiteX3" fmla="*/ 1345223 w 1635395"/>
                        <a:gd name="connsiteY3" fmla="*/ 553915 h 1408545"/>
                        <a:gd name="connsiteX4" fmla="*/ 1433146 w 1635395"/>
                        <a:gd name="connsiteY4" fmla="*/ 465992 h 1408545"/>
                        <a:gd name="connsiteX5" fmla="*/ 1556239 w 1635395"/>
                        <a:gd name="connsiteY5" fmla="*/ 298938 h 1408545"/>
                        <a:gd name="connsiteX6" fmla="*/ 1591408 w 1635395"/>
                        <a:gd name="connsiteY6" fmla="*/ 237392 h 1408545"/>
                        <a:gd name="connsiteX7" fmla="*/ 1617785 w 1635395"/>
                        <a:gd name="connsiteY7" fmla="*/ 131884 h 1408545"/>
                        <a:gd name="connsiteX8" fmla="*/ 1635370 w 1635395"/>
                        <a:gd name="connsiteY8" fmla="*/ 0 h 140854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635395" h="1408545">
                          <a:moveTo>
                            <a:pt x="0" y="1389184"/>
                          </a:moveTo>
                          <a:cubicBezTo>
                            <a:pt x="328826" y="1436163"/>
                            <a:pt x="184101" y="1427642"/>
                            <a:pt x="808893" y="1011115"/>
                          </a:cubicBezTo>
                          <a:cubicBezTo>
                            <a:pt x="888024" y="958361"/>
                            <a:pt x="971888" y="912096"/>
                            <a:pt x="1046285" y="852854"/>
                          </a:cubicBezTo>
                          <a:cubicBezTo>
                            <a:pt x="1418181" y="556714"/>
                            <a:pt x="1183388" y="734789"/>
                            <a:pt x="1345223" y="553915"/>
                          </a:cubicBezTo>
                          <a:cubicBezTo>
                            <a:pt x="1372860" y="523027"/>
                            <a:pt x="1405419" y="496799"/>
                            <a:pt x="1433146" y="465992"/>
                          </a:cubicBezTo>
                          <a:cubicBezTo>
                            <a:pt x="1491097" y="401603"/>
                            <a:pt x="1509856" y="368512"/>
                            <a:pt x="1556239" y="298938"/>
                          </a:cubicBezTo>
                          <a:cubicBezTo>
                            <a:pt x="1585014" y="183836"/>
                            <a:pt x="1539027" y="342152"/>
                            <a:pt x="1591408" y="237392"/>
                          </a:cubicBezTo>
                          <a:cubicBezTo>
                            <a:pt x="1600858" y="218492"/>
                            <a:pt x="1613382" y="156834"/>
                            <a:pt x="1617785" y="131884"/>
                          </a:cubicBezTo>
                          <a:cubicBezTo>
                            <a:pt x="1636815" y="24045"/>
                            <a:pt x="1635370" y="60468"/>
                            <a:pt x="1635370" y="0"/>
                          </a:cubicBez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D87B0B7-8900-7159-341C-8DA65CE3284D}"/>
              </a:ext>
            </a:extLst>
          </p:cNvPr>
          <p:cNvSpPr txBox="1"/>
          <p:nvPr/>
        </p:nvSpPr>
        <p:spPr>
          <a:xfrm rot="21127232">
            <a:off x="9896474" y="4226723"/>
            <a:ext cx="851617" cy="338554"/>
          </a:xfrm>
          <a:custGeom>
            <a:avLst/>
            <a:gdLst>
              <a:gd name="csX0" fmla="*/ 0 w 851617"/>
              <a:gd name="csY0" fmla="*/ 0 h 338554"/>
              <a:gd name="csX1" fmla="*/ 442841 w 851617"/>
              <a:gd name="csY1" fmla="*/ 0 h 338554"/>
              <a:gd name="csX2" fmla="*/ 851617 w 851617"/>
              <a:gd name="csY2" fmla="*/ 0 h 338554"/>
              <a:gd name="csX3" fmla="*/ 851617 w 851617"/>
              <a:gd name="csY3" fmla="*/ 338554 h 338554"/>
              <a:gd name="csX4" fmla="*/ 434325 w 851617"/>
              <a:gd name="csY4" fmla="*/ 338554 h 338554"/>
              <a:gd name="csX5" fmla="*/ 0 w 851617"/>
              <a:gd name="csY5" fmla="*/ 338554 h 338554"/>
              <a:gd name="csX6" fmla="*/ 0 w 851617"/>
              <a:gd name="csY6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51617" h="338554" fill="none" extrusionOk="0">
                <a:moveTo>
                  <a:pt x="0" y="0"/>
                </a:moveTo>
                <a:cubicBezTo>
                  <a:pt x="120737" y="-47201"/>
                  <a:pt x="221445" y="11104"/>
                  <a:pt x="442841" y="0"/>
                </a:cubicBezTo>
                <a:cubicBezTo>
                  <a:pt x="664237" y="-11104"/>
                  <a:pt x="729367" y="44546"/>
                  <a:pt x="851617" y="0"/>
                </a:cubicBezTo>
                <a:cubicBezTo>
                  <a:pt x="859252" y="126744"/>
                  <a:pt x="814031" y="253838"/>
                  <a:pt x="851617" y="338554"/>
                </a:cubicBezTo>
                <a:cubicBezTo>
                  <a:pt x="757110" y="346440"/>
                  <a:pt x="585522" y="294494"/>
                  <a:pt x="434325" y="338554"/>
                </a:cubicBezTo>
                <a:cubicBezTo>
                  <a:pt x="283128" y="382614"/>
                  <a:pt x="134044" y="314746"/>
                  <a:pt x="0" y="338554"/>
                </a:cubicBezTo>
                <a:cubicBezTo>
                  <a:pt x="-33099" y="247216"/>
                  <a:pt x="8235" y="114205"/>
                  <a:pt x="0" y="0"/>
                </a:cubicBezTo>
                <a:close/>
              </a:path>
              <a:path w="851617" h="338554" stroke="0" extrusionOk="0">
                <a:moveTo>
                  <a:pt x="0" y="0"/>
                </a:moveTo>
                <a:cubicBezTo>
                  <a:pt x="202516" y="-47044"/>
                  <a:pt x="241626" y="27102"/>
                  <a:pt x="417292" y="0"/>
                </a:cubicBezTo>
                <a:cubicBezTo>
                  <a:pt x="592958" y="-27102"/>
                  <a:pt x="715345" y="13847"/>
                  <a:pt x="851617" y="0"/>
                </a:cubicBezTo>
                <a:cubicBezTo>
                  <a:pt x="883624" y="165407"/>
                  <a:pt x="827166" y="265303"/>
                  <a:pt x="851617" y="338554"/>
                </a:cubicBezTo>
                <a:cubicBezTo>
                  <a:pt x="654648" y="389264"/>
                  <a:pt x="586296" y="309946"/>
                  <a:pt x="425809" y="338554"/>
                </a:cubicBezTo>
                <a:cubicBezTo>
                  <a:pt x="265322" y="367162"/>
                  <a:pt x="160086" y="328506"/>
                  <a:pt x="0" y="338554"/>
                </a:cubicBezTo>
                <a:cubicBezTo>
                  <a:pt x="-6802" y="201495"/>
                  <a:pt x="23749" y="127991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Flat</a:t>
            </a:r>
          </a:p>
        </p:txBody>
      </p:sp>
    </p:spTree>
    <p:extLst>
      <p:ext uri="{BB962C8B-B14F-4D97-AF65-F5344CB8AC3E}">
        <p14:creationId xmlns:p14="http://schemas.microsoft.com/office/powerpoint/2010/main" val="385282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/>
      <p:bldP spid="20" grpId="0"/>
      <p:bldP spid="21" grpId="0"/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91E82-BADF-DC6C-0294-F3AC11B7D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00A074-AC22-9683-BB5F-39DB9BF1FB11}"/>
                  </a:ext>
                </a:extLst>
              </p:cNvPr>
              <p:cNvSpPr txBox="1"/>
              <p:nvPr/>
            </p:nvSpPr>
            <p:spPr>
              <a:xfrm>
                <a:off x="572492" y="2071316"/>
                <a:ext cx="11018520" cy="1162847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 simple lottery over an interval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bar>
                          <m:bar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bar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bar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, </m:t>
                        </m:r>
                        <m:bar>
                          <m:barPr>
                            <m:pos m:val="top"/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bar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bar>
                      </m:e>
                    </m:d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given by a cumulative distribution function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𝐹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: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→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0, 1</m:t>
                        </m:r>
                      </m:e>
                    </m:d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𝐹</m:t>
                    </m:r>
                    <m:d>
                      <m:d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func>
                      <m:func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0" lang="en-US" sz="24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≤</m:t>
                            </m:r>
                            <m:acc>
                              <m:accPr>
                                <m:chr m:val="̂"/>
                                <m:ctrlP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e>
                    </m:func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the probability that the outcome is less than or equal to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00A074-AC22-9683-BB5F-39DB9BF1F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92" y="2071316"/>
                <a:ext cx="11018520" cy="1162847"/>
              </a:xfrm>
              <a:prstGeom prst="rect">
                <a:avLst/>
              </a:prstGeom>
              <a:blipFill>
                <a:blip r:embed="rId2"/>
                <a:stretch>
                  <a:fillRect l="-885" t="-4712" r="-830" b="-8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0" name="Picture 2" descr="DEFINITION Text Written on Red Grungy Round Stamp Stock Illustration ...">
            <a:extLst>
              <a:ext uri="{FF2B5EF4-FFF2-40B4-BE49-F238E27FC236}">
                <a16:creationId xmlns:a16="http://schemas.microsoft.com/office/drawing/2014/main" id="{B0751BF1-C077-ED78-6C2B-8559AD91A5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79" b="5077"/>
          <a:stretch/>
        </p:blipFill>
        <p:spPr bwMode="auto">
          <a:xfrm>
            <a:off x="10728696" y="144196"/>
            <a:ext cx="1286911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2BFE02-EC03-751F-97F0-4A907FF39093}"/>
              </a:ext>
            </a:extLst>
          </p:cNvPr>
          <p:cNvSpPr txBox="1"/>
          <p:nvPr/>
        </p:nvSpPr>
        <p:spPr>
          <a:xfrm>
            <a:off x="8615643" y="1558018"/>
            <a:ext cx="2975369" cy="369332"/>
          </a:xfrm>
          <a:custGeom>
            <a:avLst/>
            <a:gdLst>
              <a:gd name="csX0" fmla="*/ 0 w 2975369"/>
              <a:gd name="csY0" fmla="*/ 0 h 369332"/>
              <a:gd name="csX1" fmla="*/ 565320 w 2975369"/>
              <a:gd name="csY1" fmla="*/ 0 h 369332"/>
              <a:gd name="csX2" fmla="*/ 1160394 w 2975369"/>
              <a:gd name="csY2" fmla="*/ 0 h 369332"/>
              <a:gd name="csX3" fmla="*/ 1785221 w 2975369"/>
              <a:gd name="csY3" fmla="*/ 0 h 369332"/>
              <a:gd name="csX4" fmla="*/ 2410049 w 2975369"/>
              <a:gd name="csY4" fmla="*/ 0 h 369332"/>
              <a:gd name="csX5" fmla="*/ 2975369 w 2975369"/>
              <a:gd name="csY5" fmla="*/ 0 h 369332"/>
              <a:gd name="csX6" fmla="*/ 2975369 w 2975369"/>
              <a:gd name="csY6" fmla="*/ 369332 h 369332"/>
              <a:gd name="csX7" fmla="*/ 2320788 w 2975369"/>
              <a:gd name="csY7" fmla="*/ 369332 h 369332"/>
              <a:gd name="csX8" fmla="*/ 1666207 w 2975369"/>
              <a:gd name="csY8" fmla="*/ 369332 h 369332"/>
              <a:gd name="csX9" fmla="*/ 1071133 w 2975369"/>
              <a:gd name="csY9" fmla="*/ 369332 h 369332"/>
              <a:gd name="csX10" fmla="*/ 0 w 2975369"/>
              <a:gd name="csY10" fmla="*/ 369332 h 369332"/>
              <a:gd name="csX11" fmla="*/ 0 w 2975369"/>
              <a:gd name="csY11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975369" h="369332" fill="none" extrusionOk="0">
                <a:moveTo>
                  <a:pt x="0" y="0"/>
                </a:moveTo>
                <a:cubicBezTo>
                  <a:pt x="212617" y="-32066"/>
                  <a:pt x="384235" y="11049"/>
                  <a:pt x="565320" y="0"/>
                </a:cubicBezTo>
                <a:cubicBezTo>
                  <a:pt x="746405" y="-11049"/>
                  <a:pt x="972983" y="52597"/>
                  <a:pt x="1160394" y="0"/>
                </a:cubicBezTo>
                <a:cubicBezTo>
                  <a:pt x="1347805" y="-52597"/>
                  <a:pt x="1522762" y="67608"/>
                  <a:pt x="1785221" y="0"/>
                </a:cubicBezTo>
                <a:cubicBezTo>
                  <a:pt x="2047680" y="-67608"/>
                  <a:pt x="2103721" y="19601"/>
                  <a:pt x="2410049" y="0"/>
                </a:cubicBezTo>
                <a:cubicBezTo>
                  <a:pt x="2716377" y="-19601"/>
                  <a:pt x="2712390" y="1673"/>
                  <a:pt x="2975369" y="0"/>
                </a:cubicBezTo>
                <a:cubicBezTo>
                  <a:pt x="2992203" y="102192"/>
                  <a:pt x="2938604" y="207137"/>
                  <a:pt x="2975369" y="369332"/>
                </a:cubicBezTo>
                <a:cubicBezTo>
                  <a:pt x="2838259" y="429113"/>
                  <a:pt x="2596370" y="361070"/>
                  <a:pt x="2320788" y="369332"/>
                </a:cubicBezTo>
                <a:cubicBezTo>
                  <a:pt x="2045206" y="377594"/>
                  <a:pt x="1839936" y="293785"/>
                  <a:pt x="1666207" y="369332"/>
                </a:cubicBezTo>
                <a:cubicBezTo>
                  <a:pt x="1492478" y="444879"/>
                  <a:pt x="1342179" y="358728"/>
                  <a:pt x="1071133" y="369332"/>
                </a:cubicBezTo>
                <a:cubicBezTo>
                  <a:pt x="800087" y="379936"/>
                  <a:pt x="278621" y="288832"/>
                  <a:pt x="0" y="369332"/>
                </a:cubicBezTo>
                <a:cubicBezTo>
                  <a:pt x="-1275" y="191808"/>
                  <a:pt x="34267" y="163671"/>
                  <a:pt x="0" y="0"/>
                </a:cubicBezTo>
                <a:close/>
              </a:path>
              <a:path w="2975369" h="369332" stroke="0" extrusionOk="0">
                <a:moveTo>
                  <a:pt x="0" y="0"/>
                </a:moveTo>
                <a:cubicBezTo>
                  <a:pt x="136580" y="-7933"/>
                  <a:pt x="334098" y="10326"/>
                  <a:pt x="565320" y="0"/>
                </a:cubicBezTo>
                <a:cubicBezTo>
                  <a:pt x="796542" y="-10326"/>
                  <a:pt x="926594" y="47969"/>
                  <a:pt x="1071133" y="0"/>
                </a:cubicBezTo>
                <a:cubicBezTo>
                  <a:pt x="1215672" y="-47969"/>
                  <a:pt x="1564735" y="41523"/>
                  <a:pt x="1725714" y="0"/>
                </a:cubicBezTo>
                <a:cubicBezTo>
                  <a:pt x="1886693" y="-41523"/>
                  <a:pt x="2052770" y="39184"/>
                  <a:pt x="2291034" y="0"/>
                </a:cubicBezTo>
                <a:cubicBezTo>
                  <a:pt x="2529298" y="-39184"/>
                  <a:pt x="2635759" y="33899"/>
                  <a:pt x="2975369" y="0"/>
                </a:cubicBezTo>
                <a:cubicBezTo>
                  <a:pt x="3011529" y="81226"/>
                  <a:pt x="2953831" y="278722"/>
                  <a:pt x="2975369" y="369332"/>
                </a:cubicBezTo>
                <a:cubicBezTo>
                  <a:pt x="2700019" y="426437"/>
                  <a:pt x="2532427" y="301804"/>
                  <a:pt x="2380295" y="369332"/>
                </a:cubicBezTo>
                <a:cubicBezTo>
                  <a:pt x="2228163" y="436860"/>
                  <a:pt x="1940049" y="363660"/>
                  <a:pt x="1725714" y="369332"/>
                </a:cubicBezTo>
                <a:cubicBezTo>
                  <a:pt x="1511379" y="375004"/>
                  <a:pt x="1406839" y="325960"/>
                  <a:pt x="1219901" y="369332"/>
                </a:cubicBezTo>
                <a:cubicBezTo>
                  <a:pt x="1032963" y="412704"/>
                  <a:pt x="888173" y="364072"/>
                  <a:pt x="624827" y="369332"/>
                </a:cubicBezTo>
                <a:cubicBezTo>
                  <a:pt x="361481" y="374592"/>
                  <a:pt x="290903" y="321863"/>
                  <a:pt x="0" y="369332"/>
                </a:cubicBezTo>
                <a:cubicBezTo>
                  <a:pt x="-36656" y="211973"/>
                  <a:pt x="14639" y="175527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Modeling Uncertainty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CC64A4B1-3A79-FFD4-7DCF-654CDA5823B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2492" y="4295775"/>
              <a:ext cx="5152034" cy="1841691"/>
            </p:xfrm>
            <a:graphic>
              <a:graphicData uri="http://schemas.openxmlformats.org/drawingml/2006/table">
                <a:tbl>
                  <a:tblPr firstRow="1" bandCol="1">
                    <a:tableStyleId>{D27102A9-8310-4765-A935-A1911B00CA55}</a:tableStyleId>
                  </a:tblPr>
                  <a:tblGrid>
                    <a:gridCol w="1371724">
                      <a:extLst>
                        <a:ext uri="{9D8B030D-6E8A-4147-A177-3AD203B41FA5}">
                          <a16:colId xmlns:a16="http://schemas.microsoft.com/office/drawing/2014/main" val="109060319"/>
                        </a:ext>
                      </a:extLst>
                    </a:gridCol>
                    <a:gridCol w="3780310">
                      <a:extLst>
                        <a:ext uri="{9D8B030D-6E8A-4147-A177-3AD203B41FA5}">
                          <a16:colId xmlns:a16="http://schemas.microsoft.com/office/drawing/2014/main" val="965449992"/>
                        </a:ext>
                      </a:extLst>
                    </a:gridCol>
                  </a:tblGrid>
                  <a:tr h="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Notation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771875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Interval of outcomes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882914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Lower limit of interval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2673718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Upper limit of interval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204429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Probability that the outcome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12778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CC64A4B1-3A79-FFD4-7DCF-654CDA5823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9222203"/>
                  </p:ext>
                </p:extLst>
              </p:nvPr>
            </p:nvGraphicFramePr>
            <p:xfrm>
              <a:off x="572492" y="4295775"/>
              <a:ext cx="5152034" cy="1841691"/>
            </p:xfrm>
            <a:graphic>
              <a:graphicData uri="http://schemas.openxmlformats.org/drawingml/2006/table">
                <a:tbl>
                  <a:tblPr firstRow="1" bandCol="1">
                    <a:tableStyleId>{D27102A9-8310-4765-A935-A1911B00CA55}</a:tableStyleId>
                  </a:tblPr>
                  <a:tblGrid>
                    <a:gridCol w="1371724">
                      <a:extLst>
                        <a:ext uri="{9D8B030D-6E8A-4147-A177-3AD203B41FA5}">
                          <a16:colId xmlns:a16="http://schemas.microsoft.com/office/drawing/2014/main" val="109060319"/>
                        </a:ext>
                      </a:extLst>
                    </a:gridCol>
                    <a:gridCol w="3780310">
                      <a:extLst>
                        <a:ext uri="{9D8B030D-6E8A-4147-A177-3AD203B41FA5}">
                          <a16:colId xmlns:a16="http://schemas.microsoft.com/office/drawing/2014/main" val="965449992"/>
                        </a:ext>
                      </a:extLst>
                    </a:gridCol>
                  </a:tblGrid>
                  <a:tr h="36576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Notation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77187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106667" r="-275221" b="-3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Interval of outcomes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8829149"/>
                      </a:ext>
                    </a:extLst>
                  </a:tr>
                  <a:tr h="3786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196825" r="-275221" b="-217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393" t="-196825" r="-161" b="-2174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673718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311667" r="-275221" b="-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393" t="-311667" r="-161" b="-1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20442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411667" r="-275221" b="-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393" t="-411667" r="-161" b="-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127789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2C33274D-0953-25EB-9977-C9059E38A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700" dirty="0"/>
              <a:t>A Simple Lottery Over Continuous Outcomes</a:t>
            </a:r>
            <a:endParaRPr lang="en-US" sz="47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1210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91E82-BADF-DC6C-0294-F3AC11B7D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33274D-0953-25EB-9977-C9059E38A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dirty="0"/>
              <a:t>Expected </a:t>
            </a:r>
            <a:r>
              <a:rPr lang="en-US" sz="5400" dirty="0">
                <a:solidFill>
                  <a:srgbClr val="0070C0"/>
                </a:solidFill>
              </a:rPr>
              <a:t>Payoff</a:t>
            </a:r>
            <a:r>
              <a:rPr lang="en-US" sz="5400" dirty="0"/>
              <a:t> for Continuous </a:t>
            </a:r>
            <a:r>
              <a:rPr lang="en-US" sz="5400" dirty="0">
                <a:solidFill>
                  <a:srgbClr val="00B050"/>
                </a:solidFill>
              </a:rPr>
              <a:t>Outcomes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942435-A626-F23B-5A28-4D96CC072517}"/>
                  </a:ext>
                </a:extLst>
              </p:cNvPr>
              <p:cNvSpPr txBox="1"/>
              <p:nvPr/>
            </p:nvSpPr>
            <p:spPr>
              <a:xfrm>
                <a:off x="2294368" y="2641167"/>
                <a:ext cx="1135439" cy="27699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96B24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𝑋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96B24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96B24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96B24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0, 10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96B24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942435-A626-F23B-5A28-4D96CC072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368" y="2641167"/>
                <a:ext cx="1135439" cy="276999"/>
              </a:xfrm>
              <a:prstGeom prst="rect">
                <a:avLst/>
              </a:prstGeom>
              <a:blipFill>
                <a:blip r:embed="rId2"/>
                <a:stretch>
                  <a:fillRect l="-4278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3B45756-CF39-AF15-148D-A73261D07B11}"/>
                  </a:ext>
                </a:extLst>
              </p:cNvPr>
              <p:cNvSpPr txBox="1"/>
              <p:nvPr/>
            </p:nvSpPr>
            <p:spPr>
              <a:xfrm>
                <a:off x="2292350" y="2067695"/>
                <a:ext cx="10937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3B45756-CF39-AF15-148D-A73261D07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350" y="2067695"/>
                <a:ext cx="1093761" cy="276999"/>
              </a:xfrm>
              <a:prstGeom prst="rect">
                <a:avLst/>
              </a:prstGeom>
              <a:blipFill>
                <a:blip r:embed="rId3"/>
                <a:stretch>
                  <a:fillRect l="-4469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D595F33-77C9-05C3-A461-5D2B9C176CFF}"/>
              </a:ext>
            </a:extLst>
          </p:cNvPr>
          <p:cNvSpPr txBox="1"/>
          <p:nvPr/>
        </p:nvSpPr>
        <p:spPr>
          <a:xfrm>
            <a:off x="2354577" y="3028236"/>
            <a:ext cx="19329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…you can win between 0 and 10 lakhs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C687AAC-F908-F7C7-DD98-F5A6B5D0F0F7}"/>
              </a:ext>
            </a:extLst>
          </p:cNvPr>
          <p:cNvGrpSpPr/>
          <p:nvPr/>
        </p:nvGrpSpPr>
        <p:grpSpPr>
          <a:xfrm>
            <a:off x="351982" y="2936454"/>
            <a:ext cx="2440541" cy="1500000"/>
            <a:chOff x="349513" y="1967891"/>
            <a:chExt cx="2440541" cy="15000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20DF843-040E-7686-B695-D4BB57FB0E2B}"/>
                </a:ext>
              </a:extLst>
            </p:cNvPr>
            <p:cNvSpPr txBox="1"/>
            <p:nvPr/>
          </p:nvSpPr>
          <p:spPr>
            <a:xfrm>
              <a:off x="349513" y="2821560"/>
              <a:ext cx="2036996" cy="64633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96B24">
                      <a:lumMod val="50000"/>
                    </a:srgbClr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Continuous outcome space</a:t>
              </a: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4896E0B-EA43-3CA8-2567-EECE9172E617}"/>
                </a:ext>
              </a:extLst>
            </p:cNvPr>
            <p:cNvSpPr/>
            <p:nvPr/>
          </p:nvSpPr>
          <p:spPr>
            <a:xfrm flipH="1">
              <a:off x="1316378" y="1967891"/>
              <a:ext cx="1473676" cy="853669"/>
            </a:xfrm>
            <a:custGeom>
              <a:avLst/>
              <a:gdLst>
                <a:gd name="connsiteX0" fmla="*/ 552974 w 552974"/>
                <a:gd name="connsiteY0" fmla="*/ 647700 h 647700"/>
                <a:gd name="connsiteX1" fmla="*/ 343424 w 552974"/>
                <a:gd name="connsiteY1" fmla="*/ 485775 h 647700"/>
                <a:gd name="connsiteX2" fmla="*/ 257699 w 552974"/>
                <a:gd name="connsiteY2" fmla="*/ 371475 h 647700"/>
                <a:gd name="connsiteX3" fmla="*/ 219599 w 552974"/>
                <a:gd name="connsiteY3" fmla="*/ 323850 h 647700"/>
                <a:gd name="connsiteX4" fmla="*/ 191024 w 552974"/>
                <a:gd name="connsiteY4" fmla="*/ 276225 h 647700"/>
                <a:gd name="connsiteX5" fmla="*/ 124349 w 552974"/>
                <a:gd name="connsiteY5" fmla="*/ 190500 h 647700"/>
                <a:gd name="connsiteX6" fmla="*/ 95774 w 552974"/>
                <a:gd name="connsiteY6" fmla="*/ 152400 h 647700"/>
                <a:gd name="connsiteX7" fmla="*/ 67199 w 552974"/>
                <a:gd name="connsiteY7" fmla="*/ 104775 h 647700"/>
                <a:gd name="connsiteX8" fmla="*/ 524 w 552974"/>
                <a:gd name="connsiteY8" fmla="*/ 9525 h 647700"/>
                <a:gd name="connsiteX9" fmla="*/ 524 w 552974"/>
                <a:gd name="connsiteY9" fmla="*/ 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2974" h="647700">
                  <a:moveTo>
                    <a:pt x="552974" y="647700"/>
                  </a:moveTo>
                  <a:cubicBezTo>
                    <a:pt x="483124" y="593725"/>
                    <a:pt x="410622" y="543018"/>
                    <a:pt x="343424" y="485775"/>
                  </a:cubicBezTo>
                  <a:cubicBezTo>
                    <a:pt x="309170" y="456596"/>
                    <a:pt x="283676" y="407193"/>
                    <a:pt x="257699" y="371475"/>
                  </a:cubicBezTo>
                  <a:cubicBezTo>
                    <a:pt x="245742" y="355033"/>
                    <a:pt x="231257" y="340505"/>
                    <a:pt x="219599" y="323850"/>
                  </a:cubicBezTo>
                  <a:cubicBezTo>
                    <a:pt x="208982" y="308683"/>
                    <a:pt x="202390" y="290838"/>
                    <a:pt x="191024" y="276225"/>
                  </a:cubicBezTo>
                  <a:cubicBezTo>
                    <a:pt x="43045" y="85966"/>
                    <a:pt x="261932" y="396874"/>
                    <a:pt x="124349" y="190500"/>
                  </a:cubicBezTo>
                  <a:cubicBezTo>
                    <a:pt x="115543" y="177291"/>
                    <a:pt x="104580" y="165609"/>
                    <a:pt x="95774" y="152400"/>
                  </a:cubicBezTo>
                  <a:cubicBezTo>
                    <a:pt x="85505" y="136996"/>
                    <a:pt x="78088" y="119747"/>
                    <a:pt x="67199" y="104775"/>
                  </a:cubicBezTo>
                  <a:cubicBezTo>
                    <a:pt x="25056" y="46828"/>
                    <a:pt x="22320" y="64015"/>
                    <a:pt x="524" y="9525"/>
                  </a:cubicBezTo>
                  <a:cubicBezTo>
                    <a:pt x="-655" y="6577"/>
                    <a:pt x="524" y="3175"/>
                    <a:pt x="524" y="0"/>
                  </a:cubicBezTo>
                </a:path>
              </a:pathLst>
            </a:cu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D1A0274-F54E-BB8D-504F-02AA2C713ABD}"/>
              </a:ext>
            </a:extLst>
          </p:cNvPr>
          <p:cNvGrpSpPr/>
          <p:nvPr/>
        </p:nvGrpSpPr>
        <p:grpSpPr>
          <a:xfrm>
            <a:off x="572493" y="289161"/>
            <a:ext cx="11358961" cy="2814677"/>
            <a:chOff x="572493" y="289161"/>
            <a:chExt cx="11358961" cy="281467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0FDA259-6F26-C17F-4429-D6AE58116142}"/>
                </a:ext>
              </a:extLst>
            </p:cNvPr>
            <p:cNvGrpSpPr/>
            <p:nvPr/>
          </p:nvGrpSpPr>
          <p:grpSpPr>
            <a:xfrm>
              <a:off x="10300831" y="289161"/>
              <a:ext cx="1630623" cy="783751"/>
              <a:chOff x="10300831" y="289161"/>
              <a:chExt cx="1630623" cy="783751"/>
            </a:xfrm>
          </p:grpSpPr>
          <p:pic>
            <p:nvPicPr>
              <p:cNvPr id="6" name="Picture 16" descr="Blank Stamp Outline Wide | Great PowerPoint ClipArt for ...">
                <a:extLst>
                  <a:ext uri="{FF2B5EF4-FFF2-40B4-BE49-F238E27FC236}">
                    <a16:creationId xmlns:a16="http://schemas.microsoft.com/office/drawing/2014/main" id="{F804EDAE-6064-B9D3-00E5-4D7E188895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9796" b="26891"/>
              <a:stretch/>
            </p:blipFill>
            <p:spPr bwMode="auto">
              <a:xfrm rot="735545">
                <a:off x="10300831" y="289161"/>
                <a:ext cx="1630623" cy="7837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AC6EF9-339D-F362-91A1-2E2BAFEC9E00}"/>
                  </a:ext>
                </a:extLst>
              </p:cNvPr>
              <p:cNvSpPr txBox="1"/>
              <p:nvPr/>
            </p:nvSpPr>
            <p:spPr>
              <a:xfrm rot="352725">
                <a:off x="10419957" y="485425"/>
                <a:ext cx="14393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Bahnschrift" panose="020B0502040204020203" pitchFamily="34" charset="0"/>
                    <a:ea typeface="+mn-ea"/>
                    <a:cs typeface="+mn-cs"/>
                  </a:rPr>
                  <a:t>EXAMPLE</a:t>
                </a:r>
              </a:p>
            </p:txBody>
          </p:sp>
        </p:grpSp>
        <p:pic>
          <p:nvPicPr>
            <p:cNvPr id="15" name="Content Placeholder 10" descr="A cartoon of a hand holding a lottery ticket&#10;&#10;Description automatically generated">
              <a:extLst>
                <a:ext uri="{FF2B5EF4-FFF2-40B4-BE49-F238E27FC236}">
                  <a16:creationId xmlns:a16="http://schemas.microsoft.com/office/drawing/2014/main" id="{D9207CBF-1E52-466D-B61E-B529DEBE99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912" t="7931" r="14912" b="10017"/>
            <a:stretch/>
          </p:blipFill>
          <p:spPr>
            <a:xfrm>
              <a:off x="572493" y="1817006"/>
              <a:ext cx="1135439" cy="1286832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716FE79-4768-AB67-FDF4-81BCD2240EB3}"/>
              </a:ext>
            </a:extLst>
          </p:cNvPr>
          <p:cNvGrpSpPr/>
          <p:nvPr/>
        </p:nvGrpSpPr>
        <p:grpSpPr>
          <a:xfrm>
            <a:off x="277216" y="4552010"/>
            <a:ext cx="3808074" cy="589472"/>
            <a:chOff x="669036" y="2523534"/>
            <a:chExt cx="3808074" cy="58947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584ED2D-0C32-7CDC-BE60-58540DA88096}"/>
                </a:ext>
              </a:extLst>
            </p:cNvPr>
            <p:cNvSpPr txBox="1"/>
            <p:nvPr/>
          </p:nvSpPr>
          <p:spPr>
            <a:xfrm>
              <a:off x="669036" y="2633604"/>
              <a:ext cx="33940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Discrete probability distribution</a:t>
              </a:r>
            </a:p>
          </p:txBody>
        </p:sp>
        <p:pic>
          <p:nvPicPr>
            <p:cNvPr id="20" name="Graphic 19" descr="Close outline">
              <a:extLst>
                <a:ext uri="{FF2B5EF4-FFF2-40B4-BE49-F238E27FC236}">
                  <a16:creationId xmlns:a16="http://schemas.microsoft.com/office/drawing/2014/main" id="{49150EEA-0486-8042-8DDD-A39576C4C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887638" y="2523534"/>
              <a:ext cx="589472" cy="589472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A75C4A0-3509-C4A6-C826-2833F9E01982}"/>
              </a:ext>
            </a:extLst>
          </p:cNvPr>
          <p:cNvGrpSpPr/>
          <p:nvPr/>
        </p:nvGrpSpPr>
        <p:grpSpPr>
          <a:xfrm>
            <a:off x="4514399" y="1996158"/>
            <a:ext cx="3242989" cy="4580793"/>
            <a:chOff x="4514399" y="1941824"/>
            <a:chExt cx="3242989" cy="4580793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D0A23AB4-4310-2C91-8391-F882AF1ADFDC}"/>
                </a:ext>
              </a:extLst>
            </p:cNvPr>
            <p:cNvGrpSpPr/>
            <p:nvPr/>
          </p:nvGrpSpPr>
          <p:grpSpPr>
            <a:xfrm>
              <a:off x="4877729" y="2010970"/>
              <a:ext cx="2879659" cy="555793"/>
              <a:chOff x="4877729" y="2010970"/>
              <a:chExt cx="2879659" cy="555793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E136642-A425-5D86-0AF1-38A82E61D34A}"/>
                  </a:ext>
                </a:extLst>
              </p:cNvPr>
              <p:cNvSpPr txBox="1"/>
              <p:nvPr/>
            </p:nvSpPr>
            <p:spPr>
              <a:xfrm>
                <a:off x="4877729" y="2091090"/>
                <a:ext cx="700454" cy="369332"/>
              </a:xfrm>
              <a:custGeom>
                <a:avLst/>
                <a:gdLst>
                  <a:gd name="csX0" fmla="*/ 0 w 700454"/>
                  <a:gd name="csY0" fmla="*/ 0 h 369332"/>
                  <a:gd name="csX1" fmla="*/ 343222 w 700454"/>
                  <a:gd name="csY1" fmla="*/ 0 h 369332"/>
                  <a:gd name="csX2" fmla="*/ 700454 w 700454"/>
                  <a:gd name="csY2" fmla="*/ 0 h 369332"/>
                  <a:gd name="csX3" fmla="*/ 700454 w 700454"/>
                  <a:gd name="csY3" fmla="*/ 369332 h 369332"/>
                  <a:gd name="csX4" fmla="*/ 350227 w 700454"/>
                  <a:gd name="csY4" fmla="*/ 369332 h 369332"/>
                  <a:gd name="csX5" fmla="*/ 0 w 700454"/>
                  <a:gd name="csY5" fmla="*/ 369332 h 369332"/>
                  <a:gd name="csX6" fmla="*/ 0 w 700454"/>
                  <a:gd name="csY6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700454" h="369332" extrusionOk="0">
                    <a:moveTo>
                      <a:pt x="0" y="0"/>
                    </a:moveTo>
                    <a:cubicBezTo>
                      <a:pt x="158880" y="-19495"/>
                      <a:pt x="175854" y="38567"/>
                      <a:pt x="343222" y="0"/>
                    </a:cubicBezTo>
                    <a:cubicBezTo>
                      <a:pt x="510590" y="-38567"/>
                      <a:pt x="628241" y="11308"/>
                      <a:pt x="700454" y="0"/>
                    </a:cubicBezTo>
                    <a:cubicBezTo>
                      <a:pt x="728417" y="78977"/>
                      <a:pt x="670030" y="271296"/>
                      <a:pt x="700454" y="369332"/>
                    </a:cubicBezTo>
                    <a:cubicBezTo>
                      <a:pt x="530948" y="379826"/>
                      <a:pt x="466257" y="365638"/>
                      <a:pt x="350227" y="369332"/>
                    </a:cubicBezTo>
                    <a:cubicBezTo>
                      <a:pt x="234197" y="373026"/>
                      <a:pt x="160256" y="343018"/>
                      <a:pt x="0" y="369332"/>
                    </a:cubicBezTo>
                    <a:cubicBezTo>
                      <a:pt x="-6017" y="217080"/>
                      <a:pt x="5246" y="88445"/>
                      <a:pt x="0" y="0"/>
                    </a:cubicBez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CDF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5B0E1490-5D4C-04CE-DBD6-045371DBF5E5}"/>
                      </a:ext>
                    </a:extLst>
                  </p:cNvPr>
                  <p:cNvSpPr txBox="1"/>
                  <p:nvPr/>
                </p:nvSpPr>
                <p:spPr>
                  <a:xfrm>
                    <a:off x="5941185" y="2010970"/>
                    <a:ext cx="1816203" cy="55579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f>
                            <m:f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0.2</m:t>
                                  </m:r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sup>
                              </m:sSup>
                            </m:num>
                            <m:den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5B0E1490-5D4C-04CE-DBD6-045371DBF5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41185" y="2010970"/>
                    <a:ext cx="1816203" cy="55579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3A2F1B2-2A39-069A-D8F5-1B8C02A2AE87}"/>
                </a:ext>
              </a:extLst>
            </p:cNvPr>
            <p:cNvCxnSpPr/>
            <p:nvPr/>
          </p:nvCxnSpPr>
          <p:spPr>
            <a:xfrm>
              <a:off x="4514399" y="1941824"/>
              <a:ext cx="0" cy="458079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62D96A6-CE66-779F-D4D7-0C6680C9C35E}"/>
              </a:ext>
            </a:extLst>
          </p:cNvPr>
          <p:cNvGrpSpPr/>
          <p:nvPr/>
        </p:nvGrpSpPr>
        <p:grpSpPr>
          <a:xfrm>
            <a:off x="4514399" y="4292460"/>
            <a:ext cx="7481672" cy="712936"/>
            <a:chOff x="4514399" y="4292460"/>
            <a:chExt cx="7481672" cy="712936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2D54D20-5C37-DC4A-FC06-9B45C318C3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4399" y="4292460"/>
              <a:ext cx="7481672" cy="4269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D0D3887-3AB1-52F7-85D8-18636F56EFE4}"/>
                </a:ext>
              </a:extLst>
            </p:cNvPr>
            <p:cNvSpPr txBox="1"/>
            <p:nvPr/>
          </p:nvSpPr>
          <p:spPr>
            <a:xfrm>
              <a:off x="4877729" y="4516389"/>
              <a:ext cx="700454" cy="369332"/>
            </a:xfrm>
            <a:custGeom>
              <a:avLst/>
              <a:gdLst>
                <a:gd name="csX0" fmla="*/ 0 w 700454"/>
                <a:gd name="csY0" fmla="*/ 0 h 369332"/>
                <a:gd name="csX1" fmla="*/ 343222 w 700454"/>
                <a:gd name="csY1" fmla="*/ 0 h 369332"/>
                <a:gd name="csX2" fmla="*/ 700454 w 700454"/>
                <a:gd name="csY2" fmla="*/ 0 h 369332"/>
                <a:gd name="csX3" fmla="*/ 700454 w 700454"/>
                <a:gd name="csY3" fmla="*/ 369332 h 369332"/>
                <a:gd name="csX4" fmla="*/ 350227 w 700454"/>
                <a:gd name="csY4" fmla="*/ 369332 h 369332"/>
                <a:gd name="csX5" fmla="*/ 0 w 700454"/>
                <a:gd name="csY5" fmla="*/ 369332 h 369332"/>
                <a:gd name="csX6" fmla="*/ 0 w 700454"/>
                <a:gd name="csY6" fmla="*/ 0 h 369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00454" h="369332" extrusionOk="0">
                  <a:moveTo>
                    <a:pt x="0" y="0"/>
                  </a:moveTo>
                  <a:cubicBezTo>
                    <a:pt x="158880" y="-19495"/>
                    <a:pt x="175854" y="38567"/>
                    <a:pt x="343222" y="0"/>
                  </a:cubicBezTo>
                  <a:cubicBezTo>
                    <a:pt x="510590" y="-38567"/>
                    <a:pt x="628241" y="11308"/>
                    <a:pt x="700454" y="0"/>
                  </a:cubicBezTo>
                  <a:cubicBezTo>
                    <a:pt x="728417" y="78977"/>
                    <a:pt x="670030" y="271296"/>
                    <a:pt x="700454" y="369332"/>
                  </a:cubicBezTo>
                  <a:cubicBezTo>
                    <a:pt x="530948" y="379826"/>
                    <a:pt x="466257" y="365638"/>
                    <a:pt x="350227" y="369332"/>
                  </a:cubicBezTo>
                  <a:cubicBezTo>
                    <a:pt x="234197" y="373026"/>
                    <a:pt x="160256" y="343018"/>
                    <a:pt x="0" y="369332"/>
                  </a:cubicBezTo>
                  <a:cubicBezTo>
                    <a:pt x="-6017" y="217080"/>
                    <a:pt x="5246" y="88445"/>
                    <a:pt x="0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PDF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CFAB4CA-76C8-2E36-81CD-7811929362B3}"/>
                    </a:ext>
                  </a:extLst>
                </p:cNvPr>
                <p:cNvSpPr txBox="1"/>
                <p:nvPr/>
              </p:nvSpPr>
              <p:spPr>
                <a:xfrm>
                  <a:off x="5839231" y="4449603"/>
                  <a:ext cx="2284600" cy="55579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</m:d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f>
                          <m:fPr>
                            <m:ctrlP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𝑑𝐹</m:t>
                            </m:r>
                          </m:num>
                          <m:den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𝑑𝑥</m:t>
                            </m:r>
                          </m:den>
                        </m:f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f>
                          <m:f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0.2</m:t>
                            </m:r>
                            <m:sSup>
                              <m:sSup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IN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0.2</m:t>
                                </m:r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IN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CFAB4CA-76C8-2E36-81CD-7811929362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9231" y="4449603"/>
                  <a:ext cx="2284600" cy="55579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1AA8A69-5A6E-5B84-544D-724AAA32508D}"/>
              </a:ext>
            </a:extLst>
          </p:cNvPr>
          <p:cNvGrpSpPr/>
          <p:nvPr/>
        </p:nvGrpSpPr>
        <p:grpSpPr>
          <a:xfrm>
            <a:off x="351982" y="5489955"/>
            <a:ext cx="1135440" cy="707982"/>
            <a:chOff x="2808704" y="2302906"/>
            <a:chExt cx="1135440" cy="7079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88DABC01-0871-D588-05CF-FBF62C12D7B6}"/>
                    </a:ext>
                  </a:extLst>
                </p:cNvPr>
                <p:cNvSpPr txBox="1"/>
                <p:nvPr/>
              </p:nvSpPr>
              <p:spPr>
                <a:xfrm>
                  <a:off x="2808704" y="2733889"/>
                  <a:ext cx="93916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</m:d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88DABC01-0871-D588-05CF-FBF62C12D7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8704" y="2733889"/>
                  <a:ext cx="939168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3896" r="-25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317FC84-1637-7D9B-53C6-48308B5F71EF}"/>
                </a:ext>
              </a:extLst>
            </p:cNvPr>
            <p:cNvSpPr txBox="1"/>
            <p:nvPr/>
          </p:nvSpPr>
          <p:spPr>
            <a:xfrm>
              <a:off x="2808704" y="2302906"/>
              <a:ext cx="1135440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Payoffs</a:t>
              </a:r>
            </a:p>
          </p:txBody>
        </p:sp>
      </p:grp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E94C2A0-E9B9-B7A0-6C8F-4257E53E3B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04087" y="1870836"/>
          <a:ext cx="3938166" cy="23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3230B6F6-662D-4089-B9E2-7C05F98A55C9}"/>
              </a:ext>
            </a:extLst>
          </p:cNvPr>
          <p:cNvGraphicFramePr>
            <a:graphicFrameLocks/>
          </p:cNvGraphicFramePr>
          <p:nvPr/>
        </p:nvGraphicFramePr>
        <p:xfrm>
          <a:off x="7861550" y="4394704"/>
          <a:ext cx="4223239" cy="24823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</p:spTree>
    <p:extLst>
      <p:ext uri="{BB962C8B-B14F-4D97-AF65-F5344CB8AC3E}">
        <p14:creationId xmlns:p14="http://schemas.microsoft.com/office/powerpoint/2010/main" val="352746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Graphic spid="4" grpId="0">
        <p:bldAsOne/>
      </p:bldGraphic>
      <p:bldGraphic spid="14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481D07-0959-DB8E-F691-AC224A101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42A1D34-88F9-3DD8-4A16-6E0D5DDF6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2CC7164D-20EF-AC81-EDF9-B2B0A20D8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5C394A-855D-847D-653A-7DD0031CA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dirty="0"/>
              <a:t>Expected </a:t>
            </a:r>
            <a:r>
              <a:rPr lang="en-US" sz="5400" dirty="0">
                <a:solidFill>
                  <a:srgbClr val="0070C0"/>
                </a:solidFill>
              </a:rPr>
              <a:t>Payoff</a:t>
            </a:r>
            <a:r>
              <a:rPr lang="en-US" sz="5400" dirty="0"/>
              <a:t> for Continuous </a:t>
            </a:r>
            <a:r>
              <a:rPr lang="en-US" sz="5400" dirty="0">
                <a:solidFill>
                  <a:srgbClr val="00B050"/>
                </a:solidFill>
              </a:rPr>
              <a:t>Outcomes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04BB03D-CC97-6E89-3B9F-DE16E22F64B1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6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9E599207-7D6A-851D-82D0-B04E29EA1E4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82910BB-01A7-5959-5AC7-1C12936533F0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EXAMPLE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922C15-9B89-AFBF-74B3-01407AA4AA29}"/>
                  </a:ext>
                </a:extLst>
              </p:cNvPr>
              <p:cNvSpPr txBox="1"/>
              <p:nvPr/>
            </p:nvSpPr>
            <p:spPr>
              <a:xfrm>
                <a:off x="572492" y="4225514"/>
                <a:ext cx="2871812" cy="6227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</m:t>
                          </m:r>
                        </m:sup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97132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f>
                            <m:f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0.2</m:t>
                              </m:r>
                              <m:sSup>
                                <m:sSupPr>
                                  <m:ctrlP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sup>
                              </m:sSup>
                            </m:num>
                            <m:den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922C15-9B89-AFBF-74B3-01407AA4AA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92" y="4225514"/>
                <a:ext cx="2871812" cy="6227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40184CF-5546-D392-2CD1-DB751830F561}"/>
              </a:ext>
            </a:extLst>
          </p:cNvPr>
          <p:cNvSpPr txBox="1"/>
          <p:nvPr/>
        </p:nvSpPr>
        <p:spPr>
          <a:xfrm>
            <a:off x="572492" y="1951755"/>
            <a:ext cx="10972799" cy="369332"/>
          </a:xfrm>
          <a:custGeom>
            <a:avLst/>
            <a:gdLst>
              <a:gd name="csX0" fmla="*/ 0 w 10972799"/>
              <a:gd name="csY0" fmla="*/ 0 h 369332"/>
              <a:gd name="csX1" fmla="*/ 467788 w 10972799"/>
              <a:gd name="csY1" fmla="*/ 0 h 369332"/>
              <a:gd name="csX2" fmla="*/ 716120 w 10972799"/>
              <a:gd name="csY2" fmla="*/ 0 h 369332"/>
              <a:gd name="csX3" fmla="*/ 1513091 w 10972799"/>
              <a:gd name="csY3" fmla="*/ 0 h 369332"/>
              <a:gd name="csX4" fmla="*/ 1980879 w 10972799"/>
              <a:gd name="csY4" fmla="*/ 0 h 369332"/>
              <a:gd name="csX5" fmla="*/ 2448667 w 10972799"/>
              <a:gd name="csY5" fmla="*/ 0 h 369332"/>
              <a:gd name="csX6" fmla="*/ 3245638 w 10972799"/>
              <a:gd name="csY6" fmla="*/ 0 h 369332"/>
              <a:gd name="csX7" fmla="*/ 3603698 w 10972799"/>
              <a:gd name="csY7" fmla="*/ 0 h 369332"/>
              <a:gd name="csX8" fmla="*/ 4400670 w 10972799"/>
              <a:gd name="csY8" fmla="*/ 0 h 369332"/>
              <a:gd name="csX9" fmla="*/ 5197642 w 10972799"/>
              <a:gd name="csY9" fmla="*/ 0 h 369332"/>
              <a:gd name="csX10" fmla="*/ 5775157 w 10972799"/>
              <a:gd name="csY10" fmla="*/ 0 h 369332"/>
              <a:gd name="csX11" fmla="*/ 6572129 w 10972799"/>
              <a:gd name="csY11" fmla="*/ 0 h 369332"/>
              <a:gd name="csX12" fmla="*/ 7039917 w 10972799"/>
              <a:gd name="csY12" fmla="*/ 0 h 369332"/>
              <a:gd name="csX13" fmla="*/ 7507705 w 10972799"/>
              <a:gd name="csY13" fmla="*/ 0 h 369332"/>
              <a:gd name="csX14" fmla="*/ 8194948 w 10972799"/>
              <a:gd name="csY14" fmla="*/ 0 h 369332"/>
              <a:gd name="csX15" fmla="*/ 8662736 w 10972799"/>
              <a:gd name="csY15" fmla="*/ 0 h 369332"/>
              <a:gd name="csX16" fmla="*/ 9459708 w 10972799"/>
              <a:gd name="csY16" fmla="*/ 0 h 369332"/>
              <a:gd name="csX17" fmla="*/ 10256679 w 10972799"/>
              <a:gd name="csY17" fmla="*/ 0 h 369332"/>
              <a:gd name="csX18" fmla="*/ 10972799 w 10972799"/>
              <a:gd name="csY18" fmla="*/ 0 h 369332"/>
              <a:gd name="csX19" fmla="*/ 10972799 w 10972799"/>
              <a:gd name="csY19" fmla="*/ 369332 h 369332"/>
              <a:gd name="csX20" fmla="*/ 10724467 w 10972799"/>
              <a:gd name="csY20" fmla="*/ 369332 h 369332"/>
              <a:gd name="csX21" fmla="*/ 9927496 w 10972799"/>
              <a:gd name="csY21" fmla="*/ 369332 h 369332"/>
              <a:gd name="csX22" fmla="*/ 9349980 w 10972799"/>
              <a:gd name="csY22" fmla="*/ 369332 h 369332"/>
              <a:gd name="csX23" fmla="*/ 8991920 w 10972799"/>
              <a:gd name="csY23" fmla="*/ 369332 h 369332"/>
              <a:gd name="csX24" fmla="*/ 8414404 w 10972799"/>
              <a:gd name="csY24" fmla="*/ 369332 h 369332"/>
              <a:gd name="csX25" fmla="*/ 8166073 w 10972799"/>
              <a:gd name="csY25" fmla="*/ 369332 h 369332"/>
              <a:gd name="csX26" fmla="*/ 7917741 w 10972799"/>
              <a:gd name="csY26" fmla="*/ 369332 h 369332"/>
              <a:gd name="csX27" fmla="*/ 7340225 w 10972799"/>
              <a:gd name="csY27" fmla="*/ 369332 h 369332"/>
              <a:gd name="csX28" fmla="*/ 6982165 w 10972799"/>
              <a:gd name="csY28" fmla="*/ 369332 h 369332"/>
              <a:gd name="csX29" fmla="*/ 6294922 w 10972799"/>
              <a:gd name="csY29" fmla="*/ 369332 h 369332"/>
              <a:gd name="csX30" fmla="*/ 5936862 w 10972799"/>
              <a:gd name="csY30" fmla="*/ 369332 h 369332"/>
              <a:gd name="csX31" fmla="*/ 5249618 w 10972799"/>
              <a:gd name="csY31" fmla="*/ 369332 h 369332"/>
              <a:gd name="csX32" fmla="*/ 5001286 w 10972799"/>
              <a:gd name="csY32" fmla="*/ 369332 h 369332"/>
              <a:gd name="csX33" fmla="*/ 4314043 w 10972799"/>
              <a:gd name="csY33" fmla="*/ 369332 h 369332"/>
              <a:gd name="csX34" fmla="*/ 3955983 w 10972799"/>
              <a:gd name="csY34" fmla="*/ 369332 h 369332"/>
              <a:gd name="csX35" fmla="*/ 3707651 w 10972799"/>
              <a:gd name="csY35" fmla="*/ 369332 h 369332"/>
              <a:gd name="csX36" fmla="*/ 3349591 w 10972799"/>
              <a:gd name="csY36" fmla="*/ 369332 h 369332"/>
              <a:gd name="csX37" fmla="*/ 2662348 w 10972799"/>
              <a:gd name="csY37" fmla="*/ 369332 h 369332"/>
              <a:gd name="csX38" fmla="*/ 2304288 w 10972799"/>
              <a:gd name="csY38" fmla="*/ 369332 h 369332"/>
              <a:gd name="csX39" fmla="*/ 2055956 w 10972799"/>
              <a:gd name="csY39" fmla="*/ 369332 h 369332"/>
              <a:gd name="csX40" fmla="*/ 1697896 w 10972799"/>
              <a:gd name="csY40" fmla="*/ 369332 h 369332"/>
              <a:gd name="csX41" fmla="*/ 1230109 w 10972799"/>
              <a:gd name="csY41" fmla="*/ 369332 h 369332"/>
              <a:gd name="csX42" fmla="*/ 652593 w 10972799"/>
              <a:gd name="csY42" fmla="*/ 369332 h 369332"/>
              <a:gd name="csX43" fmla="*/ 0 w 10972799"/>
              <a:gd name="csY43" fmla="*/ 369332 h 369332"/>
              <a:gd name="csX44" fmla="*/ 0 w 10972799"/>
              <a:gd name="csY4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10972799" h="369332" extrusionOk="0">
                <a:moveTo>
                  <a:pt x="0" y="0"/>
                </a:moveTo>
                <a:cubicBezTo>
                  <a:pt x="102379" y="-51931"/>
                  <a:pt x="349347" y="32831"/>
                  <a:pt x="467788" y="0"/>
                </a:cubicBezTo>
                <a:cubicBezTo>
                  <a:pt x="586229" y="-32831"/>
                  <a:pt x="611719" y="14452"/>
                  <a:pt x="716120" y="0"/>
                </a:cubicBezTo>
                <a:cubicBezTo>
                  <a:pt x="820521" y="-14452"/>
                  <a:pt x="1161101" y="55234"/>
                  <a:pt x="1513091" y="0"/>
                </a:cubicBezTo>
                <a:cubicBezTo>
                  <a:pt x="1865081" y="-55234"/>
                  <a:pt x="1778384" y="24247"/>
                  <a:pt x="1980879" y="0"/>
                </a:cubicBezTo>
                <a:cubicBezTo>
                  <a:pt x="2183374" y="-24247"/>
                  <a:pt x="2216696" y="48281"/>
                  <a:pt x="2448667" y="0"/>
                </a:cubicBezTo>
                <a:cubicBezTo>
                  <a:pt x="2680638" y="-48281"/>
                  <a:pt x="2976162" y="25677"/>
                  <a:pt x="3245638" y="0"/>
                </a:cubicBezTo>
                <a:cubicBezTo>
                  <a:pt x="3515114" y="-25677"/>
                  <a:pt x="3510343" y="18862"/>
                  <a:pt x="3603698" y="0"/>
                </a:cubicBezTo>
                <a:cubicBezTo>
                  <a:pt x="3697053" y="-18862"/>
                  <a:pt x="4174073" y="75578"/>
                  <a:pt x="4400670" y="0"/>
                </a:cubicBezTo>
                <a:cubicBezTo>
                  <a:pt x="4627267" y="-75578"/>
                  <a:pt x="4857216" y="78016"/>
                  <a:pt x="5197642" y="0"/>
                </a:cubicBezTo>
                <a:cubicBezTo>
                  <a:pt x="5538068" y="-78016"/>
                  <a:pt x="5494126" y="25141"/>
                  <a:pt x="5775157" y="0"/>
                </a:cubicBezTo>
                <a:cubicBezTo>
                  <a:pt x="6056189" y="-25141"/>
                  <a:pt x="6208737" y="47797"/>
                  <a:pt x="6572129" y="0"/>
                </a:cubicBezTo>
                <a:cubicBezTo>
                  <a:pt x="6935521" y="-47797"/>
                  <a:pt x="6900506" y="33837"/>
                  <a:pt x="7039917" y="0"/>
                </a:cubicBezTo>
                <a:cubicBezTo>
                  <a:pt x="7179328" y="-33837"/>
                  <a:pt x="7278901" y="6436"/>
                  <a:pt x="7507705" y="0"/>
                </a:cubicBezTo>
                <a:cubicBezTo>
                  <a:pt x="7736509" y="-6436"/>
                  <a:pt x="7981603" y="52591"/>
                  <a:pt x="8194948" y="0"/>
                </a:cubicBezTo>
                <a:cubicBezTo>
                  <a:pt x="8408293" y="-52591"/>
                  <a:pt x="8520675" y="11781"/>
                  <a:pt x="8662736" y="0"/>
                </a:cubicBezTo>
                <a:cubicBezTo>
                  <a:pt x="8804797" y="-11781"/>
                  <a:pt x="9252333" y="56724"/>
                  <a:pt x="9459708" y="0"/>
                </a:cubicBezTo>
                <a:cubicBezTo>
                  <a:pt x="9667083" y="-56724"/>
                  <a:pt x="10011380" y="41375"/>
                  <a:pt x="10256679" y="0"/>
                </a:cubicBezTo>
                <a:cubicBezTo>
                  <a:pt x="10501978" y="-41375"/>
                  <a:pt x="10755051" y="36028"/>
                  <a:pt x="10972799" y="0"/>
                </a:cubicBezTo>
                <a:cubicBezTo>
                  <a:pt x="10993063" y="152752"/>
                  <a:pt x="10932138" y="292725"/>
                  <a:pt x="10972799" y="369332"/>
                </a:cubicBezTo>
                <a:cubicBezTo>
                  <a:pt x="10899353" y="375811"/>
                  <a:pt x="10802312" y="355169"/>
                  <a:pt x="10724467" y="369332"/>
                </a:cubicBezTo>
                <a:cubicBezTo>
                  <a:pt x="10646622" y="383495"/>
                  <a:pt x="10112277" y="290545"/>
                  <a:pt x="9927496" y="369332"/>
                </a:cubicBezTo>
                <a:cubicBezTo>
                  <a:pt x="9742715" y="448119"/>
                  <a:pt x="9514498" y="355150"/>
                  <a:pt x="9349980" y="369332"/>
                </a:cubicBezTo>
                <a:cubicBezTo>
                  <a:pt x="9185462" y="383514"/>
                  <a:pt x="9164920" y="339419"/>
                  <a:pt x="8991920" y="369332"/>
                </a:cubicBezTo>
                <a:cubicBezTo>
                  <a:pt x="8818920" y="399245"/>
                  <a:pt x="8658215" y="350555"/>
                  <a:pt x="8414404" y="369332"/>
                </a:cubicBezTo>
                <a:cubicBezTo>
                  <a:pt x="8170593" y="388109"/>
                  <a:pt x="8232863" y="354595"/>
                  <a:pt x="8166073" y="369332"/>
                </a:cubicBezTo>
                <a:cubicBezTo>
                  <a:pt x="8099283" y="384069"/>
                  <a:pt x="7997887" y="353139"/>
                  <a:pt x="7917741" y="369332"/>
                </a:cubicBezTo>
                <a:cubicBezTo>
                  <a:pt x="7837595" y="385525"/>
                  <a:pt x="7523686" y="344676"/>
                  <a:pt x="7340225" y="369332"/>
                </a:cubicBezTo>
                <a:cubicBezTo>
                  <a:pt x="7156764" y="393988"/>
                  <a:pt x="7137559" y="349946"/>
                  <a:pt x="6982165" y="369332"/>
                </a:cubicBezTo>
                <a:cubicBezTo>
                  <a:pt x="6826771" y="388718"/>
                  <a:pt x="6544333" y="298062"/>
                  <a:pt x="6294922" y="369332"/>
                </a:cubicBezTo>
                <a:cubicBezTo>
                  <a:pt x="6045511" y="440602"/>
                  <a:pt x="6071580" y="327888"/>
                  <a:pt x="5936862" y="369332"/>
                </a:cubicBezTo>
                <a:cubicBezTo>
                  <a:pt x="5802144" y="410776"/>
                  <a:pt x="5518287" y="310756"/>
                  <a:pt x="5249618" y="369332"/>
                </a:cubicBezTo>
                <a:cubicBezTo>
                  <a:pt x="4980949" y="427908"/>
                  <a:pt x="5070396" y="340221"/>
                  <a:pt x="5001286" y="369332"/>
                </a:cubicBezTo>
                <a:cubicBezTo>
                  <a:pt x="4932176" y="398443"/>
                  <a:pt x="4615294" y="325140"/>
                  <a:pt x="4314043" y="369332"/>
                </a:cubicBezTo>
                <a:cubicBezTo>
                  <a:pt x="4012792" y="413524"/>
                  <a:pt x="4048118" y="367196"/>
                  <a:pt x="3955983" y="369332"/>
                </a:cubicBezTo>
                <a:cubicBezTo>
                  <a:pt x="3863848" y="371468"/>
                  <a:pt x="3782558" y="366627"/>
                  <a:pt x="3707651" y="369332"/>
                </a:cubicBezTo>
                <a:cubicBezTo>
                  <a:pt x="3632744" y="372037"/>
                  <a:pt x="3495352" y="359789"/>
                  <a:pt x="3349591" y="369332"/>
                </a:cubicBezTo>
                <a:cubicBezTo>
                  <a:pt x="3203830" y="378875"/>
                  <a:pt x="2965707" y="312234"/>
                  <a:pt x="2662348" y="369332"/>
                </a:cubicBezTo>
                <a:cubicBezTo>
                  <a:pt x="2358989" y="426430"/>
                  <a:pt x="2385056" y="335699"/>
                  <a:pt x="2304288" y="369332"/>
                </a:cubicBezTo>
                <a:cubicBezTo>
                  <a:pt x="2223520" y="402965"/>
                  <a:pt x="2178106" y="362826"/>
                  <a:pt x="2055956" y="369332"/>
                </a:cubicBezTo>
                <a:cubicBezTo>
                  <a:pt x="1933806" y="375838"/>
                  <a:pt x="1875913" y="345686"/>
                  <a:pt x="1697896" y="369332"/>
                </a:cubicBezTo>
                <a:cubicBezTo>
                  <a:pt x="1519879" y="392978"/>
                  <a:pt x="1387127" y="349284"/>
                  <a:pt x="1230109" y="369332"/>
                </a:cubicBezTo>
                <a:cubicBezTo>
                  <a:pt x="1073091" y="389380"/>
                  <a:pt x="905878" y="304966"/>
                  <a:pt x="652593" y="369332"/>
                </a:cubicBezTo>
                <a:cubicBezTo>
                  <a:pt x="399308" y="433698"/>
                  <a:pt x="168010" y="349222"/>
                  <a:pt x="0" y="369332"/>
                </a:cubicBezTo>
                <a:cubicBezTo>
                  <a:pt x="-25525" y="247637"/>
                  <a:pt x="8422" y="140187"/>
                  <a:pt x="0" y="0"/>
                </a:cubicBezTo>
                <a:close/>
              </a:path>
            </a:pathLst>
          </a:custGeom>
          <a:noFill/>
          <a:ln>
            <a:solidFill>
              <a:schemeClr val="accent3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Expected Payoff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an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average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of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payoffs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weighted by the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probability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of each outcome.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6647103-2949-D916-B07C-D1441C0872F8}"/>
              </a:ext>
            </a:extLst>
          </p:cNvPr>
          <p:cNvGrpSpPr/>
          <p:nvPr/>
        </p:nvGrpSpPr>
        <p:grpSpPr>
          <a:xfrm>
            <a:off x="4152899" y="2285835"/>
            <a:ext cx="749171" cy="813247"/>
            <a:chOff x="6699738" y="2259623"/>
            <a:chExt cx="749171" cy="8132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5745EB0-A9C5-ABFD-1A2B-60AAF0B9040D}"/>
                    </a:ext>
                  </a:extLst>
                </p:cNvPr>
                <p:cNvSpPr txBox="1"/>
                <p:nvPr/>
              </p:nvSpPr>
              <p:spPr>
                <a:xfrm>
                  <a:off x="6941526" y="2795871"/>
                  <a:ext cx="507383" cy="276999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5745EB0-A9C5-ABFD-1A2B-60AAF0B904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1526" y="2795871"/>
                  <a:ext cx="507383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588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ACAB9D1-A501-2B03-99F2-07864E50C294}"/>
                </a:ext>
              </a:extLst>
            </p:cNvPr>
            <p:cNvSpPr/>
            <p:nvPr/>
          </p:nvSpPr>
          <p:spPr>
            <a:xfrm>
              <a:off x="6699738" y="2259623"/>
              <a:ext cx="342900" cy="474785"/>
            </a:xfrm>
            <a:custGeom>
              <a:avLst/>
              <a:gdLst>
                <a:gd name="connsiteX0" fmla="*/ 342900 w 342900"/>
                <a:gd name="connsiteY0" fmla="*/ 474785 h 474785"/>
                <a:gd name="connsiteX1" fmla="*/ 228600 w 342900"/>
                <a:gd name="connsiteY1" fmla="*/ 369277 h 474785"/>
                <a:gd name="connsiteX2" fmla="*/ 175847 w 342900"/>
                <a:gd name="connsiteY2" fmla="*/ 316523 h 474785"/>
                <a:gd name="connsiteX3" fmla="*/ 114300 w 342900"/>
                <a:gd name="connsiteY3" fmla="*/ 237392 h 474785"/>
                <a:gd name="connsiteX4" fmla="*/ 96716 w 342900"/>
                <a:gd name="connsiteY4" fmla="*/ 211015 h 474785"/>
                <a:gd name="connsiteX5" fmla="*/ 70339 w 342900"/>
                <a:gd name="connsiteY5" fmla="*/ 184639 h 474785"/>
                <a:gd name="connsiteX6" fmla="*/ 17585 w 342900"/>
                <a:gd name="connsiteY6" fmla="*/ 61546 h 474785"/>
                <a:gd name="connsiteX7" fmla="*/ 8793 w 342900"/>
                <a:gd name="connsiteY7" fmla="*/ 35169 h 474785"/>
                <a:gd name="connsiteX8" fmla="*/ 0 w 342900"/>
                <a:gd name="connsiteY8" fmla="*/ 0 h 47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2900" h="474785">
                  <a:moveTo>
                    <a:pt x="342900" y="474785"/>
                  </a:moveTo>
                  <a:cubicBezTo>
                    <a:pt x="256000" y="416849"/>
                    <a:pt x="316189" y="463604"/>
                    <a:pt x="228600" y="369277"/>
                  </a:cubicBezTo>
                  <a:cubicBezTo>
                    <a:pt x="211678" y="351054"/>
                    <a:pt x="192134" y="335316"/>
                    <a:pt x="175847" y="316523"/>
                  </a:cubicBezTo>
                  <a:cubicBezTo>
                    <a:pt x="153962" y="291271"/>
                    <a:pt x="132835" y="265196"/>
                    <a:pt x="114300" y="237392"/>
                  </a:cubicBezTo>
                  <a:cubicBezTo>
                    <a:pt x="108439" y="228600"/>
                    <a:pt x="103481" y="219133"/>
                    <a:pt x="96716" y="211015"/>
                  </a:cubicBezTo>
                  <a:cubicBezTo>
                    <a:pt x="88756" y="201463"/>
                    <a:pt x="79131" y="193431"/>
                    <a:pt x="70339" y="184639"/>
                  </a:cubicBezTo>
                  <a:cubicBezTo>
                    <a:pt x="52754" y="143608"/>
                    <a:pt x="31701" y="103896"/>
                    <a:pt x="17585" y="61546"/>
                  </a:cubicBezTo>
                  <a:cubicBezTo>
                    <a:pt x="14654" y="52754"/>
                    <a:pt x="11339" y="44080"/>
                    <a:pt x="8793" y="35169"/>
                  </a:cubicBezTo>
                  <a:cubicBezTo>
                    <a:pt x="5473" y="23550"/>
                    <a:pt x="0" y="0"/>
                    <a:pt x="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67F31B1-7500-A025-870C-3D0B38B21977}"/>
              </a:ext>
            </a:extLst>
          </p:cNvPr>
          <p:cNvGrpSpPr/>
          <p:nvPr/>
        </p:nvGrpSpPr>
        <p:grpSpPr>
          <a:xfrm>
            <a:off x="1676491" y="2285836"/>
            <a:ext cx="1393227" cy="674746"/>
            <a:chOff x="5306511" y="2259624"/>
            <a:chExt cx="1393227" cy="674746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8EAE83D-73BB-3E18-E63A-AF0388F9DA0F}"/>
                </a:ext>
              </a:extLst>
            </p:cNvPr>
            <p:cNvSpPr txBox="1"/>
            <p:nvPr/>
          </p:nvSpPr>
          <p:spPr>
            <a:xfrm>
              <a:off x="5306511" y="2657371"/>
              <a:ext cx="746999" cy="27699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A02B93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Integral</a:t>
              </a: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4002AA4-ACDE-54DE-6392-4AA992EDA710}"/>
                </a:ext>
              </a:extLst>
            </p:cNvPr>
            <p:cNvSpPr/>
            <p:nvPr/>
          </p:nvSpPr>
          <p:spPr>
            <a:xfrm flipH="1">
              <a:off x="6053510" y="2259624"/>
              <a:ext cx="646228" cy="397748"/>
            </a:xfrm>
            <a:custGeom>
              <a:avLst/>
              <a:gdLst>
                <a:gd name="connsiteX0" fmla="*/ 342900 w 342900"/>
                <a:gd name="connsiteY0" fmla="*/ 474785 h 474785"/>
                <a:gd name="connsiteX1" fmla="*/ 228600 w 342900"/>
                <a:gd name="connsiteY1" fmla="*/ 369277 h 474785"/>
                <a:gd name="connsiteX2" fmla="*/ 175847 w 342900"/>
                <a:gd name="connsiteY2" fmla="*/ 316523 h 474785"/>
                <a:gd name="connsiteX3" fmla="*/ 114300 w 342900"/>
                <a:gd name="connsiteY3" fmla="*/ 237392 h 474785"/>
                <a:gd name="connsiteX4" fmla="*/ 96716 w 342900"/>
                <a:gd name="connsiteY4" fmla="*/ 211015 h 474785"/>
                <a:gd name="connsiteX5" fmla="*/ 70339 w 342900"/>
                <a:gd name="connsiteY5" fmla="*/ 184639 h 474785"/>
                <a:gd name="connsiteX6" fmla="*/ 17585 w 342900"/>
                <a:gd name="connsiteY6" fmla="*/ 61546 h 474785"/>
                <a:gd name="connsiteX7" fmla="*/ 8793 w 342900"/>
                <a:gd name="connsiteY7" fmla="*/ 35169 h 474785"/>
                <a:gd name="connsiteX8" fmla="*/ 0 w 342900"/>
                <a:gd name="connsiteY8" fmla="*/ 0 h 47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2900" h="474785">
                  <a:moveTo>
                    <a:pt x="342900" y="474785"/>
                  </a:moveTo>
                  <a:cubicBezTo>
                    <a:pt x="256000" y="416849"/>
                    <a:pt x="316189" y="463604"/>
                    <a:pt x="228600" y="369277"/>
                  </a:cubicBezTo>
                  <a:cubicBezTo>
                    <a:pt x="211678" y="351054"/>
                    <a:pt x="192134" y="335316"/>
                    <a:pt x="175847" y="316523"/>
                  </a:cubicBezTo>
                  <a:cubicBezTo>
                    <a:pt x="153962" y="291271"/>
                    <a:pt x="132835" y="265196"/>
                    <a:pt x="114300" y="237392"/>
                  </a:cubicBezTo>
                  <a:cubicBezTo>
                    <a:pt x="108439" y="228600"/>
                    <a:pt x="103481" y="219133"/>
                    <a:pt x="96716" y="211015"/>
                  </a:cubicBezTo>
                  <a:cubicBezTo>
                    <a:pt x="88756" y="201463"/>
                    <a:pt x="79131" y="193431"/>
                    <a:pt x="70339" y="184639"/>
                  </a:cubicBezTo>
                  <a:cubicBezTo>
                    <a:pt x="52754" y="143608"/>
                    <a:pt x="31701" y="103896"/>
                    <a:pt x="17585" y="61546"/>
                  </a:cubicBezTo>
                  <a:cubicBezTo>
                    <a:pt x="14654" y="52754"/>
                    <a:pt x="11339" y="44080"/>
                    <a:pt x="8793" y="35169"/>
                  </a:cubicBezTo>
                  <a:cubicBezTo>
                    <a:pt x="5473" y="23550"/>
                    <a:pt x="0" y="0"/>
                    <a:pt x="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3073C93-BFA6-BE3F-E3ED-F69CFD46EF8D}"/>
                  </a:ext>
                </a:extLst>
              </p:cNvPr>
              <p:cNvSpPr txBox="1"/>
              <p:nvPr/>
            </p:nvSpPr>
            <p:spPr>
              <a:xfrm>
                <a:off x="572492" y="3214884"/>
                <a:ext cx="2685159" cy="6227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02B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02B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02B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</m:t>
                          </m:r>
                        </m:sup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97132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E97132">
                                      <a:lumMod val="75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E97132">
                                      <a:lumMod val="75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3073C93-BFA6-BE3F-E3ED-F69CFD46E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92" y="3214884"/>
                <a:ext cx="2685159" cy="6227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AE314BA0-A2AD-0962-CA15-D1868BFB5409}"/>
              </a:ext>
            </a:extLst>
          </p:cNvPr>
          <p:cNvGrpSpPr/>
          <p:nvPr/>
        </p:nvGrpSpPr>
        <p:grpSpPr>
          <a:xfrm>
            <a:off x="4405670" y="3096463"/>
            <a:ext cx="2152833" cy="883690"/>
            <a:chOff x="4405670" y="3096463"/>
            <a:chExt cx="2152833" cy="883690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62E88B6-DC6F-A908-DAA5-7CF6024DA156}"/>
                </a:ext>
              </a:extLst>
            </p:cNvPr>
            <p:cNvSpPr txBox="1"/>
            <p:nvPr/>
          </p:nvSpPr>
          <p:spPr>
            <a:xfrm>
              <a:off x="4405670" y="3703154"/>
              <a:ext cx="2152833" cy="276999"/>
            </a:xfrm>
            <a:custGeom>
              <a:avLst/>
              <a:gdLst>
                <a:gd name="csX0" fmla="*/ 0 w 2152833"/>
                <a:gd name="csY0" fmla="*/ 0 h 276999"/>
                <a:gd name="csX1" fmla="*/ 516680 w 2152833"/>
                <a:gd name="csY1" fmla="*/ 0 h 276999"/>
                <a:gd name="csX2" fmla="*/ 990303 w 2152833"/>
                <a:gd name="csY2" fmla="*/ 0 h 276999"/>
                <a:gd name="csX3" fmla="*/ 1571568 w 2152833"/>
                <a:gd name="csY3" fmla="*/ 0 h 276999"/>
                <a:gd name="csX4" fmla="*/ 2152833 w 2152833"/>
                <a:gd name="csY4" fmla="*/ 0 h 276999"/>
                <a:gd name="csX5" fmla="*/ 2152833 w 2152833"/>
                <a:gd name="csY5" fmla="*/ 276999 h 276999"/>
                <a:gd name="csX6" fmla="*/ 1657681 w 2152833"/>
                <a:gd name="csY6" fmla="*/ 276999 h 276999"/>
                <a:gd name="csX7" fmla="*/ 1162530 w 2152833"/>
                <a:gd name="csY7" fmla="*/ 276999 h 276999"/>
                <a:gd name="csX8" fmla="*/ 581265 w 2152833"/>
                <a:gd name="csY8" fmla="*/ 276999 h 276999"/>
                <a:gd name="csX9" fmla="*/ 0 w 2152833"/>
                <a:gd name="csY9" fmla="*/ 276999 h 276999"/>
                <a:gd name="csX10" fmla="*/ 0 w 2152833"/>
                <a:gd name="csY10" fmla="*/ 0 h 276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152833" h="276999" extrusionOk="0">
                  <a:moveTo>
                    <a:pt x="0" y="0"/>
                  </a:moveTo>
                  <a:cubicBezTo>
                    <a:pt x="216736" y="-54978"/>
                    <a:pt x="352152" y="60688"/>
                    <a:pt x="516680" y="0"/>
                  </a:cubicBezTo>
                  <a:cubicBezTo>
                    <a:pt x="681208" y="-60688"/>
                    <a:pt x="802911" y="46935"/>
                    <a:pt x="990303" y="0"/>
                  </a:cubicBezTo>
                  <a:cubicBezTo>
                    <a:pt x="1177695" y="-46935"/>
                    <a:pt x="1284307" y="811"/>
                    <a:pt x="1571568" y="0"/>
                  </a:cubicBezTo>
                  <a:cubicBezTo>
                    <a:pt x="1858830" y="-811"/>
                    <a:pt x="1870545" y="17788"/>
                    <a:pt x="2152833" y="0"/>
                  </a:cubicBezTo>
                  <a:cubicBezTo>
                    <a:pt x="2184712" y="125317"/>
                    <a:pt x="2137753" y="162129"/>
                    <a:pt x="2152833" y="276999"/>
                  </a:cubicBezTo>
                  <a:cubicBezTo>
                    <a:pt x="1965375" y="294303"/>
                    <a:pt x="1795056" y="253867"/>
                    <a:pt x="1657681" y="276999"/>
                  </a:cubicBezTo>
                  <a:cubicBezTo>
                    <a:pt x="1520306" y="300131"/>
                    <a:pt x="1268449" y="260743"/>
                    <a:pt x="1162530" y="276999"/>
                  </a:cubicBezTo>
                  <a:cubicBezTo>
                    <a:pt x="1056611" y="293255"/>
                    <a:pt x="804025" y="209672"/>
                    <a:pt x="581265" y="276999"/>
                  </a:cubicBezTo>
                  <a:cubicBezTo>
                    <a:pt x="358505" y="344326"/>
                    <a:pt x="188768" y="267877"/>
                    <a:pt x="0" y="276999"/>
                  </a:cubicBezTo>
                  <a:cubicBezTo>
                    <a:pt x="-29239" y="160037"/>
                    <a:pt x="32309" y="78132"/>
                    <a:pt x="0" y="0"/>
                  </a:cubicBezTo>
                  <a:close/>
                </a:path>
              </a:pathLst>
            </a:custGeom>
            <a:noFill/>
            <a:ln>
              <a:noFill/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Continuous functions</a:t>
              </a: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6D154CF-CDF2-D52A-C79C-4A86671EA84B}"/>
                </a:ext>
              </a:extLst>
            </p:cNvPr>
            <p:cNvSpPr/>
            <p:nvPr/>
          </p:nvSpPr>
          <p:spPr>
            <a:xfrm>
              <a:off x="4730620" y="3099082"/>
              <a:ext cx="631955" cy="604072"/>
            </a:xfrm>
            <a:custGeom>
              <a:avLst/>
              <a:gdLst>
                <a:gd name="connsiteX0" fmla="*/ 342900 w 342900"/>
                <a:gd name="connsiteY0" fmla="*/ 474785 h 474785"/>
                <a:gd name="connsiteX1" fmla="*/ 228600 w 342900"/>
                <a:gd name="connsiteY1" fmla="*/ 369277 h 474785"/>
                <a:gd name="connsiteX2" fmla="*/ 175847 w 342900"/>
                <a:gd name="connsiteY2" fmla="*/ 316523 h 474785"/>
                <a:gd name="connsiteX3" fmla="*/ 114300 w 342900"/>
                <a:gd name="connsiteY3" fmla="*/ 237392 h 474785"/>
                <a:gd name="connsiteX4" fmla="*/ 96716 w 342900"/>
                <a:gd name="connsiteY4" fmla="*/ 211015 h 474785"/>
                <a:gd name="connsiteX5" fmla="*/ 70339 w 342900"/>
                <a:gd name="connsiteY5" fmla="*/ 184639 h 474785"/>
                <a:gd name="connsiteX6" fmla="*/ 17585 w 342900"/>
                <a:gd name="connsiteY6" fmla="*/ 61546 h 474785"/>
                <a:gd name="connsiteX7" fmla="*/ 8793 w 342900"/>
                <a:gd name="connsiteY7" fmla="*/ 35169 h 474785"/>
                <a:gd name="connsiteX8" fmla="*/ 0 w 342900"/>
                <a:gd name="connsiteY8" fmla="*/ 0 h 47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2900" h="474785">
                  <a:moveTo>
                    <a:pt x="342900" y="474785"/>
                  </a:moveTo>
                  <a:cubicBezTo>
                    <a:pt x="256000" y="416849"/>
                    <a:pt x="316189" y="463604"/>
                    <a:pt x="228600" y="369277"/>
                  </a:cubicBezTo>
                  <a:cubicBezTo>
                    <a:pt x="211678" y="351054"/>
                    <a:pt x="192134" y="335316"/>
                    <a:pt x="175847" y="316523"/>
                  </a:cubicBezTo>
                  <a:cubicBezTo>
                    <a:pt x="153962" y="291271"/>
                    <a:pt x="132835" y="265196"/>
                    <a:pt x="114300" y="237392"/>
                  </a:cubicBezTo>
                  <a:cubicBezTo>
                    <a:pt x="108439" y="228600"/>
                    <a:pt x="103481" y="219133"/>
                    <a:pt x="96716" y="211015"/>
                  </a:cubicBezTo>
                  <a:cubicBezTo>
                    <a:pt x="88756" y="201463"/>
                    <a:pt x="79131" y="193431"/>
                    <a:pt x="70339" y="184639"/>
                  </a:cubicBezTo>
                  <a:cubicBezTo>
                    <a:pt x="52754" y="143608"/>
                    <a:pt x="31701" y="103896"/>
                    <a:pt x="17585" y="61546"/>
                  </a:cubicBezTo>
                  <a:cubicBezTo>
                    <a:pt x="14654" y="52754"/>
                    <a:pt x="11339" y="44080"/>
                    <a:pt x="8793" y="35169"/>
                  </a:cubicBezTo>
                  <a:cubicBezTo>
                    <a:pt x="5473" y="23550"/>
                    <a:pt x="0" y="0"/>
                    <a:pt x="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77CF87A-7D84-C813-ACC8-1F427FB15AD0}"/>
                </a:ext>
              </a:extLst>
            </p:cNvPr>
            <p:cNvSpPr/>
            <p:nvPr/>
          </p:nvSpPr>
          <p:spPr>
            <a:xfrm flipH="1">
              <a:off x="5356988" y="3096463"/>
              <a:ext cx="1153606" cy="609311"/>
            </a:xfrm>
            <a:custGeom>
              <a:avLst/>
              <a:gdLst>
                <a:gd name="connsiteX0" fmla="*/ 342900 w 342900"/>
                <a:gd name="connsiteY0" fmla="*/ 474785 h 474785"/>
                <a:gd name="connsiteX1" fmla="*/ 228600 w 342900"/>
                <a:gd name="connsiteY1" fmla="*/ 369277 h 474785"/>
                <a:gd name="connsiteX2" fmla="*/ 175847 w 342900"/>
                <a:gd name="connsiteY2" fmla="*/ 316523 h 474785"/>
                <a:gd name="connsiteX3" fmla="*/ 114300 w 342900"/>
                <a:gd name="connsiteY3" fmla="*/ 237392 h 474785"/>
                <a:gd name="connsiteX4" fmla="*/ 96716 w 342900"/>
                <a:gd name="connsiteY4" fmla="*/ 211015 h 474785"/>
                <a:gd name="connsiteX5" fmla="*/ 70339 w 342900"/>
                <a:gd name="connsiteY5" fmla="*/ 184639 h 474785"/>
                <a:gd name="connsiteX6" fmla="*/ 17585 w 342900"/>
                <a:gd name="connsiteY6" fmla="*/ 61546 h 474785"/>
                <a:gd name="connsiteX7" fmla="*/ 8793 w 342900"/>
                <a:gd name="connsiteY7" fmla="*/ 35169 h 474785"/>
                <a:gd name="connsiteX8" fmla="*/ 0 w 342900"/>
                <a:gd name="connsiteY8" fmla="*/ 0 h 47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2900" h="474785">
                  <a:moveTo>
                    <a:pt x="342900" y="474785"/>
                  </a:moveTo>
                  <a:cubicBezTo>
                    <a:pt x="256000" y="416849"/>
                    <a:pt x="316189" y="463604"/>
                    <a:pt x="228600" y="369277"/>
                  </a:cubicBezTo>
                  <a:cubicBezTo>
                    <a:pt x="211678" y="351054"/>
                    <a:pt x="192134" y="335316"/>
                    <a:pt x="175847" y="316523"/>
                  </a:cubicBezTo>
                  <a:cubicBezTo>
                    <a:pt x="153962" y="291271"/>
                    <a:pt x="132835" y="265196"/>
                    <a:pt x="114300" y="237392"/>
                  </a:cubicBezTo>
                  <a:cubicBezTo>
                    <a:pt x="108439" y="228600"/>
                    <a:pt x="103481" y="219133"/>
                    <a:pt x="96716" y="211015"/>
                  </a:cubicBezTo>
                  <a:cubicBezTo>
                    <a:pt x="88756" y="201463"/>
                    <a:pt x="79131" y="193431"/>
                    <a:pt x="70339" y="184639"/>
                  </a:cubicBezTo>
                  <a:cubicBezTo>
                    <a:pt x="52754" y="143608"/>
                    <a:pt x="31701" y="103896"/>
                    <a:pt x="17585" y="61546"/>
                  </a:cubicBezTo>
                  <a:cubicBezTo>
                    <a:pt x="14654" y="52754"/>
                    <a:pt x="11339" y="44080"/>
                    <a:pt x="8793" y="35169"/>
                  </a:cubicBezTo>
                  <a:cubicBezTo>
                    <a:pt x="5473" y="23550"/>
                    <a:pt x="0" y="0"/>
                    <a:pt x="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90AC414-3AE3-B18F-E2B5-4E0554C99794}"/>
                  </a:ext>
                </a:extLst>
              </p:cNvPr>
              <p:cNvSpPr txBox="1"/>
              <p:nvPr/>
            </p:nvSpPr>
            <p:spPr>
              <a:xfrm>
                <a:off x="572492" y="5230357"/>
                <a:ext cx="3156312" cy="6227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0.2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1−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</m:t>
                          </m:r>
                        </m:sup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90AC414-3AE3-B18F-E2B5-4E0554C99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92" y="5230357"/>
                <a:ext cx="3156312" cy="6227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3B212610-8267-73ED-73AA-1F25809ECF61}"/>
              </a:ext>
            </a:extLst>
          </p:cNvPr>
          <p:cNvGrpSpPr/>
          <p:nvPr/>
        </p:nvGrpSpPr>
        <p:grpSpPr>
          <a:xfrm>
            <a:off x="3847649" y="3087926"/>
            <a:ext cx="3868159" cy="3308386"/>
            <a:chOff x="3847649" y="3087926"/>
            <a:chExt cx="3868159" cy="33083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1ED6E962-B6FA-166D-C31D-8D95139101EB}"/>
                    </a:ext>
                  </a:extLst>
                </p:cNvPr>
                <p:cNvSpPr txBox="1"/>
                <p:nvPr/>
              </p:nvSpPr>
              <p:spPr>
                <a:xfrm>
                  <a:off x="4016796" y="4299418"/>
                  <a:ext cx="1380057" cy="2875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𝐼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=∫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𝑒</m:t>
                            </m:r>
                          </m:e>
                          <m:sup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−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sup>
                        </m:sSup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𝑑𝑥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1ED6E962-B6FA-166D-C31D-8D95139101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6796" y="4299418"/>
                  <a:ext cx="1380057" cy="287515"/>
                </a:xfrm>
                <a:prstGeom prst="rect">
                  <a:avLst/>
                </a:prstGeom>
                <a:blipFill>
                  <a:blip r:embed="rId7"/>
                  <a:stretch>
                    <a:fillRect l="-3982" t="-12766" r="-3982" b="-4042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FB87E93-9D9C-859F-2D43-333FD6A10C6C}"/>
                </a:ext>
              </a:extLst>
            </p:cNvPr>
            <p:cNvCxnSpPr>
              <a:cxnSpLocks/>
            </p:cNvCxnSpPr>
            <p:nvPr/>
          </p:nvCxnSpPr>
          <p:spPr>
            <a:xfrm>
              <a:off x="3847649" y="3087926"/>
              <a:ext cx="0" cy="33083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750BCEC-427C-42CF-D737-C62A809AF1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19099" y="4103978"/>
              <a:ext cx="369670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D5D469D-E11F-D81D-7D40-A322D7D1C360}"/>
                  </a:ext>
                </a:extLst>
              </p:cNvPr>
              <p:cNvSpPr txBox="1"/>
              <p:nvPr/>
            </p:nvSpPr>
            <p:spPr>
              <a:xfrm>
                <a:off x="4016796" y="4878273"/>
                <a:ext cx="3305905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𝐼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∫</m:t>
                      </m:r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sup>
                      </m:sSup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𝑑𝑥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−∫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∫</m:t>
                      </m:r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sup>
                      </m:sSup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𝑑𝑥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D5D469D-E11F-D81D-7D40-A322D7D1C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6796" y="4878273"/>
                <a:ext cx="3305905" cy="52591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98F4E5A-69D7-287B-A61A-AE74D67EA279}"/>
                  </a:ext>
                </a:extLst>
              </p:cNvPr>
              <p:cNvSpPr txBox="1"/>
              <p:nvPr/>
            </p:nvSpPr>
            <p:spPr>
              <a:xfrm>
                <a:off x="4016796" y="5695527"/>
                <a:ext cx="2137444" cy="5955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𝐼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den>
                      </m:f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nary>
                        <m:naryPr>
                          <m:subHide m:val="on"/>
                          <m:supHide m:val="on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sup>
                              </m:sSup>
                            </m:num>
                            <m:den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den>
                          </m:f>
                        </m:e>
                      </m:nary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𝑑𝑥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98F4E5A-69D7-287B-A61A-AE74D67EA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6796" y="5695527"/>
                <a:ext cx="2137444" cy="59554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FF17DA7B-EED3-2B63-9E4B-E0F4AA882E54}"/>
              </a:ext>
            </a:extLst>
          </p:cNvPr>
          <p:cNvGrpSpPr/>
          <p:nvPr/>
        </p:nvGrpSpPr>
        <p:grpSpPr>
          <a:xfrm>
            <a:off x="8040064" y="2429151"/>
            <a:ext cx="2442253" cy="3946527"/>
            <a:chOff x="8040064" y="2429151"/>
            <a:chExt cx="2442253" cy="3946527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F3F83BC-2426-29C0-0964-292B1A34D518}"/>
                </a:ext>
              </a:extLst>
            </p:cNvPr>
            <p:cNvCxnSpPr>
              <a:cxnSpLocks/>
            </p:cNvCxnSpPr>
            <p:nvPr/>
          </p:nvCxnSpPr>
          <p:spPr>
            <a:xfrm>
              <a:off x="8040064" y="2429151"/>
              <a:ext cx="19501" cy="394652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D4104BF1-668C-236E-79E2-29079935E34F}"/>
                    </a:ext>
                  </a:extLst>
                </p:cNvPr>
                <p:cNvSpPr txBox="1"/>
                <p:nvPr/>
              </p:nvSpPr>
              <p:spPr>
                <a:xfrm>
                  <a:off x="8248693" y="2500915"/>
                  <a:ext cx="2233624" cy="56643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𝐼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=−</m:t>
                        </m:r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𝑒</m:t>
                            </m:r>
                          </m:e>
                          <m:sup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−</m:t>
                            </m:r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sup>
                        </m:sSup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nary>
                          <m:naryPr>
                            <m:subHide m:val="on"/>
                            <m:supHide m:val="on"/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sup>
                            </m:sSup>
                          </m:e>
                        </m:nary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𝑑𝑥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D4104BF1-668C-236E-79E2-29079935E3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8693" y="2500915"/>
                  <a:ext cx="2233624" cy="5664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CA7FF67-701B-A6F2-2C6E-C5801F10947C}"/>
                  </a:ext>
                </a:extLst>
              </p:cNvPr>
              <p:cNvSpPr txBox="1"/>
              <p:nvPr/>
            </p:nvSpPr>
            <p:spPr>
              <a:xfrm>
                <a:off x="8248693" y="3311937"/>
                <a:ext cx="1745478" cy="5314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𝐼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sup>
                      </m:sSup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CA7FF67-701B-A6F2-2C6E-C5801F109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8693" y="3311937"/>
                <a:ext cx="1745478" cy="53142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6B327F0-5978-2C63-82B6-FDA6E382C3DD}"/>
                  </a:ext>
                </a:extLst>
              </p:cNvPr>
              <p:cNvSpPr txBox="1"/>
              <p:nvPr/>
            </p:nvSpPr>
            <p:spPr>
              <a:xfrm>
                <a:off x="8248693" y="4087950"/>
                <a:ext cx="17454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𝐼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sup>
                      </m:sSup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6B327F0-5978-2C63-82B6-FDA6E382C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8693" y="4087950"/>
                <a:ext cx="1745478" cy="276999"/>
              </a:xfrm>
              <a:prstGeom prst="rect">
                <a:avLst/>
              </a:prstGeom>
              <a:blipFill>
                <a:blip r:embed="rId12"/>
                <a:stretch>
                  <a:fillRect l="-2797" r="-699"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4EDC040-A919-E50C-A384-76E853855EF1}"/>
                  </a:ext>
                </a:extLst>
              </p:cNvPr>
              <p:cNvSpPr txBox="1"/>
              <p:nvPr/>
            </p:nvSpPr>
            <p:spPr>
              <a:xfrm>
                <a:off x="8248693" y="4611391"/>
                <a:ext cx="17038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𝐼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</m:t>
                      </m:r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sup>
                      </m:sSup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4EDC040-A919-E50C-A384-76E853855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8693" y="4611391"/>
                <a:ext cx="1703864" cy="276999"/>
              </a:xfrm>
              <a:prstGeom prst="rect">
                <a:avLst/>
              </a:prstGeom>
              <a:blipFill>
                <a:blip r:embed="rId13"/>
                <a:stretch>
                  <a:fillRect l="-2857" b="-6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0EF4D47-B51D-E3DD-457A-6FC896E46FB9}"/>
                  </a:ext>
                </a:extLst>
              </p:cNvPr>
              <p:cNvSpPr txBox="1"/>
              <p:nvPr/>
            </p:nvSpPr>
            <p:spPr>
              <a:xfrm>
                <a:off x="8248693" y="5195976"/>
                <a:ext cx="3638240" cy="2841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𝐼</m:t>
                              </m:r>
                            </m:e>
                          </m:d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</m:t>
                          </m:r>
                        </m:sup>
                      </m:sSubSup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</m:t>
                          </m:r>
                        </m:sup>
                      </m:sSup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10+1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p>
                      </m:sSup>
                      <m:d>
                        <m:d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0EF4D47-B51D-E3DD-457A-6FC896E46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8693" y="5195976"/>
                <a:ext cx="3638240" cy="284180"/>
              </a:xfrm>
              <a:prstGeom prst="rect">
                <a:avLst/>
              </a:prstGeom>
              <a:blipFill>
                <a:blip r:embed="rId14"/>
                <a:stretch>
                  <a:fillRect t="-2128" b="-170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A92FE1C-CC53-9FB0-BD2A-C8CE4B284448}"/>
                  </a:ext>
                </a:extLst>
              </p:cNvPr>
              <p:cNvSpPr txBox="1"/>
              <p:nvPr/>
            </p:nvSpPr>
            <p:spPr>
              <a:xfrm>
                <a:off x="8249412" y="5787742"/>
                <a:ext cx="1918667" cy="2841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𝐼</m:t>
                              </m:r>
                            </m:e>
                          </m:d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</m:t>
                          </m:r>
                        </m:sup>
                      </m:sSubSup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11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−10</m:t>
                          </m:r>
                        </m:sup>
                      </m:sSup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A92FE1C-CC53-9FB0-BD2A-C8CE4B284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9412" y="5787742"/>
                <a:ext cx="1918667" cy="284180"/>
              </a:xfrm>
              <a:prstGeom prst="rect">
                <a:avLst/>
              </a:prstGeom>
              <a:blipFill>
                <a:blip r:embed="rId15"/>
                <a:stretch>
                  <a:fillRect t="-2128" r="-1270" b="-170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F8E708E3-F127-C9A9-E290-1D32DAA7D2D7}"/>
              </a:ext>
            </a:extLst>
          </p:cNvPr>
          <p:cNvGrpSpPr/>
          <p:nvPr/>
        </p:nvGrpSpPr>
        <p:grpSpPr>
          <a:xfrm>
            <a:off x="6312604" y="2259623"/>
            <a:ext cx="501869" cy="1135916"/>
            <a:chOff x="6312604" y="2259623"/>
            <a:chExt cx="501869" cy="1135916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D210E52-AA7A-6A83-CBBF-E5F0392607EB}"/>
                </a:ext>
              </a:extLst>
            </p:cNvPr>
            <p:cNvGrpSpPr/>
            <p:nvPr/>
          </p:nvGrpSpPr>
          <p:grpSpPr>
            <a:xfrm>
              <a:off x="6312604" y="2259623"/>
              <a:ext cx="501869" cy="828303"/>
              <a:chOff x="6312604" y="2259623"/>
              <a:chExt cx="501869" cy="82830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958A8BB6-B9CD-B37D-5D6C-9D698A3E2865}"/>
                      </a:ext>
                    </a:extLst>
                  </p:cNvPr>
                  <p:cNvSpPr txBox="1"/>
                  <p:nvPr/>
                </p:nvSpPr>
                <p:spPr>
                  <a:xfrm>
                    <a:off x="6312604" y="2810927"/>
                    <a:ext cx="501869" cy="276999"/>
                  </a:xfrm>
                  <a:prstGeom prst="rect">
                    <a:avLst/>
                  </a:prstGeom>
                </p:spPr>
                <p:style>
                  <a:lnRef idx="1">
                    <a:schemeClr val="accent4"/>
                  </a:lnRef>
                  <a:fillRef idx="2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96B24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96B24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96B24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96B24">
                          <a:lumMod val="5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958A8BB6-B9CD-B37D-5D6C-9D698A3E286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12604" y="2810927"/>
                    <a:ext cx="501869" cy="276999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15476" b="-29167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84D9FF32-D3EE-90A4-79E1-95C78A13E558}"/>
                  </a:ext>
                </a:extLst>
              </p:cNvPr>
              <p:cNvSpPr/>
              <p:nvPr/>
            </p:nvSpPr>
            <p:spPr>
              <a:xfrm flipH="1">
                <a:off x="6558503" y="2259623"/>
                <a:ext cx="141235" cy="500997"/>
              </a:xfrm>
              <a:custGeom>
                <a:avLst/>
                <a:gdLst>
                  <a:gd name="connsiteX0" fmla="*/ 342900 w 342900"/>
                  <a:gd name="connsiteY0" fmla="*/ 474785 h 474785"/>
                  <a:gd name="connsiteX1" fmla="*/ 228600 w 342900"/>
                  <a:gd name="connsiteY1" fmla="*/ 369277 h 474785"/>
                  <a:gd name="connsiteX2" fmla="*/ 175847 w 342900"/>
                  <a:gd name="connsiteY2" fmla="*/ 316523 h 474785"/>
                  <a:gd name="connsiteX3" fmla="*/ 114300 w 342900"/>
                  <a:gd name="connsiteY3" fmla="*/ 237392 h 474785"/>
                  <a:gd name="connsiteX4" fmla="*/ 96716 w 342900"/>
                  <a:gd name="connsiteY4" fmla="*/ 211015 h 474785"/>
                  <a:gd name="connsiteX5" fmla="*/ 70339 w 342900"/>
                  <a:gd name="connsiteY5" fmla="*/ 184639 h 474785"/>
                  <a:gd name="connsiteX6" fmla="*/ 17585 w 342900"/>
                  <a:gd name="connsiteY6" fmla="*/ 61546 h 474785"/>
                  <a:gd name="connsiteX7" fmla="*/ 8793 w 342900"/>
                  <a:gd name="connsiteY7" fmla="*/ 35169 h 474785"/>
                  <a:gd name="connsiteX8" fmla="*/ 0 w 342900"/>
                  <a:gd name="connsiteY8" fmla="*/ 0 h 4747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2900" h="474785">
                    <a:moveTo>
                      <a:pt x="342900" y="474785"/>
                    </a:moveTo>
                    <a:cubicBezTo>
                      <a:pt x="256000" y="416849"/>
                      <a:pt x="316189" y="463604"/>
                      <a:pt x="228600" y="369277"/>
                    </a:cubicBezTo>
                    <a:cubicBezTo>
                      <a:pt x="211678" y="351054"/>
                      <a:pt x="192134" y="335316"/>
                      <a:pt x="175847" y="316523"/>
                    </a:cubicBezTo>
                    <a:cubicBezTo>
                      <a:pt x="153962" y="291271"/>
                      <a:pt x="132835" y="265196"/>
                      <a:pt x="114300" y="237392"/>
                    </a:cubicBezTo>
                    <a:cubicBezTo>
                      <a:pt x="108439" y="228600"/>
                      <a:pt x="103481" y="219133"/>
                      <a:pt x="96716" y="211015"/>
                    </a:cubicBezTo>
                    <a:cubicBezTo>
                      <a:pt x="88756" y="201463"/>
                      <a:pt x="79131" y="193431"/>
                      <a:pt x="70339" y="184639"/>
                    </a:cubicBezTo>
                    <a:cubicBezTo>
                      <a:pt x="52754" y="143608"/>
                      <a:pt x="31701" y="103896"/>
                      <a:pt x="17585" y="61546"/>
                    </a:cubicBezTo>
                    <a:cubicBezTo>
                      <a:pt x="14654" y="52754"/>
                      <a:pt x="11339" y="44080"/>
                      <a:pt x="8793" y="35169"/>
                    </a:cubicBezTo>
                    <a:cubicBezTo>
                      <a:pt x="5473" y="23550"/>
                      <a:pt x="0" y="0"/>
                      <a:pt x="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7FC4C42-1E1B-7558-8C36-105186469153}"/>
                </a:ext>
              </a:extLst>
            </p:cNvPr>
            <p:cNvSpPr txBox="1"/>
            <p:nvPr/>
          </p:nvSpPr>
          <p:spPr>
            <a:xfrm>
              <a:off x="6351715" y="3118540"/>
              <a:ext cx="413575" cy="276999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96B24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PDF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1B93A97-A45C-42C7-C319-7E7A3A54DA40}"/>
              </a:ext>
            </a:extLst>
          </p:cNvPr>
          <p:cNvGrpSpPr/>
          <p:nvPr/>
        </p:nvGrpSpPr>
        <p:grpSpPr>
          <a:xfrm>
            <a:off x="3464247" y="2048550"/>
            <a:ext cx="8228005" cy="4414090"/>
            <a:chOff x="3464247" y="2048550"/>
            <a:chExt cx="8228005" cy="4414090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1E46734-1FF6-E314-6E8E-1A5C17D62DD7}"/>
                </a:ext>
              </a:extLst>
            </p:cNvPr>
            <p:cNvGrpSpPr/>
            <p:nvPr/>
          </p:nvGrpSpPr>
          <p:grpSpPr>
            <a:xfrm>
              <a:off x="3464247" y="3236808"/>
              <a:ext cx="8228005" cy="3225832"/>
              <a:chOff x="3553012" y="3393498"/>
              <a:chExt cx="8228005" cy="3225832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AF1B315F-DD95-DAC2-7D52-DE36A1CAA9A8}"/>
                  </a:ext>
                </a:extLst>
              </p:cNvPr>
              <p:cNvGrpSpPr/>
              <p:nvPr/>
            </p:nvGrpSpPr>
            <p:grpSpPr>
              <a:xfrm>
                <a:off x="3553012" y="3717508"/>
                <a:ext cx="4926646" cy="2901822"/>
                <a:chOff x="3553012" y="3717508"/>
                <a:chExt cx="4926646" cy="290182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F0C29FBD-E128-2D3C-7B7C-8639F5346DF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28647" y="6249998"/>
                      <a:ext cx="145101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Outcome (</a:t>
                      </a:r>
                      <a14:m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oMath>
                      </a14:m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)</a:t>
                      </a:r>
                    </a:p>
                  </p:txBody>
                </p:sp>
              </mc:Choice>
              <mc:Fallback xmlns="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F0C29FBD-E128-2D3C-7B7C-8639F5346DF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028647" y="6249998"/>
                      <a:ext cx="1451011" cy="369332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l="-2521" t="-8333" r="-2521" b="-28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48A1820F-E0B1-E2CB-0607-683F3238CB02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3442213" y="3828307"/>
                      <a:ext cx="590929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</m:d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48A1820F-E0B1-E2CB-0607-683F3238CB0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6200000">
                      <a:off x="3442213" y="3828307"/>
                      <a:ext cx="590929" cy="369332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 r="-13115" b="-1030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2DEE783A-3928-8C8F-AD2A-A16E8F99A2CD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10870845" y="3934338"/>
                    <a:ext cx="145101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97132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Payoff (</a:t>
                    </a:r>
                    <a14:m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E97132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E97132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E97132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</m:d>
                      </m:oMath>
                    </a14:m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97132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)</a:t>
                    </a:r>
                  </a:p>
                </p:txBody>
              </p:sp>
            </mc:Choice>
            <mc:Fallback xmlns="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2DEE783A-3928-8C8F-AD2A-A16E8F99A2C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5400000">
                    <a:off x="10870845" y="3934338"/>
                    <a:ext cx="1451011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26230" t="-2521" r="-8197" b="-2941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6" name="Chart 35">
                  <a:extLst>
                    <a:ext uri="{FF2B5EF4-FFF2-40B4-BE49-F238E27FC236}">
                      <a16:creationId xmlns:a16="http://schemas.microsoft.com/office/drawing/2014/main" id="{C3C1C309-1746-D958-866F-0602FBB125EE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3896180" y="2048550"/>
                <a:ext cx="7406729" cy="4078800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21"/>
                </a:graphicData>
              </a:graphic>
            </p:graphicFrame>
          </mc:Choice>
          <mc:Fallback xmlns="">
            <p:graphicFrame>
              <p:nvGraphicFramePr>
                <p:cNvPr id="36" name="Chart 35">
                  <a:extLst>
                    <a:ext uri="{FF2B5EF4-FFF2-40B4-BE49-F238E27FC236}">
                      <a16:creationId xmlns:a16="http://schemas.microsoft.com/office/drawing/2014/main" id="{C3C1C309-1746-D958-866F-0602FBB125EE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3896180" y="2048550"/>
                <a:ext cx="7406729" cy="4078800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22"/>
                </a:graphicData>
              </a:graphic>
            </p:graphicFrame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387E4A-EB10-3C7B-1111-9CEC10028B87}"/>
                  </a:ext>
                </a:extLst>
              </p:cNvPr>
              <p:cNvSpPr txBox="1"/>
              <p:nvPr/>
            </p:nvSpPr>
            <p:spPr>
              <a:xfrm>
                <a:off x="205630" y="2914076"/>
                <a:ext cx="7655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387E4A-EB10-3C7B-1111-9CEC10028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630" y="2914076"/>
                <a:ext cx="765594" cy="276999"/>
              </a:xfrm>
              <a:prstGeom prst="rect">
                <a:avLst/>
              </a:prstGeom>
              <a:blipFill>
                <a:blip r:embed="rId23"/>
                <a:stretch>
                  <a:fillRect l="-4800" r="-3200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4539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42" grpId="0"/>
      <p:bldP spid="47" grpId="0"/>
      <p:bldP spid="57" grpId="0"/>
      <p:bldP spid="58" grpId="0"/>
      <p:bldP spid="60" grpId="0"/>
      <p:bldP spid="61" grpId="0"/>
      <p:bldP spid="62" grpId="0"/>
      <p:bldP spid="63" grpId="0"/>
      <p:bldP spid="64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A267AA-E108-551F-0051-8D4B1204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A94FF22-C50C-3E2C-540E-4918406E3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142588DE-5304-0010-BAF2-196002F5E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DA4CBA-F3BF-7E4F-2393-1EFD90C56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dirty="0"/>
              <a:t>Expected </a:t>
            </a:r>
            <a:r>
              <a:rPr lang="en-US" sz="5400" dirty="0">
                <a:solidFill>
                  <a:srgbClr val="0070C0"/>
                </a:solidFill>
              </a:rPr>
              <a:t>Payoff</a:t>
            </a:r>
            <a:r>
              <a:rPr lang="en-US" sz="5400" dirty="0"/>
              <a:t> for Continuous </a:t>
            </a:r>
            <a:r>
              <a:rPr lang="en-US" sz="5400" dirty="0">
                <a:solidFill>
                  <a:srgbClr val="00B050"/>
                </a:solidFill>
              </a:rPr>
              <a:t>Outcomes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3F12148-1D34-F2B8-8462-557FAF9776BC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6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F1A491EF-94FB-BA2C-F8CF-712E69F993A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3E53B55-012D-13C6-44FA-27EC3357F23C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EXAMPLE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3F075D5-472A-F693-5113-A268945CFEF3}"/>
              </a:ext>
            </a:extLst>
          </p:cNvPr>
          <p:cNvSpPr txBox="1"/>
          <p:nvPr/>
        </p:nvSpPr>
        <p:spPr>
          <a:xfrm>
            <a:off x="572492" y="1951755"/>
            <a:ext cx="10972799" cy="369332"/>
          </a:xfrm>
          <a:custGeom>
            <a:avLst/>
            <a:gdLst>
              <a:gd name="csX0" fmla="*/ 0 w 10972799"/>
              <a:gd name="csY0" fmla="*/ 0 h 369332"/>
              <a:gd name="csX1" fmla="*/ 467788 w 10972799"/>
              <a:gd name="csY1" fmla="*/ 0 h 369332"/>
              <a:gd name="csX2" fmla="*/ 716120 w 10972799"/>
              <a:gd name="csY2" fmla="*/ 0 h 369332"/>
              <a:gd name="csX3" fmla="*/ 1513091 w 10972799"/>
              <a:gd name="csY3" fmla="*/ 0 h 369332"/>
              <a:gd name="csX4" fmla="*/ 1980879 w 10972799"/>
              <a:gd name="csY4" fmla="*/ 0 h 369332"/>
              <a:gd name="csX5" fmla="*/ 2448667 w 10972799"/>
              <a:gd name="csY5" fmla="*/ 0 h 369332"/>
              <a:gd name="csX6" fmla="*/ 3245638 w 10972799"/>
              <a:gd name="csY6" fmla="*/ 0 h 369332"/>
              <a:gd name="csX7" fmla="*/ 3603698 w 10972799"/>
              <a:gd name="csY7" fmla="*/ 0 h 369332"/>
              <a:gd name="csX8" fmla="*/ 4400670 w 10972799"/>
              <a:gd name="csY8" fmla="*/ 0 h 369332"/>
              <a:gd name="csX9" fmla="*/ 5197642 w 10972799"/>
              <a:gd name="csY9" fmla="*/ 0 h 369332"/>
              <a:gd name="csX10" fmla="*/ 5775157 w 10972799"/>
              <a:gd name="csY10" fmla="*/ 0 h 369332"/>
              <a:gd name="csX11" fmla="*/ 6572129 w 10972799"/>
              <a:gd name="csY11" fmla="*/ 0 h 369332"/>
              <a:gd name="csX12" fmla="*/ 7039917 w 10972799"/>
              <a:gd name="csY12" fmla="*/ 0 h 369332"/>
              <a:gd name="csX13" fmla="*/ 7507705 w 10972799"/>
              <a:gd name="csY13" fmla="*/ 0 h 369332"/>
              <a:gd name="csX14" fmla="*/ 8194948 w 10972799"/>
              <a:gd name="csY14" fmla="*/ 0 h 369332"/>
              <a:gd name="csX15" fmla="*/ 8662736 w 10972799"/>
              <a:gd name="csY15" fmla="*/ 0 h 369332"/>
              <a:gd name="csX16" fmla="*/ 9459708 w 10972799"/>
              <a:gd name="csY16" fmla="*/ 0 h 369332"/>
              <a:gd name="csX17" fmla="*/ 10256679 w 10972799"/>
              <a:gd name="csY17" fmla="*/ 0 h 369332"/>
              <a:gd name="csX18" fmla="*/ 10972799 w 10972799"/>
              <a:gd name="csY18" fmla="*/ 0 h 369332"/>
              <a:gd name="csX19" fmla="*/ 10972799 w 10972799"/>
              <a:gd name="csY19" fmla="*/ 369332 h 369332"/>
              <a:gd name="csX20" fmla="*/ 10724467 w 10972799"/>
              <a:gd name="csY20" fmla="*/ 369332 h 369332"/>
              <a:gd name="csX21" fmla="*/ 9927496 w 10972799"/>
              <a:gd name="csY21" fmla="*/ 369332 h 369332"/>
              <a:gd name="csX22" fmla="*/ 9349980 w 10972799"/>
              <a:gd name="csY22" fmla="*/ 369332 h 369332"/>
              <a:gd name="csX23" fmla="*/ 8991920 w 10972799"/>
              <a:gd name="csY23" fmla="*/ 369332 h 369332"/>
              <a:gd name="csX24" fmla="*/ 8414404 w 10972799"/>
              <a:gd name="csY24" fmla="*/ 369332 h 369332"/>
              <a:gd name="csX25" fmla="*/ 8166073 w 10972799"/>
              <a:gd name="csY25" fmla="*/ 369332 h 369332"/>
              <a:gd name="csX26" fmla="*/ 7917741 w 10972799"/>
              <a:gd name="csY26" fmla="*/ 369332 h 369332"/>
              <a:gd name="csX27" fmla="*/ 7340225 w 10972799"/>
              <a:gd name="csY27" fmla="*/ 369332 h 369332"/>
              <a:gd name="csX28" fmla="*/ 6982165 w 10972799"/>
              <a:gd name="csY28" fmla="*/ 369332 h 369332"/>
              <a:gd name="csX29" fmla="*/ 6294922 w 10972799"/>
              <a:gd name="csY29" fmla="*/ 369332 h 369332"/>
              <a:gd name="csX30" fmla="*/ 5936862 w 10972799"/>
              <a:gd name="csY30" fmla="*/ 369332 h 369332"/>
              <a:gd name="csX31" fmla="*/ 5249618 w 10972799"/>
              <a:gd name="csY31" fmla="*/ 369332 h 369332"/>
              <a:gd name="csX32" fmla="*/ 5001286 w 10972799"/>
              <a:gd name="csY32" fmla="*/ 369332 h 369332"/>
              <a:gd name="csX33" fmla="*/ 4314043 w 10972799"/>
              <a:gd name="csY33" fmla="*/ 369332 h 369332"/>
              <a:gd name="csX34" fmla="*/ 3955983 w 10972799"/>
              <a:gd name="csY34" fmla="*/ 369332 h 369332"/>
              <a:gd name="csX35" fmla="*/ 3707651 w 10972799"/>
              <a:gd name="csY35" fmla="*/ 369332 h 369332"/>
              <a:gd name="csX36" fmla="*/ 3349591 w 10972799"/>
              <a:gd name="csY36" fmla="*/ 369332 h 369332"/>
              <a:gd name="csX37" fmla="*/ 2662348 w 10972799"/>
              <a:gd name="csY37" fmla="*/ 369332 h 369332"/>
              <a:gd name="csX38" fmla="*/ 2304288 w 10972799"/>
              <a:gd name="csY38" fmla="*/ 369332 h 369332"/>
              <a:gd name="csX39" fmla="*/ 2055956 w 10972799"/>
              <a:gd name="csY39" fmla="*/ 369332 h 369332"/>
              <a:gd name="csX40" fmla="*/ 1697896 w 10972799"/>
              <a:gd name="csY40" fmla="*/ 369332 h 369332"/>
              <a:gd name="csX41" fmla="*/ 1230109 w 10972799"/>
              <a:gd name="csY41" fmla="*/ 369332 h 369332"/>
              <a:gd name="csX42" fmla="*/ 652593 w 10972799"/>
              <a:gd name="csY42" fmla="*/ 369332 h 369332"/>
              <a:gd name="csX43" fmla="*/ 0 w 10972799"/>
              <a:gd name="csY43" fmla="*/ 369332 h 369332"/>
              <a:gd name="csX44" fmla="*/ 0 w 10972799"/>
              <a:gd name="csY4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10972799" h="369332" extrusionOk="0">
                <a:moveTo>
                  <a:pt x="0" y="0"/>
                </a:moveTo>
                <a:cubicBezTo>
                  <a:pt x="102379" y="-51931"/>
                  <a:pt x="349347" y="32831"/>
                  <a:pt x="467788" y="0"/>
                </a:cubicBezTo>
                <a:cubicBezTo>
                  <a:pt x="586229" y="-32831"/>
                  <a:pt x="611719" y="14452"/>
                  <a:pt x="716120" y="0"/>
                </a:cubicBezTo>
                <a:cubicBezTo>
                  <a:pt x="820521" y="-14452"/>
                  <a:pt x="1161101" y="55234"/>
                  <a:pt x="1513091" y="0"/>
                </a:cubicBezTo>
                <a:cubicBezTo>
                  <a:pt x="1865081" y="-55234"/>
                  <a:pt x="1778384" y="24247"/>
                  <a:pt x="1980879" y="0"/>
                </a:cubicBezTo>
                <a:cubicBezTo>
                  <a:pt x="2183374" y="-24247"/>
                  <a:pt x="2216696" y="48281"/>
                  <a:pt x="2448667" y="0"/>
                </a:cubicBezTo>
                <a:cubicBezTo>
                  <a:pt x="2680638" y="-48281"/>
                  <a:pt x="2976162" y="25677"/>
                  <a:pt x="3245638" y="0"/>
                </a:cubicBezTo>
                <a:cubicBezTo>
                  <a:pt x="3515114" y="-25677"/>
                  <a:pt x="3510343" y="18862"/>
                  <a:pt x="3603698" y="0"/>
                </a:cubicBezTo>
                <a:cubicBezTo>
                  <a:pt x="3697053" y="-18862"/>
                  <a:pt x="4174073" y="75578"/>
                  <a:pt x="4400670" y="0"/>
                </a:cubicBezTo>
                <a:cubicBezTo>
                  <a:pt x="4627267" y="-75578"/>
                  <a:pt x="4857216" y="78016"/>
                  <a:pt x="5197642" y="0"/>
                </a:cubicBezTo>
                <a:cubicBezTo>
                  <a:pt x="5538068" y="-78016"/>
                  <a:pt x="5494126" y="25141"/>
                  <a:pt x="5775157" y="0"/>
                </a:cubicBezTo>
                <a:cubicBezTo>
                  <a:pt x="6056189" y="-25141"/>
                  <a:pt x="6208737" y="47797"/>
                  <a:pt x="6572129" y="0"/>
                </a:cubicBezTo>
                <a:cubicBezTo>
                  <a:pt x="6935521" y="-47797"/>
                  <a:pt x="6900506" y="33837"/>
                  <a:pt x="7039917" y="0"/>
                </a:cubicBezTo>
                <a:cubicBezTo>
                  <a:pt x="7179328" y="-33837"/>
                  <a:pt x="7278901" y="6436"/>
                  <a:pt x="7507705" y="0"/>
                </a:cubicBezTo>
                <a:cubicBezTo>
                  <a:pt x="7736509" y="-6436"/>
                  <a:pt x="7981603" y="52591"/>
                  <a:pt x="8194948" y="0"/>
                </a:cubicBezTo>
                <a:cubicBezTo>
                  <a:pt x="8408293" y="-52591"/>
                  <a:pt x="8520675" y="11781"/>
                  <a:pt x="8662736" y="0"/>
                </a:cubicBezTo>
                <a:cubicBezTo>
                  <a:pt x="8804797" y="-11781"/>
                  <a:pt x="9252333" y="56724"/>
                  <a:pt x="9459708" y="0"/>
                </a:cubicBezTo>
                <a:cubicBezTo>
                  <a:pt x="9667083" y="-56724"/>
                  <a:pt x="10011380" y="41375"/>
                  <a:pt x="10256679" y="0"/>
                </a:cubicBezTo>
                <a:cubicBezTo>
                  <a:pt x="10501978" y="-41375"/>
                  <a:pt x="10755051" y="36028"/>
                  <a:pt x="10972799" y="0"/>
                </a:cubicBezTo>
                <a:cubicBezTo>
                  <a:pt x="10993063" y="152752"/>
                  <a:pt x="10932138" y="292725"/>
                  <a:pt x="10972799" y="369332"/>
                </a:cubicBezTo>
                <a:cubicBezTo>
                  <a:pt x="10899353" y="375811"/>
                  <a:pt x="10802312" y="355169"/>
                  <a:pt x="10724467" y="369332"/>
                </a:cubicBezTo>
                <a:cubicBezTo>
                  <a:pt x="10646622" y="383495"/>
                  <a:pt x="10112277" y="290545"/>
                  <a:pt x="9927496" y="369332"/>
                </a:cubicBezTo>
                <a:cubicBezTo>
                  <a:pt x="9742715" y="448119"/>
                  <a:pt x="9514498" y="355150"/>
                  <a:pt x="9349980" y="369332"/>
                </a:cubicBezTo>
                <a:cubicBezTo>
                  <a:pt x="9185462" y="383514"/>
                  <a:pt x="9164920" y="339419"/>
                  <a:pt x="8991920" y="369332"/>
                </a:cubicBezTo>
                <a:cubicBezTo>
                  <a:pt x="8818920" y="399245"/>
                  <a:pt x="8658215" y="350555"/>
                  <a:pt x="8414404" y="369332"/>
                </a:cubicBezTo>
                <a:cubicBezTo>
                  <a:pt x="8170593" y="388109"/>
                  <a:pt x="8232863" y="354595"/>
                  <a:pt x="8166073" y="369332"/>
                </a:cubicBezTo>
                <a:cubicBezTo>
                  <a:pt x="8099283" y="384069"/>
                  <a:pt x="7997887" y="353139"/>
                  <a:pt x="7917741" y="369332"/>
                </a:cubicBezTo>
                <a:cubicBezTo>
                  <a:pt x="7837595" y="385525"/>
                  <a:pt x="7523686" y="344676"/>
                  <a:pt x="7340225" y="369332"/>
                </a:cubicBezTo>
                <a:cubicBezTo>
                  <a:pt x="7156764" y="393988"/>
                  <a:pt x="7137559" y="349946"/>
                  <a:pt x="6982165" y="369332"/>
                </a:cubicBezTo>
                <a:cubicBezTo>
                  <a:pt x="6826771" y="388718"/>
                  <a:pt x="6544333" y="298062"/>
                  <a:pt x="6294922" y="369332"/>
                </a:cubicBezTo>
                <a:cubicBezTo>
                  <a:pt x="6045511" y="440602"/>
                  <a:pt x="6071580" y="327888"/>
                  <a:pt x="5936862" y="369332"/>
                </a:cubicBezTo>
                <a:cubicBezTo>
                  <a:pt x="5802144" y="410776"/>
                  <a:pt x="5518287" y="310756"/>
                  <a:pt x="5249618" y="369332"/>
                </a:cubicBezTo>
                <a:cubicBezTo>
                  <a:pt x="4980949" y="427908"/>
                  <a:pt x="5070396" y="340221"/>
                  <a:pt x="5001286" y="369332"/>
                </a:cubicBezTo>
                <a:cubicBezTo>
                  <a:pt x="4932176" y="398443"/>
                  <a:pt x="4615294" y="325140"/>
                  <a:pt x="4314043" y="369332"/>
                </a:cubicBezTo>
                <a:cubicBezTo>
                  <a:pt x="4012792" y="413524"/>
                  <a:pt x="4048118" y="367196"/>
                  <a:pt x="3955983" y="369332"/>
                </a:cubicBezTo>
                <a:cubicBezTo>
                  <a:pt x="3863848" y="371468"/>
                  <a:pt x="3782558" y="366627"/>
                  <a:pt x="3707651" y="369332"/>
                </a:cubicBezTo>
                <a:cubicBezTo>
                  <a:pt x="3632744" y="372037"/>
                  <a:pt x="3495352" y="359789"/>
                  <a:pt x="3349591" y="369332"/>
                </a:cubicBezTo>
                <a:cubicBezTo>
                  <a:pt x="3203830" y="378875"/>
                  <a:pt x="2965707" y="312234"/>
                  <a:pt x="2662348" y="369332"/>
                </a:cubicBezTo>
                <a:cubicBezTo>
                  <a:pt x="2358989" y="426430"/>
                  <a:pt x="2385056" y="335699"/>
                  <a:pt x="2304288" y="369332"/>
                </a:cubicBezTo>
                <a:cubicBezTo>
                  <a:pt x="2223520" y="402965"/>
                  <a:pt x="2178106" y="362826"/>
                  <a:pt x="2055956" y="369332"/>
                </a:cubicBezTo>
                <a:cubicBezTo>
                  <a:pt x="1933806" y="375838"/>
                  <a:pt x="1875913" y="345686"/>
                  <a:pt x="1697896" y="369332"/>
                </a:cubicBezTo>
                <a:cubicBezTo>
                  <a:pt x="1519879" y="392978"/>
                  <a:pt x="1387127" y="349284"/>
                  <a:pt x="1230109" y="369332"/>
                </a:cubicBezTo>
                <a:cubicBezTo>
                  <a:pt x="1073091" y="389380"/>
                  <a:pt x="905878" y="304966"/>
                  <a:pt x="652593" y="369332"/>
                </a:cubicBezTo>
                <a:cubicBezTo>
                  <a:pt x="399308" y="433698"/>
                  <a:pt x="168010" y="349222"/>
                  <a:pt x="0" y="369332"/>
                </a:cubicBezTo>
                <a:cubicBezTo>
                  <a:pt x="-25525" y="247637"/>
                  <a:pt x="8422" y="140187"/>
                  <a:pt x="0" y="0"/>
                </a:cubicBezTo>
                <a:close/>
              </a:path>
            </a:pathLst>
          </a:custGeom>
          <a:noFill/>
          <a:ln>
            <a:solidFill>
              <a:schemeClr val="accent3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Expected Payoff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an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average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of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payoffs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weighted by the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probability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of each outcome.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ECA0589-A57C-78A8-7507-BD1DCA54F1D6}"/>
              </a:ext>
            </a:extLst>
          </p:cNvPr>
          <p:cNvGrpSpPr/>
          <p:nvPr/>
        </p:nvGrpSpPr>
        <p:grpSpPr>
          <a:xfrm>
            <a:off x="6312604" y="2259623"/>
            <a:ext cx="501869" cy="828303"/>
            <a:chOff x="6312604" y="2259623"/>
            <a:chExt cx="501869" cy="8283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2B34423-8694-9F50-73DD-84310BED79C3}"/>
                    </a:ext>
                  </a:extLst>
                </p:cNvPr>
                <p:cNvSpPr txBox="1"/>
                <p:nvPr/>
              </p:nvSpPr>
              <p:spPr>
                <a:xfrm>
                  <a:off x="6312604" y="2810927"/>
                  <a:ext cx="501869" cy="276999"/>
                </a:xfrm>
                <a:prstGeom prst="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96B24">
                                <a:lumMod val="5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96B24">
                                    <a:lumMod val="5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96B24">
                                    <a:lumMod val="5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96B24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2B34423-8694-9F50-73DD-84310BED79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2604" y="2810927"/>
                  <a:ext cx="501869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5476" b="-291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19ACEE-9116-B204-7359-6145CFA3A620}"/>
                </a:ext>
              </a:extLst>
            </p:cNvPr>
            <p:cNvSpPr/>
            <p:nvPr/>
          </p:nvSpPr>
          <p:spPr>
            <a:xfrm flipH="1">
              <a:off x="6558503" y="2259623"/>
              <a:ext cx="141235" cy="500997"/>
            </a:xfrm>
            <a:custGeom>
              <a:avLst/>
              <a:gdLst>
                <a:gd name="connsiteX0" fmla="*/ 342900 w 342900"/>
                <a:gd name="connsiteY0" fmla="*/ 474785 h 474785"/>
                <a:gd name="connsiteX1" fmla="*/ 228600 w 342900"/>
                <a:gd name="connsiteY1" fmla="*/ 369277 h 474785"/>
                <a:gd name="connsiteX2" fmla="*/ 175847 w 342900"/>
                <a:gd name="connsiteY2" fmla="*/ 316523 h 474785"/>
                <a:gd name="connsiteX3" fmla="*/ 114300 w 342900"/>
                <a:gd name="connsiteY3" fmla="*/ 237392 h 474785"/>
                <a:gd name="connsiteX4" fmla="*/ 96716 w 342900"/>
                <a:gd name="connsiteY4" fmla="*/ 211015 h 474785"/>
                <a:gd name="connsiteX5" fmla="*/ 70339 w 342900"/>
                <a:gd name="connsiteY5" fmla="*/ 184639 h 474785"/>
                <a:gd name="connsiteX6" fmla="*/ 17585 w 342900"/>
                <a:gd name="connsiteY6" fmla="*/ 61546 h 474785"/>
                <a:gd name="connsiteX7" fmla="*/ 8793 w 342900"/>
                <a:gd name="connsiteY7" fmla="*/ 35169 h 474785"/>
                <a:gd name="connsiteX8" fmla="*/ 0 w 342900"/>
                <a:gd name="connsiteY8" fmla="*/ 0 h 47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2900" h="474785">
                  <a:moveTo>
                    <a:pt x="342900" y="474785"/>
                  </a:moveTo>
                  <a:cubicBezTo>
                    <a:pt x="256000" y="416849"/>
                    <a:pt x="316189" y="463604"/>
                    <a:pt x="228600" y="369277"/>
                  </a:cubicBezTo>
                  <a:cubicBezTo>
                    <a:pt x="211678" y="351054"/>
                    <a:pt x="192134" y="335316"/>
                    <a:pt x="175847" y="316523"/>
                  </a:cubicBezTo>
                  <a:cubicBezTo>
                    <a:pt x="153962" y="291271"/>
                    <a:pt x="132835" y="265196"/>
                    <a:pt x="114300" y="237392"/>
                  </a:cubicBezTo>
                  <a:cubicBezTo>
                    <a:pt x="108439" y="228600"/>
                    <a:pt x="103481" y="219133"/>
                    <a:pt x="96716" y="211015"/>
                  </a:cubicBezTo>
                  <a:cubicBezTo>
                    <a:pt x="88756" y="201463"/>
                    <a:pt x="79131" y="193431"/>
                    <a:pt x="70339" y="184639"/>
                  </a:cubicBezTo>
                  <a:cubicBezTo>
                    <a:pt x="52754" y="143608"/>
                    <a:pt x="31701" y="103896"/>
                    <a:pt x="17585" y="61546"/>
                  </a:cubicBezTo>
                  <a:cubicBezTo>
                    <a:pt x="14654" y="52754"/>
                    <a:pt x="11339" y="44080"/>
                    <a:pt x="8793" y="35169"/>
                  </a:cubicBezTo>
                  <a:cubicBezTo>
                    <a:pt x="5473" y="23550"/>
                    <a:pt x="0" y="0"/>
                    <a:pt x="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75B01B2-9810-2B6B-568F-096E7F9511E2}"/>
              </a:ext>
            </a:extLst>
          </p:cNvPr>
          <p:cNvGrpSpPr/>
          <p:nvPr/>
        </p:nvGrpSpPr>
        <p:grpSpPr>
          <a:xfrm>
            <a:off x="4152899" y="2285835"/>
            <a:ext cx="749171" cy="813247"/>
            <a:chOff x="6699738" y="2259623"/>
            <a:chExt cx="749171" cy="8132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0661001-EBD2-993F-4BBE-7B029F7AC588}"/>
                    </a:ext>
                  </a:extLst>
                </p:cNvPr>
                <p:cNvSpPr txBox="1"/>
                <p:nvPr/>
              </p:nvSpPr>
              <p:spPr>
                <a:xfrm>
                  <a:off x="6941526" y="2795871"/>
                  <a:ext cx="507383" cy="276999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0661001-EBD2-993F-4BBE-7B029F7AC5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1526" y="2795871"/>
                  <a:ext cx="507383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588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F5FF1BD-9F45-347C-529A-057D05934D49}"/>
                </a:ext>
              </a:extLst>
            </p:cNvPr>
            <p:cNvSpPr/>
            <p:nvPr/>
          </p:nvSpPr>
          <p:spPr>
            <a:xfrm>
              <a:off x="6699738" y="2259623"/>
              <a:ext cx="342900" cy="474785"/>
            </a:xfrm>
            <a:custGeom>
              <a:avLst/>
              <a:gdLst>
                <a:gd name="connsiteX0" fmla="*/ 342900 w 342900"/>
                <a:gd name="connsiteY0" fmla="*/ 474785 h 474785"/>
                <a:gd name="connsiteX1" fmla="*/ 228600 w 342900"/>
                <a:gd name="connsiteY1" fmla="*/ 369277 h 474785"/>
                <a:gd name="connsiteX2" fmla="*/ 175847 w 342900"/>
                <a:gd name="connsiteY2" fmla="*/ 316523 h 474785"/>
                <a:gd name="connsiteX3" fmla="*/ 114300 w 342900"/>
                <a:gd name="connsiteY3" fmla="*/ 237392 h 474785"/>
                <a:gd name="connsiteX4" fmla="*/ 96716 w 342900"/>
                <a:gd name="connsiteY4" fmla="*/ 211015 h 474785"/>
                <a:gd name="connsiteX5" fmla="*/ 70339 w 342900"/>
                <a:gd name="connsiteY5" fmla="*/ 184639 h 474785"/>
                <a:gd name="connsiteX6" fmla="*/ 17585 w 342900"/>
                <a:gd name="connsiteY6" fmla="*/ 61546 h 474785"/>
                <a:gd name="connsiteX7" fmla="*/ 8793 w 342900"/>
                <a:gd name="connsiteY7" fmla="*/ 35169 h 474785"/>
                <a:gd name="connsiteX8" fmla="*/ 0 w 342900"/>
                <a:gd name="connsiteY8" fmla="*/ 0 h 47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2900" h="474785">
                  <a:moveTo>
                    <a:pt x="342900" y="474785"/>
                  </a:moveTo>
                  <a:cubicBezTo>
                    <a:pt x="256000" y="416849"/>
                    <a:pt x="316189" y="463604"/>
                    <a:pt x="228600" y="369277"/>
                  </a:cubicBezTo>
                  <a:cubicBezTo>
                    <a:pt x="211678" y="351054"/>
                    <a:pt x="192134" y="335316"/>
                    <a:pt x="175847" y="316523"/>
                  </a:cubicBezTo>
                  <a:cubicBezTo>
                    <a:pt x="153962" y="291271"/>
                    <a:pt x="132835" y="265196"/>
                    <a:pt x="114300" y="237392"/>
                  </a:cubicBezTo>
                  <a:cubicBezTo>
                    <a:pt x="108439" y="228600"/>
                    <a:pt x="103481" y="219133"/>
                    <a:pt x="96716" y="211015"/>
                  </a:cubicBezTo>
                  <a:cubicBezTo>
                    <a:pt x="88756" y="201463"/>
                    <a:pt x="79131" y="193431"/>
                    <a:pt x="70339" y="184639"/>
                  </a:cubicBezTo>
                  <a:cubicBezTo>
                    <a:pt x="52754" y="143608"/>
                    <a:pt x="31701" y="103896"/>
                    <a:pt x="17585" y="61546"/>
                  </a:cubicBezTo>
                  <a:cubicBezTo>
                    <a:pt x="14654" y="52754"/>
                    <a:pt x="11339" y="44080"/>
                    <a:pt x="8793" y="35169"/>
                  </a:cubicBezTo>
                  <a:cubicBezTo>
                    <a:pt x="5473" y="23550"/>
                    <a:pt x="0" y="0"/>
                    <a:pt x="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C89EB86-F4E2-902E-E3AA-8AA2D4C703E7}"/>
              </a:ext>
            </a:extLst>
          </p:cNvPr>
          <p:cNvGrpSpPr/>
          <p:nvPr/>
        </p:nvGrpSpPr>
        <p:grpSpPr>
          <a:xfrm>
            <a:off x="1676491" y="2285836"/>
            <a:ext cx="1393227" cy="674746"/>
            <a:chOff x="5306511" y="2259624"/>
            <a:chExt cx="1393227" cy="674746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6BA8435-3FAB-BC43-1DC0-7E4704ABD91D}"/>
                </a:ext>
              </a:extLst>
            </p:cNvPr>
            <p:cNvSpPr txBox="1"/>
            <p:nvPr/>
          </p:nvSpPr>
          <p:spPr>
            <a:xfrm>
              <a:off x="5306511" y="2657371"/>
              <a:ext cx="746999" cy="27699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A02B93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Integral</a:t>
              </a: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2301367-C736-4A88-D90A-484D15A481DE}"/>
                </a:ext>
              </a:extLst>
            </p:cNvPr>
            <p:cNvSpPr/>
            <p:nvPr/>
          </p:nvSpPr>
          <p:spPr>
            <a:xfrm flipH="1">
              <a:off x="6053510" y="2259624"/>
              <a:ext cx="646228" cy="397748"/>
            </a:xfrm>
            <a:custGeom>
              <a:avLst/>
              <a:gdLst>
                <a:gd name="connsiteX0" fmla="*/ 342900 w 342900"/>
                <a:gd name="connsiteY0" fmla="*/ 474785 h 474785"/>
                <a:gd name="connsiteX1" fmla="*/ 228600 w 342900"/>
                <a:gd name="connsiteY1" fmla="*/ 369277 h 474785"/>
                <a:gd name="connsiteX2" fmla="*/ 175847 w 342900"/>
                <a:gd name="connsiteY2" fmla="*/ 316523 h 474785"/>
                <a:gd name="connsiteX3" fmla="*/ 114300 w 342900"/>
                <a:gd name="connsiteY3" fmla="*/ 237392 h 474785"/>
                <a:gd name="connsiteX4" fmla="*/ 96716 w 342900"/>
                <a:gd name="connsiteY4" fmla="*/ 211015 h 474785"/>
                <a:gd name="connsiteX5" fmla="*/ 70339 w 342900"/>
                <a:gd name="connsiteY5" fmla="*/ 184639 h 474785"/>
                <a:gd name="connsiteX6" fmla="*/ 17585 w 342900"/>
                <a:gd name="connsiteY6" fmla="*/ 61546 h 474785"/>
                <a:gd name="connsiteX7" fmla="*/ 8793 w 342900"/>
                <a:gd name="connsiteY7" fmla="*/ 35169 h 474785"/>
                <a:gd name="connsiteX8" fmla="*/ 0 w 342900"/>
                <a:gd name="connsiteY8" fmla="*/ 0 h 47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2900" h="474785">
                  <a:moveTo>
                    <a:pt x="342900" y="474785"/>
                  </a:moveTo>
                  <a:cubicBezTo>
                    <a:pt x="256000" y="416849"/>
                    <a:pt x="316189" y="463604"/>
                    <a:pt x="228600" y="369277"/>
                  </a:cubicBezTo>
                  <a:cubicBezTo>
                    <a:pt x="211678" y="351054"/>
                    <a:pt x="192134" y="335316"/>
                    <a:pt x="175847" y="316523"/>
                  </a:cubicBezTo>
                  <a:cubicBezTo>
                    <a:pt x="153962" y="291271"/>
                    <a:pt x="132835" y="265196"/>
                    <a:pt x="114300" y="237392"/>
                  </a:cubicBezTo>
                  <a:cubicBezTo>
                    <a:pt x="108439" y="228600"/>
                    <a:pt x="103481" y="219133"/>
                    <a:pt x="96716" y="211015"/>
                  </a:cubicBezTo>
                  <a:cubicBezTo>
                    <a:pt x="88756" y="201463"/>
                    <a:pt x="79131" y="193431"/>
                    <a:pt x="70339" y="184639"/>
                  </a:cubicBezTo>
                  <a:cubicBezTo>
                    <a:pt x="52754" y="143608"/>
                    <a:pt x="31701" y="103896"/>
                    <a:pt x="17585" y="61546"/>
                  </a:cubicBezTo>
                  <a:cubicBezTo>
                    <a:pt x="14654" y="52754"/>
                    <a:pt x="11339" y="44080"/>
                    <a:pt x="8793" y="35169"/>
                  </a:cubicBezTo>
                  <a:cubicBezTo>
                    <a:pt x="5473" y="23550"/>
                    <a:pt x="0" y="0"/>
                    <a:pt x="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3457D94-0E9B-23CA-E693-A35187024187}"/>
              </a:ext>
            </a:extLst>
          </p:cNvPr>
          <p:cNvGrpSpPr/>
          <p:nvPr/>
        </p:nvGrpSpPr>
        <p:grpSpPr>
          <a:xfrm>
            <a:off x="4405670" y="3096463"/>
            <a:ext cx="2152833" cy="883690"/>
            <a:chOff x="4405670" y="3096463"/>
            <a:chExt cx="2152833" cy="883690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CAE03A8-E77D-A2A1-7C9C-CBA178741933}"/>
                </a:ext>
              </a:extLst>
            </p:cNvPr>
            <p:cNvSpPr txBox="1"/>
            <p:nvPr/>
          </p:nvSpPr>
          <p:spPr>
            <a:xfrm>
              <a:off x="4405670" y="3703154"/>
              <a:ext cx="2152833" cy="276999"/>
            </a:xfrm>
            <a:custGeom>
              <a:avLst/>
              <a:gdLst>
                <a:gd name="csX0" fmla="*/ 0 w 2152833"/>
                <a:gd name="csY0" fmla="*/ 0 h 276999"/>
                <a:gd name="csX1" fmla="*/ 516680 w 2152833"/>
                <a:gd name="csY1" fmla="*/ 0 h 276999"/>
                <a:gd name="csX2" fmla="*/ 990303 w 2152833"/>
                <a:gd name="csY2" fmla="*/ 0 h 276999"/>
                <a:gd name="csX3" fmla="*/ 1571568 w 2152833"/>
                <a:gd name="csY3" fmla="*/ 0 h 276999"/>
                <a:gd name="csX4" fmla="*/ 2152833 w 2152833"/>
                <a:gd name="csY4" fmla="*/ 0 h 276999"/>
                <a:gd name="csX5" fmla="*/ 2152833 w 2152833"/>
                <a:gd name="csY5" fmla="*/ 276999 h 276999"/>
                <a:gd name="csX6" fmla="*/ 1657681 w 2152833"/>
                <a:gd name="csY6" fmla="*/ 276999 h 276999"/>
                <a:gd name="csX7" fmla="*/ 1162530 w 2152833"/>
                <a:gd name="csY7" fmla="*/ 276999 h 276999"/>
                <a:gd name="csX8" fmla="*/ 581265 w 2152833"/>
                <a:gd name="csY8" fmla="*/ 276999 h 276999"/>
                <a:gd name="csX9" fmla="*/ 0 w 2152833"/>
                <a:gd name="csY9" fmla="*/ 276999 h 276999"/>
                <a:gd name="csX10" fmla="*/ 0 w 2152833"/>
                <a:gd name="csY10" fmla="*/ 0 h 276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152833" h="276999" extrusionOk="0">
                  <a:moveTo>
                    <a:pt x="0" y="0"/>
                  </a:moveTo>
                  <a:cubicBezTo>
                    <a:pt x="216736" y="-54978"/>
                    <a:pt x="352152" y="60688"/>
                    <a:pt x="516680" y="0"/>
                  </a:cubicBezTo>
                  <a:cubicBezTo>
                    <a:pt x="681208" y="-60688"/>
                    <a:pt x="802911" y="46935"/>
                    <a:pt x="990303" y="0"/>
                  </a:cubicBezTo>
                  <a:cubicBezTo>
                    <a:pt x="1177695" y="-46935"/>
                    <a:pt x="1284307" y="811"/>
                    <a:pt x="1571568" y="0"/>
                  </a:cubicBezTo>
                  <a:cubicBezTo>
                    <a:pt x="1858830" y="-811"/>
                    <a:pt x="1870545" y="17788"/>
                    <a:pt x="2152833" y="0"/>
                  </a:cubicBezTo>
                  <a:cubicBezTo>
                    <a:pt x="2184712" y="125317"/>
                    <a:pt x="2137753" y="162129"/>
                    <a:pt x="2152833" y="276999"/>
                  </a:cubicBezTo>
                  <a:cubicBezTo>
                    <a:pt x="1965375" y="294303"/>
                    <a:pt x="1795056" y="253867"/>
                    <a:pt x="1657681" y="276999"/>
                  </a:cubicBezTo>
                  <a:cubicBezTo>
                    <a:pt x="1520306" y="300131"/>
                    <a:pt x="1268449" y="260743"/>
                    <a:pt x="1162530" y="276999"/>
                  </a:cubicBezTo>
                  <a:cubicBezTo>
                    <a:pt x="1056611" y="293255"/>
                    <a:pt x="804025" y="209672"/>
                    <a:pt x="581265" y="276999"/>
                  </a:cubicBezTo>
                  <a:cubicBezTo>
                    <a:pt x="358505" y="344326"/>
                    <a:pt x="188768" y="267877"/>
                    <a:pt x="0" y="276999"/>
                  </a:cubicBezTo>
                  <a:cubicBezTo>
                    <a:pt x="-29239" y="160037"/>
                    <a:pt x="32309" y="78132"/>
                    <a:pt x="0" y="0"/>
                  </a:cubicBezTo>
                  <a:close/>
                </a:path>
              </a:pathLst>
            </a:custGeom>
            <a:noFill/>
            <a:ln>
              <a:noFill/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Continuous functions</a:t>
              </a: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79E6555-17A8-8718-496F-5CB7AB68ED18}"/>
                </a:ext>
              </a:extLst>
            </p:cNvPr>
            <p:cNvSpPr/>
            <p:nvPr/>
          </p:nvSpPr>
          <p:spPr>
            <a:xfrm>
              <a:off x="4730620" y="3099082"/>
              <a:ext cx="631955" cy="604072"/>
            </a:xfrm>
            <a:custGeom>
              <a:avLst/>
              <a:gdLst>
                <a:gd name="connsiteX0" fmla="*/ 342900 w 342900"/>
                <a:gd name="connsiteY0" fmla="*/ 474785 h 474785"/>
                <a:gd name="connsiteX1" fmla="*/ 228600 w 342900"/>
                <a:gd name="connsiteY1" fmla="*/ 369277 h 474785"/>
                <a:gd name="connsiteX2" fmla="*/ 175847 w 342900"/>
                <a:gd name="connsiteY2" fmla="*/ 316523 h 474785"/>
                <a:gd name="connsiteX3" fmla="*/ 114300 w 342900"/>
                <a:gd name="connsiteY3" fmla="*/ 237392 h 474785"/>
                <a:gd name="connsiteX4" fmla="*/ 96716 w 342900"/>
                <a:gd name="connsiteY4" fmla="*/ 211015 h 474785"/>
                <a:gd name="connsiteX5" fmla="*/ 70339 w 342900"/>
                <a:gd name="connsiteY5" fmla="*/ 184639 h 474785"/>
                <a:gd name="connsiteX6" fmla="*/ 17585 w 342900"/>
                <a:gd name="connsiteY6" fmla="*/ 61546 h 474785"/>
                <a:gd name="connsiteX7" fmla="*/ 8793 w 342900"/>
                <a:gd name="connsiteY7" fmla="*/ 35169 h 474785"/>
                <a:gd name="connsiteX8" fmla="*/ 0 w 342900"/>
                <a:gd name="connsiteY8" fmla="*/ 0 h 47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2900" h="474785">
                  <a:moveTo>
                    <a:pt x="342900" y="474785"/>
                  </a:moveTo>
                  <a:cubicBezTo>
                    <a:pt x="256000" y="416849"/>
                    <a:pt x="316189" y="463604"/>
                    <a:pt x="228600" y="369277"/>
                  </a:cubicBezTo>
                  <a:cubicBezTo>
                    <a:pt x="211678" y="351054"/>
                    <a:pt x="192134" y="335316"/>
                    <a:pt x="175847" y="316523"/>
                  </a:cubicBezTo>
                  <a:cubicBezTo>
                    <a:pt x="153962" y="291271"/>
                    <a:pt x="132835" y="265196"/>
                    <a:pt x="114300" y="237392"/>
                  </a:cubicBezTo>
                  <a:cubicBezTo>
                    <a:pt x="108439" y="228600"/>
                    <a:pt x="103481" y="219133"/>
                    <a:pt x="96716" y="211015"/>
                  </a:cubicBezTo>
                  <a:cubicBezTo>
                    <a:pt x="88756" y="201463"/>
                    <a:pt x="79131" y="193431"/>
                    <a:pt x="70339" y="184639"/>
                  </a:cubicBezTo>
                  <a:cubicBezTo>
                    <a:pt x="52754" y="143608"/>
                    <a:pt x="31701" y="103896"/>
                    <a:pt x="17585" y="61546"/>
                  </a:cubicBezTo>
                  <a:cubicBezTo>
                    <a:pt x="14654" y="52754"/>
                    <a:pt x="11339" y="44080"/>
                    <a:pt x="8793" y="35169"/>
                  </a:cubicBezTo>
                  <a:cubicBezTo>
                    <a:pt x="5473" y="23550"/>
                    <a:pt x="0" y="0"/>
                    <a:pt x="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2724C37-C4C8-625F-B3D3-2568F191D14D}"/>
                </a:ext>
              </a:extLst>
            </p:cNvPr>
            <p:cNvSpPr/>
            <p:nvPr/>
          </p:nvSpPr>
          <p:spPr>
            <a:xfrm flipH="1">
              <a:off x="5356988" y="3096463"/>
              <a:ext cx="1153606" cy="609311"/>
            </a:xfrm>
            <a:custGeom>
              <a:avLst/>
              <a:gdLst>
                <a:gd name="connsiteX0" fmla="*/ 342900 w 342900"/>
                <a:gd name="connsiteY0" fmla="*/ 474785 h 474785"/>
                <a:gd name="connsiteX1" fmla="*/ 228600 w 342900"/>
                <a:gd name="connsiteY1" fmla="*/ 369277 h 474785"/>
                <a:gd name="connsiteX2" fmla="*/ 175847 w 342900"/>
                <a:gd name="connsiteY2" fmla="*/ 316523 h 474785"/>
                <a:gd name="connsiteX3" fmla="*/ 114300 w 342900"/>
                <a:gd name="connsiteY3" fmla="*/ 237392 h 474785"/>
                <a:gd name="connsiteX4" fmla="*/ 96716 w 342900"/>
                <a:gd name="connsiteY4" fmla="*/ 211015 h 474785"/>
                <a:gd name="connsiteX5" fmla="*/ 70339 w 342900"/>
                <a:gd name="connsiteY5" fmla="*/ 184639 h 474785"/>
                <a:gd name="connsiteX6" fmla="*/ 17585 w 342900"/>
                <a:gd name="connsiteY6" fmla="*/ 61546 h 474785"/>
                <a:gd name="connsiteX7" fmla="*/ 8793 w 342900"/>
                <a:gd name="connsiteY7" fmla="*/ 35169 h 474785"/>
                <a:gd name="connsiteX8" fmla="*/ 0 w 342900"/>
                <a:gd name="connsiteY8" fmla="*/ 0 h 47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2900" h="474785">
                  <a:moveTo>
                    <a:pt x="342900" y="474785"/>
                  </a:moveTo>
                  <a:cubicBezTo>
                    <a:pt x="256000" y="416849"/>
                    <a:pt x="316189" y="463604"/>
                    <a:pt x="228600" y="369277"/>
                  </a:cubicBezTo>
                  <a:cubicBezTo>
                    <a:pt x="211678" y="351054"/>
                    <a:pt x="192134" y="335316"/>
                    <a:pt x="175847" y="316523"/>
                  </a:cubicBezTo>
                  <a:cubicBezTo>
                    <a:pt x="153962" y="291271"/>
                    <a:pt x="132835" y="265196"/>
                    <a:pt x="114300" y="237392"/>
                  </a:cubicBezTo>
                  <a:cubicBezTo>
                    <a:pt x="108439" y="228600"/>
                    <a:pt x="103481" y="219133"/>
                    <a:pt x="96716" y="211015"/>
                  </a:cubicBezTo>
                  <a:cubicBezTo>
                    <a:pt x="88756" y="201463"/>
                    <a:pt x="79131" y="193431"/>
                    <a:pt x="70339" y="184639"/>
                  </a:cubicBezTo>
                  <a:cubicBezTo>
                    <a:pt x="52754" y="143608"/>
                    <a:pt x="31701" y="103896"/>
                    <a:pt x="17585" y="61546"/>
                  </a:cubicBezTo>
                  <a:cubicBezTo>
                    <a:pt x="14654" y="52754"/>
                    <a:pt x="11339" y="44080"/>
                    <a:pt x="8793" y="35169"/>
                  </a:cubicBezTo>
                  <a:cubicBezTo>
                    <a:pt x="5473" y="23550"/>
                    <a:pt x="0" y="0"/>
                    <a:pt x="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75E4787-1853-5056-0BAA-54661D9CCD3A}"/>
              </a:ext>
            </a:extLst>
          </p:cNvPr>
          <p:cNvCxnSpPr>
            <a:cxnSpLocks/>
          </p:cNvCxnSpPr>
          <p:nvPr/>
        </p:nvCxnSpPr>
        <p:spPr>
          <a:xfrm>
            <a:off x="3847649" y="3087926"/>
            <a:ext cx="0" cy="33083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4715DD2-63D5-4E33-FF46-3CD14648AD13}"/>
              </a:ext>
            </a:extLst>
          </p:cNvPr>
          <p:cNvCxnSpPr>
            <a:cxnSpLocks/>
          </p:cNvCxnSpPr>
          <p:nvPr/>
        </p:nvCxnSpPr>
        <p:spPr>
          <a:xfrm flipH="1">
            <a:off x="4019099" y="4103978"/>
            <a:ext cx="36967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2D93818-ED75-6EAD-96F1-03F5303DC9CB}"/>
              </a:ext>
            </a:extLst>
          </p:cNvPr>
          <p:cNvCxnSpPr>
            <a:cxnSpLocks/>
          </p:cNvCxnSpPr>
          <p:nvPr/>
        </p:nvCxnSpPr>
        <p:spPr>
          <a:xfrm>
            <a:off x="8040064" y="2429151"/>
            <a:ext cx="19501" cy="39465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92F589C-E46A-63D4-260D-A9DA3DCB1EF9}"/>
                  </a:ext>
                </a:extLst>
              </p:cNvPr>
              <p:cNvSpPr txBox="1"/>
              <p:nvPr/>
            </p:nvSpPr>
            <p:spPr>
              <a:xfrm>
                <a:off x="4031913" y="4926938"/>
                <a:ext cx="2378663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0.2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1−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Sup>
                        <m:sSubSup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𝐼</m:t>
                              </m:r>
                            </m:e>
                          </m:d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</m:t>
                          </m:r>
                        </m:sup>
                      </m:sSubSup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92F589C-E46A-63D4-260D-A9DA3DCB1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1913" y="4926938"/>
                <a:ext cx="2378663" cy="5203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F0AD3DB-4470-3BD1-6C75-A0D5E112E3CB}"/>
                  </a:ext>
                </a:extLst>
              </p:cNvPr>
              <p:cNvSpPr txBox="1"/>
              <p:nvPr/>
            </p:nvSpPr>
            <p:spPr>
              <a:xfrm>
                <a:off x="4011324" y="5634329"/>
                <a:ext cx="3226589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0.2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1−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1−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11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−10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F0AD3DB-4470-3BD1-6C75-A0D5E112E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1324" y="5634329"/>
                <a:ext cx="3226589" cy="5203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F255D89-C162-C964-C67F-0B06B4B51882}"/>
                  </a:ext>
                </a:extLst>
              </p:cNvPr>
              <p:cNvSpPr txBox="1"/>
              <p:nvPr/>
            </p:nvSpPr>
            <p:spPr>
              <a:xfrm>
                <a:off x="4016796" y="4402414"/>
                <a:ext cx="1918667" cy="2841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𝐼</m:t>
                              </m:r>
                            </m:e>
                          </m:d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</m:t>
                          </m:r>
                        </m:sup>
                      </m:sSubSup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11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−10</m:t>
                          </m:r>
                        </m:sup>
                      </m:sSup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F255D89-C162-C964-C67F-0B06B4B51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6796" y="4402414"/>
                <a:ext cx="1918667" cy="284180"/>
              </a:xfrm>
              <a:prstGeom prst="rect">
                <a:avLst/>
              </a:prstGeom>
              <a:blipFill>
                <a:blip r:embed="rId10"/>
                <a:stretch>
                  <a:fillRect t="-2128" r="-952"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9E6593-ACE4-28F5-833B-DEF8E88CFAF3}"/>
                  </a:ext>
                </a:extLst>
              </p:cNvPr>
              <p:cNvSpPr txBox="1"/>
              <p:nvPr/>
            </p:nvSpPr>
            <p:spPr>
              <a:xfrm>
                <a:off x="8351234" y="3152001"/>
                <a:ext cx="1812932" cy="27699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96B24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96B24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96B24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96B24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96B24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96B24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96B24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2313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96B24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9E6593-ACE4-28F5-833B-DEF8E88CF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1234" y="3152001"/>
                <a:ext cx="1812932" cy="276999"/>
              </a:xfrm>
              <a:prstGeom prst="rect">
                <a:avLst/>
              </a:prstGeom>
              <a:blipFill>
                <a:blip r:embed="rId11"/>
                <a:stretch>
                  <a:fillRect l="-3030" r="-3030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57E783C-3792-6D2B-000E-5C2D9D96CC50}"/>
                  </a:ext>
                </a:extLst>
              </p:cNvPr>
              <p:cNvSpPr txBox="1"/>
              <p:nvPr/>
            </p:nvSpPr>
            <p:spPr>
              <a:xfrm>
                <a:off x="572492" y="4225514"/>
                <a:ext cx="2871812" cy="6227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</m:t>
                          </m:r>
                        </m:sup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97132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f>
                            <m:f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0.2</m:t>
                              </m:r>
                              <m:sSup>
                                <m:sSupPr>
                                  <m:ctrlP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sup>
                              </m:sSup>
                            </m:num>
                            <m:den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57E783C-3792-6D2B-000E-5C2D9D96C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92" y="4225514"/>
                <a:ext cx="2871812" cy="6227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C0E320A-73CA-C6A0-6869-A713D205AC97}"/>
                  </a:ext>
                </a:extLst>
              </p:cNvPr>
              <p:cNvSpPr txBox="1"/>
              <p:nvPr/>
            </p:nvSpPr>
            <p:spPr>
              <a:xfrm>
                <a:off x="572492" y="3214884"/>
                <a:ext cx="2685159" cy="6227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02B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02B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02B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</m:t>
                          </m:r>
                        </m:sup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97132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E97132">
                                      <a:lumMod val="75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E97132">
                                      <a:lumMod val="75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C0E320A-73CA-C6A0-6869-A713D205A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92" y="3214884"/>
                <a:ext cx="2685159" cy="6227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C3DC64F-91A3-A199-CAB1-6C023C49D908}"/>
                  </a:ext>
                </a:extLst>
              </p:cNvPr>
              <p:cNvSpPr txBox="1"/>
              <p:nvPr/>
            </p:nvSpPr>
            <p:spPr>
              <a:xfrm>
                <a:off x="572492" y="5230357"/>
                <a:ext cx="3156312" cy="6227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0.2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1−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</m:t>
                          </m:r>
                        </m:sup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C3DC64F-91A3-A199-CAB1-6C023C49D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92" y="5230357"/>
                <a:ext cx="3156312" cy="6227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FC5DB8D0-CD28-52D7-2783-3863BCBA04E5}"/>
              </a:ext>
            </a:extLst>
          </p:cNvPr>
          <p:cNvSpPr txBox="1"/>
          <p:nvPr/>
        </p:nvSpPr>
        <p:spPr>
          <a:xfrm>
            <a:off x="6351715" y="3118540"/>
            <a:ext cx="413575" cy="2769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PDF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3EE684C-9FA7-8430-4944-26BF6AACF5FB}"/>
                  </a:ext>
                </a:extLst>
              </p:cNvPr>
              <p:cNvSpPr txBox="1"/>
              <p:nvPr/>
            </p:nvSpPr>
            <p:spPr>
              <a:xfrm>
                <a:off x="205630" y="2914076"/>
                <a:ext cx="7655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3EE684C-9FA7-8430-4944-26BF6AACF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630" y="2914076"/>
                <a:ext cx="765594" cy="276999"/>
              </a:xfrm>
              <a:prstGeom prst="rect">
                <a:avLst/>
              </a:prstGeom>
              <a:blipFill>
                <a:blip r:embed="rId15"/>
                <a:stretch>
                  <a:fillRect l="-4800" r="-3200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8992D8B-718D-EFF8-3906-D9F8227ADA31}"/>
                  </a:ext>
                </a:extLst>
              </p:cNvPr>
              <p:cNvSpPr txBox="1"/>
              <p:nvPr/>
            </p:nvSpPr>
            <p:spPr>
              <a:xfrm>
                <a:off x="8343943" y="2653175"/>
                <a:ext cx="7655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8992D8B-718D-EFF8-3906-D9F8227AD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3943" y="2653175"/>
                <a:ext cx="765594" cy="276999"/>
              </a:xfrm>
              <a:prstGeom prst="rect">
                <a:avLst/>
              </a:prstGeom>
              <a:blipFill>
                <a:blip r:embed="rId16"/>
                <a:stretch>
                  <a:fillRect l="-4800" r="-3200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910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 animBg="1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5EDA44-84D9-C799-2643-0CCD8BE6E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DE34EE8-CAD1-BCFD-F3DF-3F2E89501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900AF8F6-9E78-89BF-8AB7-A0B77A020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C09B93-29A5-C055-5B42-B90DB4606CBC}"/>
                  </a:ext>
                </a:extLst>
              </p:cNvPr>
              <p:cNvSpPr txBox="1"/>
              <p:nvPr/>
            </p:nvSpPr>
            <p:spPr>
              <a:xfrm>
                <a:off x="572492" y="2071316"/>
                <a:ext cx="11018520" cy="2224459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𝑢</m:t>
                    </m:r>
                    <m:d>
                      <m:d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 the player’s payoff function over outcomes in the interval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bar>
                          <m:bar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bar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bar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, </m:t>
                        </m:r>
                        <m:bar>
                          <m:barPr>
                            <m:pos m:val="top"/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bar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bar>
                      </m:e>
                    </m:d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with a lottery given by the cumulative distribution function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𝐹</m:t>
                    </m:r>
                    <m:d>
                      <m:d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with density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 Then we define the player’s </a:t>
                </a: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expected payoff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𝑢</m:t>
                          </m:r>
                          <m:d>
                            <m:d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nary>
                        <m:nary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bar>
                            <m:bar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bar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</m:bar>
                        </m:sub>
                        <m:sup>
                          <m:bar>
                            <m:barPr>
                              <m:pos m:val="top"/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bar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</m:bar>
                        </m:sup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𝑢</m:t>
                          </m:r>
                          <m:d>
                            <m:d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</m:d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</m:d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C09B93-29A5-C055-5B42-B90DB4606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92" y="2071316"/>
                <a:ext cx="11018520" cy="2224459"/>
              </a:xfrm>
              <a:prstGeom prst="rect">
                <a:avLst/>
              </a:prstGeom>
              <a:blipFill>
                <a:blip r:embed="rId2"/>
                <a:stretch>
                  <a:fillRect l="-885" t="-2466" r="-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0" name="Picture 2" descr="DEFINITION Text Written on Red Grungy Round Stamp Stock Illustration ...">
            <a:extLst>
              <a:ext uri="{FF2B5EF4-FFF2-40B4-BE49-F238E27FC236}">
                <a16:creationId xmlns:a16="http://schemas.microsoft.com/office/drawing/2014/main" id="{2C885CD3-1095-C4F6-7D03-AC30FA93C7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79" b="5077"/>
          <a:stretch/>
        </p:blipFill>
        <p:spPr bwMode="auto">
          <a:xfrm>
            <a:off x="10728696" y="144196"/>
            <a:ext cx="1286911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F9997F-6AA3-8190-184B-52F07B650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dirty="0"/>
              <a:t>Expected </a:t>
            </a:r>
            <a:r>
              <a:rPr lang="en-US" sz="5400" dirty="0">
                <a:solidFill>
                  <a:srgbClr val="0070C0"/>
                </a:solidFill>
              </a:rPr>
              <a:t>Payoff</a:t>
            </a:r>
            <a:r>
              <a:rPr lang="en-US" sz="5400" dirty="0"/>
              <a:t> for Continuous </a:t>
            </a:r>
            <a:r>
              <a:rPr lang="en-US" sz="5400" dirty="0">
                <a:solidFill>
                  <a:srgbClr val="00B050"/>
                </a:solidFill>
              </a:rPr>
              <a:t>Outcomes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03CC394-111E-299A-A331-3524C66651C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2492" y="4295775"/>
              <a:ext cx="5152034" cy="2207451"/>
            </p:xfrm>
            <a:graphic>
              <a:graphicData uri="http://schemas.openxmlformats.org/drawingml/2006/table">
                <a:tbl>
                  <a:tblPr firstRow="1" bandCol="1">
                    <a:tableStyleId>{D27102A9-8310-4765-A935-A1911B00CA55}</a:tableStyleId>
                  </a:tblPr>
                  <a:tblGrid>
                    <a:gridCol w="1371724">
                      <a:extLst>
                        <a:ext uri="{9D8B030D-6E8A-4147-A177-3AD203B41FA5}">
                          <a16:colId xmlns:a16="http://schemas.microsoft.com/office/drawing/2014/main" val="109060319"/>
                        </a:ext>
                      </a:extLst>
                    </a:gridCol>
                    <a:gridCol w="3780310">
                      <a:extLst>
                        <a:ext uri="{9D8B030D-6E8A-4147-A177-3AD203B41FA5}">
                          <a16:colId xmlns:a16="http://schemas.microsoft.com/office/drawing/2014/main" val="965449992"/>
                        </a:ext>
                      </a:extLst>
                    </a:gridCol>
                  </a:tblGrid>
                  <a:tr h="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Notation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771875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Interval of outcomes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882914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Lower limit of interval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2673718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Upper limit of interval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204429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Payoff from outcome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127789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Slope of the CDF curve at outcome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71456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03CC394-111E-299A-A331-3524C66651C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2492" y="4295775"/>
              <a:ext cx="5152034" cy="2207451"/>
            </p:xfrm>
            <a:graphic>
              <a:graphicData uri="http://schemas.openxmlformats.org/drawingml/2006/table">
                <a:tbl>
                  <a:tblPr firstRow="1" bandCol="1">
                    <a:tableStyleId>{D27102A9-8310-4765-A935-A1911B00CA55}</a:tableStyleId>
                  </a:tblPr>
                  <a:tblGrid>
                    <a:gridCol w="1371724">
                      <a:extLst>
                        <a:ext uri="{9D8B030D-6E8A-4147-A177-3AD203B41FA5}">
                          <a16:colId xmlns:a16="http://schemas.microsoft.com/office/drawing/2014/main" val="109060319"/>
                        </a:ext>
                      </a:extLst>
                    </a:gridCol>
                    <a:gridCol w="3780310">
                      <a:extLst>
                        <a:ext uri="{9D8B030D-6E8A-4147-A177-3AD203B41FA5}">
                          <a16:colId xmlns:a16="http://schemas.microsoft.com/office/drawing/2014/main" val="965449992"/>
                        </a:ext>
                      </a:extLst>
                    </a:gridCol>
                  </a:tblGrid>
                  <a:tr h="36576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Notation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77187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106667" r="-275221" b="-4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Interval of outcomes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8829149"/>
                      </a:ext>
                    </a:extLst>
                  </a:tr>
                  <a:tr h="3786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196825" r="-275221" b="-312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393" t="-196825" r="-161" b="-3126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673718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311667" r="-275221" b="-2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393" t="-311667" r="-161" b="-2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20442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411667" r="-275221" b="-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393" t="-411667" r="-161" b="-1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127789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511667" r="-275221" b="-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393" t="-511667" r="-161" b="-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71456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50895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B380B2-33C8-B249-B1EC-FFE4FACBA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967EB58-1D9B-DF75-3B7A-7B9DBE0AA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053E6172-CE69-AC30-FE71-A9EC7F986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01B437-4087-DD1F-A797-3006E11D44DC}"/>
                  </a:ext>
                </a:extLst>
              </p:cNvPr>
              <p:cNvSpPr txBox="1"/>
              <p:nvPr/>
            </p:nvSpPr>
            <p:spPr>
              <a:xfrm>
                <a:off x="526773" y="1868599"/>
                <a:ext cx="11018520" cy="2583621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Obtain the probability density function (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PDF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d>
                      <m:d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) and the cumulative distribution function (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CDF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𝐹</m:t>
                    </m:r>
                    <m:d>
                      <m:dPr>
                        <m:ctrlP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) for the following commonly used continuous probability distributions: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Continuous uniform distribution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Triangular distribution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Normal distribution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For each distribution, use the property that the integral of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over its range must equal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.  Clearly define the range of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for each distribution.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01B437-4087-DD1F-A797-3006E11D4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773" y="1868599"/>
                <a:ext cx="11018520" cy="2583621"/>
              </a:xfrm>
              <a:prstGeom prst="rect">
                <a:avLst/>
              </a:prstGeom>
              <a:blipFill>
                <a:blip r:embed="rId2"/>
                <a:stretch>
                  <a:fillRect l="-498" t="-1182" r="-498" b="-33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DA72C38-FD55-B73D-0DD6-B5D15630C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latin typeface="Segoe Script" panose="030B0504020000000003" pitchFamily="66" charset="0"/>
              </a:rPr>
              <a:t>Continuous Probability Distributions</a:t>
            </a:r>
            <a:endParaRPr lang="en-US" sz="4000" dirty="0">
              <a:solidFill>
                <a:srgbClr val="7030A0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11157E4-BF8C-C9D8-9D61-4B54A7718EC6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6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A6EAD752-EE27-4ABF-CABC-BF8F6CE175B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AECFC79-A30F-B34B-5FF9-EEDB1D19C339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MATH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154466B-ECF9-C6FD-22D7-6427140A43D0}"/>
              </a:ext>
            </a:extLst>
          </p:cNvPr>
          <p:cNvSpPr txBox="1"/>
          <p:nvPr/>
        </p:nvSpPr>
        <p:spPr>
          <a:xfrm>
            <a:off x="526773" y="4614800"/>
            <a:ext cx="10103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Continuous uniform distribution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Assigns equal probability to all values within a specified range and zero probability outside that range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CE50B0-B725-6BCB-0221-A4C11683FC6F}"/>
              </a:ext>
            </a:extLst>
          </p:cNvPr>
          <p:cNvSpPr txBox="1"/>
          <p:nvPr/>
        </p:nvSpPr>
        <p:spPr>
          <a:xfrm>
            <a:off x="526773" y="5261131"/>
            <a:ext cx="10541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Triangular distribution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Assigns higher probability to values near a peak, tapering off to zero at the boundaries of a specified range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69F965-6C9B-3A05-FE50-795BC63A26DD}"/>
              </a:ext>
            </a:extLst>
          </p:cNvPr>
          <p:cNvSpPr txBox="1"/>
          <p:nvPr/>
        </p:nvSpPr>
        <p:spPr>
          <a:xfrm>
            <a:off x="526773" y="5907462"/>
            <a:ext cx="10103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Normal distribution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Concentrates probabilities around a central mean, forming a symmetric bell-shaped curve that extends infinitely in both directions</a:t>
            </a:r>
          </a:p>
        </p:txBody>
      </p:sp>
    </p:spTree>
    <p:extLst>
      <p:ext uri="{BB962C8B-B14F-4D97-AF65-F5344CB8AC3E}">
        <p14:creationId xmlns:p14="http://schemas.microsoft.com/office/powerpoint/2010/main" val="2411340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29277D-838A-CDD4-91D1-ADC2D640F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0BD7138-BEE4-0DA0-BD4E-01A1DAE8B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60E6B58B-39E0-92D7-69DD-E637C6AB4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D57B2F-DA8E-1C0A-D9E4-A2BDA4C7A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dirty="0"/>
              <a:t>Continuous </a:t>
            </a:r>
            <a:r>
              <a:rPr lang="en-US" sz="5000" dirty="0">
                <a:solidFill>
                  <a:srgbClr val="0070C0"/>
                </a:solidFill>
                <a:latin typeface="Segoe Script" panose="030B0504020000000003" pitchFamily="66" charset="0"/>
              </a:rPr>
              <a:t>Uniform</a:t>
            </a:r>
            <a:r>
              <a:rPr lang="en-US" sz="5000" dirty="0"/>
              <a:t> Distribution</a:t>
            </a:r>
            <a:endParaRPr lang="en-US" sz="5000" dirty="0">
              <a:solidFill>
                <a:srgbClr val="7030A0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9499DCF-CB89-407E-B5FF-135F172433A5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6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810E2621-1749-0F1E-024C-210629CD7B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00C3158-EBC8-4E75-D5A7-E0271B4E4AAC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MATH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315D3D23-47FE-27A6-431E-14654D15655A}"/>
              </a:ext>
            </a:extLst>
          </p:cNvPr>
          <p:cNvSpPr txBox="1"/>
          <p:nvPr/>
        </p:nvSpPr>
        <p:spPr>
          <a:xfrm>
            <a:off x="572493" y="1992099"/>
            <a:ext cx="10053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Assigns equal probability to all values within a specified range and zero probability outside that range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F35D964-9A8A-D364-02A6-49999BED8082}"/>
                  </a:ext>
                </a:extLst>
              </p:cNvPr>
              <p:cNvSpPr txBox="1"/>
              <p:nvPr/>
            </p:nvSpPr>
            <p:spPr>
              <a:xfrm>
                <a:off x="572493" y="3862644"/>
                <a:ext cx="9163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F35D964-9A8A-D364-02A6-49999BED8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93" y="3862644"/>
                <a:ext cx="916341" cy="276999"/>
              </a:xfrm>
              <a:prstGeom prst="rect">
                <a:avLst/>
              </a:prstGeom>
              <a:blipFill>
                <a:blip r:embed="rId3"/>
                <a:stretch>
                  <a:fillRect l="-9333" t="-4444" r="-2667" b="-3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23C2008-A825-49A1-5EF4-16FDFE27FDD7}"/>
                  </a:ext>
                </a:extLst>
              </p:cNvPr>
              <p:cNvSpPr txBox="1"/>
              <p:nvPr/>
            </p:nvSpPr>
            <p:spPr>
              <a:xfrm>
                <a:off x="2011826" y="3823611"/>
                <a:ext cx="3938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…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</m:oMath>
                </a14:m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is a constant yet to be determined.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23C2008-A825-49A1-5EF4-16FDFE27F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826" y="3823611"/>
                <a:ext cx="3938963" cy="369332"/>
              </a:xfrm>
              <a:prstGeom prst="rect">
                <a:avLst/>
              </a:prstGeom>
              <a:blipFill>
                <a:blip r:embed="rId4"/>
                <a:stretch>
                  <a:fillRect l="-1238" t="-6557" r="-1238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6F73DA5-3840-7257-A529-10E995C0FF51}"/>
                  </a:ext>
                </a:extLst>
              </p:cNvPr>
              <p:cNvSpPr txBox="1"/>
              <p:nvPr/>
            </p:nvSpPr>
            <p:spPr>
              <a:xfrm>
                <a:off x="572493" y="4334034"/>
                <a:ext cx="1525097" cy="6283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sub>
                        <m:sup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sup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𝑑𝑥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6F73DA5-3840-7257-A529-10E995C0FF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93" y="4334034"/>
                <a:ext cx="1525097" cy="6283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4D12C44-E0BF-20FC-5AD0-A6EF4EE1C74C}"/>
                  </a:ext>
                </a:extLst>
              </p:cNvPr>
              <p:cNvSpPr txBox="1"/>
              <p:nvPr/>
            </p:nvSpPr>
            <p:spPr>
              <a:xfrm>
                <a:off x="2251508" y="4590038"/>
                <a:ext cx="34574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…total probability must sum to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4D12C44-E0BF-20FC-5AD0-A6EF4EE1C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508" y="4590038"/>
                <a:ext cx="3457405" cy="369332"/>
              </a:xfrm>
              <a:prstGeom prst="rect">
                <a:avLst/>
              </a:prstGeom>
              <a:blipFill>
                <a:blip r:embed="rId6"/>
                <a:stretch>
                  <a:fillRect l="-1408" t="-8197" r="-704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16C1C60-C772-9D5B-6A48-10EDE2CB4C38}"/>
                  </a:ext>
                </a:extLst>
              </p:cNvPr>
              <p:cNvSpPr txBox="1"/>
              <p:nvPr/>
            </p:nvSpPr>
            <p:spPr>
              <a:xfrm>
                <a:off x="572493" y="5258023"/>
                <a:ext cx="1182823" cy="6283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sub>
                        <m:sup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sup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e>
                      </m:nary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𝑑𝑥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16C1C60-C772-9D5B-6A48-10EDE2CB4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93" y="5258023"/>
                <a:ext cx="1182823" cy="6283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AFA5E58-8C6F-EFEE-3DB7-D8F4DC7A226A}"/>
                  </a:ext>
                </a:extLst>
              </p:cNvPr>
              <p:cNvSpPr txBox="1"/>
              <p:nvPr/>
            </p:nvSpPr>
            <p:spPr>
              <a:xfrm>
                <a:off x="2327808" y="5258023"/>
                <a:ext cx="1182824" cy="6283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</m:t>
                      </m:r>
                      <m:nary>
                        <m:nary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sub>
                        <m:sup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sup>
                        <m:e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𝑑𝑥</m:t>
                          </m:r>
                        </m:e>
                      </m:nary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AFA5E58-8C6F-EFEE-3DB7-D8F4DC7A2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7808" y="5258023"/>
                <a:ext cx="1182824" cy="62831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Arrow: Right 55">
            <a:extLst>
              <a:ext uri="{FF2B5EF4-FFF2-40B4-BE49-F238E27FC236}">
                <a16:creationId xmlns:a16="http://schemas.microsoft.com/office/drawing/2014/main" id="{E74E8852-46FF-72BF-012B-37CEF32F7427}"/>
              </a:ext>
            </a:extLst>
          </p:cNvPr>
          <p:cNvSpPr/>
          <p:nvPr/>
        </p:nvSpPr>
        <p:spPr>
          <a:xfrm>
            <a:off x="1898935" y="5531605"/>
            <a:ext cx="285253" cy="1312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8C2EFA9-E5FB-1A53-7AFA-CEA61CB2084D}"/>
                  </a:ext>
                </a:extLst>
              </p:cNvPr>
              <p:cNvSpPr txBox="1"/>
              <p:nvPr/>
            </p:nvSpPr>
            <p:spPr>
              <a:xfrm>
                <a:off x="4083124" y="5258023"/>
                <a:ext cx="1000659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8C2EFA9-E5FB-1A53-7AFA-CEA61CB20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124" y="5258023"/>
                <a:ext cx="1000659" cy="5203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Arrow: Right 57">
            <a:extLst>
              <a:ext uri="{FF2B5EF4-FFF2-40B4-BE49-F238E27FC236}">
                <a16:creationId xmlns:a16="http://schemas.microsoft.com/office/drawing/2014/main" id="{5428CF56-7AED-1E79-9A18-3D41258F1D11}"/>
              </a:ext>
            </a:extLst>
          </p:cNvPr>
          <p:cNvSpPr/>
          <p:nvPr/>
        </p:nvSpPr>
        <p:spPr>
          <a:xfrm>
            <a:off x="3654251" y="5531605"/>
            <a:ext cx="285253" cy="1312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6415121-9787-AD0F-2424-9FC9BEC4CDE2}"/>
                  </a:ext>
                </a:extLst>
              </p:cNvPr>
              <p:cNvSpPr txBox="1"/>
              <p:nvPr/>
            </p:nvSpPr>
            <p:spPr>
              <a:xfrm>
                <a:off x="4196244" y="6081697"/>
                <a:ext cx="1342932" cy="520399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6415121-9787-AD0F-2424-9FC9BEC4C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244" y="6081697"/>
                <a:ext cx="1342932" cy="5203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Arrow: Right 59">
            <a:extLst>
              <a:ext uri="{FF2B5EF4-FFF2-40B4-BE49-F238E27FC236}">
                <a16:creationId xmlns:a16="http://schemas.microsoft.com/office/drawing/2014/main" id="{C3F3771A-EB77-39F3-7F9A-44776C606103}"/>
              </a:ext>
            </a:extLst>
          </p:cNvPr>
          <p:cNvSpPr/>
          <p:nvPr/>
        </p:nvSpPr>
        <p:spPr>
          <a:xfrm>
            <a:off x="3654251" y="6323311"/>
            <a:ext cx="285253" cy="944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C14328-E9E1-9E6A-6C2E-F2423BA1E45C}"/>
              </a:ext>
            </a:extLst>
          </p:cNvPr>
          <p:cNvSpPr txBox="1"/>
          <p:nvPr/>
        </p:nvSpPr>
        <p:spPr>
          <a:xfrm>
            <a:off x="539699" y="3313188"/>
            <a:ext cx="3177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Probability Density Function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13422A8-AF93-DE4A-7F16-C7E12D5E0B98}"/>
              </a:ext>
            </a:extLst>
          </p:cNvPr>
          <p:cNvSpPr txBox="1"/>
          <p:nvPr/>
        </p:nvSpPr>
        <p:spPr>
          <a:xfrm>
            <a:off x="7363831" y="3317082"/>
            <a:ext cx="3775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Cumulative Distribution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39D5D19-71BE-C46F-43B1-DA1FD2BDFBBE}"/>
                  </a:ext>
                </a:extLst>
              </p:cNvPr>
              <p:cNvSpPr txBox="1"/>
              <p:nvPr/>
            </p:nvSpPr>
            <p:spPr>
              <a:xfrm>
                <a:off x="7363832" y="3869777"/>
                <a:ext cx="18866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unc>
                        <m:func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IN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≤</m:t>
                              </m:r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39D5D19-71BE-C46F-43B1-DA1FD2BDF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3832" y="3869777"/>
                <a:ext cx="1886670" cy="276999"/>
              </a:xfrm>
              <a:prstGeom prst="rect">
                <a:avLst/>
              </a:prstGeom>
              <a:blipFill>
                <a:blip r:embed="rId11"/>
                <a:stretch>
                  <a:fillRect l="-2913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2F2A6DE-40B8-8D90-C157-2D12531412D5}"/>
                  </a:ext>
                </a:extLst>
              </p:cNvPr>
              <p:cNvSpPr txBox="1"/>
              <p:nvPr/>
            </p:nvSpPr>
            <p:spPr>
              <a:xfrm>
                <a:off x="9320586" y="3701157"/>
                <a:ext cx="1225848" cy="599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sub>
                        <m:sup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sup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e>
                          </m:d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2F2A6DE-40B8-8D90-C157-2D1253141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0586" y="3701157"/>
                <a:ext cx="1225848" cy="59997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E57BC33-0EDC-416F-479C-F9EE97AE93E5}"/>
                  </a:ext>
                </a:extLst>
              </p:cNvPr>
              <p:cNvSpPr txBox="1"/>
              <p:nvPr/>
            </p:nvSpPr>
            <p:spPr>
              <a:xfrm>
                <a:off x="7363832" y="4707967"/>
                <a:ext cx="1956754" cy="599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trlP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sub>
                        <m:sup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sup>
                        <m:e>
                          <m:f>
                            <m:f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den>
                          </m:f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E57BC33-0EDC-416F-479C-F9EE97AE9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3832" y="4707967"/>
                <a:ext cx="1956754" cy="59997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29721B8-40D1-0278-4465-E031134478F6}"/>
                  </a:ext>
                </a:extLst>
              </p:cNvPr>
              <p:cNvSpPr txBox="1"/>
              <p:nvPr/>
            </p:nvSpPr>
            <p:spPr>
              <a:xfrm>
                <a:off x="9779635" y="4736185"/>
                <a:ext cx="1359988" cy="474361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num>
                        <m:den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29721B8-40D1-0278-4465-E03113447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9635" y="4736185"/>
                <a:ext cx="1359988" cy="47436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Arrow: Right 67">
            <a:extLst>
              <a:ext uri="{FF2B5EF4-FFF2-40B4-BE49-F238E27FC236}">
                <a16:creationId xmlns:a16="http://schemas.microsoft.com/office/drawing/2014/main" id="{90DB68A6-DA44-3F62-F532-17A88582F16F}"/>
              </a:ext>
            </a:extLst>
          </p:cNvPr>
          <p:cNvSpPr/>
          <p:nvPr/>
        </p:nvSpPr>
        <p:spPr>
          <a:xfrm>
            <a:off x="9399819" y="4943134"/>
            <a:ext cx="285253" cy="944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C15D638-EA81-9858-10C7-84A698922C95}"/>
                  </a:ext>
                </a:extLst>
              </p:cNvPr>
              <p:cNvSpPr txBox="1"/>
              <p:nvPr/>
            </p:nvSpPr>
            <p:spPr>
              <a:xfrm>
                <a:off x="572493" y="2687466"/>
                <a:ext cx="10596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C15D638-EA81-9858-10C7-84A698922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93" y="2687466"/>
                <a:ext cx="1059649" cy="276999"/>
              </a:xfrm>
              <a:prstGeom prst="rect">
                <a:avLst/>
              </a:prstGeom>
              <a:blipFill>
                <a:blip r:embed="rId15"/>
                <a:stretch>
                  <a:fillRect l="-2874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514717B-F78D-C82F-CCCA-6790858F4777}"/>
                  </a:ext>
                </a:extLst>
              </p:cNvPr>
              <p:cNvSpPr txBox="1"/>
              <p:nvPr/>
            </p:nvSpPr>
            <p:spPr>
              <a:xfrm>
                <a:off x="2011827" y="2621783"/>
                <a:ext cx="47022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…all values between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</m:oMath>
                </a14:m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and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</m:oMath>
                </a14:m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are equally likely.</a:t>
                </a: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514717B-F78D-C82F-CCCA-6790858F4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827" y="2621783"/>
                <a:ext cx="4702240" cy="369332"/>
              </a:xfrm>
              <a:prstGeom prst="rect">
                <a:avLst/>
              </a:prstGeom>
              <a:blipFill>
                <a:blip r:embed="rId16"/>
                <a:stretch>
                  <a:fillRect l="-1038" t="-6557" r="-1167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0859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8" grpId="0"/>
      <p:bldP spid="51" grpId="0"/>
      <p:bldP spid="52" grpId="0"/>
      <p:bldP spid="53" grpId="0"/>
      <p:bldP spid="54" grpId="0"/>
      <p:bldP spid="55" grpId="0"/>
      <p:bldP spid="56" grpId="0" animBg="1"/>
      <p:bldP spid="57" grpId="0"/>
      <p:bldP spid="58" grpId="0" animBg="1"/>
      <p:bldP spid="59" grpId="0" animBg="1"/>
      <p:bldP spid="60" grpId="0" animBg="1"/>
      <p:bldP spid="61" grpId="0"/>
      <p:bldP spid="62" grpId="0"/>
      <p:bldP spid="63" grpId="0"/>
      <p:bldP spid="64" grpId="0"/>
      <p:bldP spid="65" grpId="0"/>
      <p:bldP spid="67" grpId="0" animBg="1"/>
      <p:bldP spid="68" grpId="0" animBg="1"/>
      <p:bldP spid="70" grpId="0"/>
      <p:bldP spid="7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7FE130-4713-8F67-B9BC-D3ADE42AF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A3CD1C9-2D42-C061-7CDF-A47D291A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C483986B-4951-742C-7B8E-8F5331DFF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B64949-9EBE-7E3F-BA62-2F30480E1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dirty="0"/>
              <a:t>Continuous </a:t>
            </a:r>
            <a:r>
              <a:rPr lang="en-US" sz="5000" dirty="0">
                <a:solidFill>
                  <a:srgbClr val="0070C0"/>
                </a:solidFill>
                <a:latin typeface="Segoe Script" panose="030B0504020000000003" pitchFamily="66" charset="0"/>
              </a:rPr>
              <a:t>Uniform</a:t>
            </a:r>
            <a:r>
              <a:rPr lang="en-US" sz="5000" dirty="0"/>
              <a:t> Distribution</a:t>
            </a:r>
            <a:endParaRPr lang="en-US" sz="5000" dirty="0">
              <a:solidFill>
                <a:srgbClr val="7030A0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E4EF7DE-E070-279C-4BF0-D5E7E0A89271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6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168604C4-BB6A-82BA-BAF5-DEAE4845464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473087E-4D8E-6747-1DAC-473CCAFC2649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MATH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D8B210ED-D05B-4F36-4B88-24BC4AE077C4}"/>
              </a:ext>
            </a:extLst>
          </p:cNvPr>
          <p:cNvSpPr txBox="1"/>
          <p:nvPr/>
        </p:nvSpPr>
        <p:spPr>
          <a:xfrm>
            <a:off x="572493" y="1992099"/>
            <a:ext cx="10053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Assigns equal probability to all values within a specified range and zero probability outside that range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32D8605-93FE-1276-DAC1-D353CA321540}"/>
                  </a:ext>
                </a:extLst>
              </p:cNvPr>
              <p:cNvSpPr txBox="1"/>
              <p:nvPr/>
            </p:nvSpPr>
            <p:spPr>
              <a:xfrm>
                <a:off x="572493" y="2687466"/>
                <a:ext cx="10596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32D8605-93FE-1276-DAC1-D353CA321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93" y="2687466"/>
                <a:ext cx="1059649" cy="276999"/>
              </a:xfrm>
              <a:prstGeom prst="rect">
                <a:avLst/>
              </a:prstGeom>
              <a:blipFill>
                <a:blip r:embed="rId3"/>
                <a:stretch>
                  <a:fillRect l="-2874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77762FE-97B5-133F-AAA5-2CCA3B157177}"/>
                  </a:ext>
                </a:extLst>
              </p:cNvPr>
              <p:cNvSpPr txBox="1"/>
              <p:nvPr/>
            </p:nvSpPr>
            <p:spPr>
              <a:xfrm>
                <a:off x="2011827" y="2621783"/>
                <a:ext cx="47022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…all values between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</m:oMath>
                </a14:m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and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</m:oMath>
                </a14:m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are equally likely.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77762FE-97B5-133F-AAA5-2CCA3B157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827" y="2621783"/>
                <a:ext cx="4702240" cy="369332"/>
              </a:xfrm>
              <a:prstGeom prst="rect">
                <a:avLst/>
              </a:prstGeom>
              <a:blipFill>
                <a:blip r:embed="rId4"/>
                <a:stretch>
                  <a:fillRect l="-1038" t="-6557" r="-1167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C3F1920-4BCA-9618-D3C0-E964AA306F41}"/>
                  </a:ext>
                </a:extLst>
              </p:cNvPr>
              <p:cNvSpPr txBox="1"/>
              <p:nvPr/>
            </p:nvSpPr>
            <p:spPr>
              <a:xfrm>
                <a:off x="597162" y="3971344"/>
                <a:ext cx="3084754" cy="1248547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  <m:e/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e>
                          </m:eqAr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    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n-IN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kumimoji="0" lang="en-IN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𝑓</m:t>
                                </m:r>
                                <m:r>
                                  <a:rPr kumimoji="0" lang="en-IN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IN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kumimoji="0" lang="en-IN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∈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IN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IN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𝑎</m:t>
                                    </m:r>
                                    <m:r>
                                      <a:rPr kumimoji="0" lang="en-IN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, </m:t>
                                    </m:r>
                                    <m:r>
                                      <a:rPr kumimoji="0" lang="en-IN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𝑏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0" lang="en-IN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eqArrPr>
                                  <m:e/>
                                  <m:e/>
                                </m:eqArr>
                              </m:e>
                            </m:mr>
                            <m:mr>
                              <m:e>
                                <m:r>
                                  <a:rPr kumimoji="0" lang="en-IN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𝑜𝑡h𝑒𝑟𝑤𝑖𝑠𝑒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C3F1920-4BCA-9618-D3C0-E964AA306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62" y="3971344"/>
                <a:ext cx="3084754" cy="12485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3AF4718-3114-2AC3-AB9A-0B10851E6F1A}"/>
                  </a:ext>
                </a:extLst>
              </p:cNvPr>
              <p:cNvSpPr txBox="1"/>
              <p:nvPr/>
            </p:nvSpPr>
            <p:spPr>
              <a:xfrm>
                <a:off x="7363832" y="3971343"/>
                <a:ext cx="3101810" cy="1555490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eqArr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e>
                            <m:e/>
                            <m:e>
                              <m:f>
                                <m:fPr>
                                  <m:ctrlP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  <m:e/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e>
                          </m:eqAr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    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kumimoji="0" lang="en-IN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eqArr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n-IN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  <m:r>
                                      <a:rPr kumimoji="0" lang="en-IN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𝑓</m:t>
                                    </m:r>
                                    <m:r>
                                      <a:rPr kumimoji="0" lang="en-IN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en-IN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  <m:r>
                                      <a:rPr kumimoji="0" lang="en-IN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&lt;</m:t>
                                    </m:r>
                                    <m:r>
                                      <a:rPr kumimoji="0" lang="en-IN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𝑎</m:t>
                                    </m:r>
                                  </m:e>
                                  <m:e/>
                                </m:eqAr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0" lang="en-IN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0" lang="en-IN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𝑖𝑓</m:t>
                                    </m:r>
                                    <m:r>
                                      <a:rPr kumimoji="0" lang="en-IN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en-IN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  <m:r>
                                      <a:rPr kumimoji="0" lang="en-IN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∈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kumimoji="0" lang="en-IN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en-IN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𝑎</m:t>
                                        </m:r>
                                        <m:r>
                                          <a:rPr kumimoji="0" lang="en-IN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, </m:t>
                                        </m:r>
                                        <m:r>
                                          <a:rPr kumimoji="0" lang="en-IN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</m:e>
                                  <m:e/>
                                </m:eqArr>
                              </m:e>
                            </m:mr>
                            <m:mr>
                              <m:e>
                                <m:r>
                                  <a:rPr kumimoji="0" lang="en-IN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𝑖𝑓</m:t>
                                </m:r>
                                <m:r>
                                  <a:rPr kumimoji="0" lang="en-IN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IN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kumimoji="0" lang="en-IN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&gt;</m:t>
                                </m:r>
                                <m:r>
                                  <a:rPr kumimoji="0" lang="en-IN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3AF4718-3114-2AC3-AB9A-0B10851E6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3832" y="3971343"/>
                <a:ext cx="3101810" cy="15554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73CB383-04C0-87C3-E3D4-637957C8DECB}"/>
              </a:ext>
            </a:extLst>
          </p:cNvPr>
          <p:cNvSpPr txBox="1"/>
          <p:nvPr/>
        </p:nvSpPr>
        <p:spPr>
          <a:xfrm>
            <a:off x="539699" y="3313188"/>
            <a:ext cx="3177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Probability Density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D06EB4-8B25-063A-80E9-FEF61D1FB3DF}"/>
              </a:ext>
            </a:extLst>
          </p:cNvPr>
          <p:cNvSpPr txBox="1"/>
          <p:nvPr/>
        </p:nvSpPr>
        <p:spPr>
          <a:xfrm>
            <a:off x="7363831" y="3317082"/>
            <a:ext cx="3775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Cumulative Distribution Function</a:t>
            </a:r>
          </a:p>
        </p:txBody>
      </p:sp>
    </p:spTree>
    <p:extLst>
      <p:ext uri="{BB962C8B-B14F-4D97-AF65-F5344CB8AC3E}">
        <p14:creationId xmlns:p14="http://schemas.microsoft.com/office/powerpoint/2010/main" val="2237457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993FC6-DEEE-F3C4-24E9-E2377443B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D2487D7-1D70-6926-8C96-DF7698EDE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D19BDC41-D5E2-8386-BD77-F4DC18431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66BAE5-6195-A5F3-3BEC-5F345CD4D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dirty="0"/>
              <a:t>Continuous </a:t>
            </a:r>
            <a:r>
              <a:rPr lang="en-US" sz="5000" dirty="0">
                <a:solidFill>
                  <a:srgbClr val="0070C0"/>
                </a:solidFill>
                <a:latin typeface="Segoe Script" panose="030B0504020000000003" pitchFamily="66" charset="0"/>
              </a:rPr>
              <a:t>Uniform</a:t>
            </a:r>
            <a:r>
              <a:rPr lang="en-US" sz="5000" dirty="0"/>
              <a:t> Distribution</a:t>
            </a:r>
            <a:endParaRPr lang="en-US" sz="5000" dirty="0">
              <a:solidFill>
                <a:srgbClr val="7030A0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0019F17-C9E2-B741-0ED6-0A8B21DE6666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6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CCE38543-C4D5-80CC-5A76-CA71F2C372C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8AF8C3D-69D7-C875-69F5-B794928654BB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MATH</a:t>
              </a: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F248B7-942D-E7C3-0B49-D438BDAA7C50}"/>
              </a:ext>
            </a:extLst>
          </p:cNvPr>
          <p:cNvCxnSpPr/>
          <p:nvPr/>
        </p:nvCxnSpPr>
        <p:spPr>
          <a:xfrm>
            <a:off x="894899" y="5618006"/>
            <a:ext cx="4410636" cy="0"/>
          </a:xfrm>
          <a:prstGeom prst="line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000DE6-55AC-6381-584F-E4014A4CC4CB}"/>
                  </a:ext>
                </a:extLst>
              </p:cNvPr>
              <p:cNvSpPr txBox="1"/>
              <p:nvPr/>
            </p:nvSpPr>
            <p:spPr>
              <a:xfrm>
                <a:off x="5217081" y="5792770"/>
                <a:ext cx="1769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000DE6-55AC-6381-584F-E4014A4CC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7081" y="5792770"/>
                <a:ext cx="176908" cy="276999"/>
              </a:xfrm>
              <a:prstGeom prst="rect">
                <a:avLst/>
              </a:prstGeom>
              <a:blipFill>
                <a:blip r:embed="rId3"/>
                <a:stretch>
                  <a:fillRect l="-20690" r="-17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EF0D1A7-F178-5717-FC2C-F93D502AB34B}"/>
              </a:ext>
            </a:extLst>
          </p:cNvPr>
          <p:cNvCxnSpPr>
            <a:cxnSpLocks/>
          </p:cNvCxnSpPr>
          <p:nvPr/>
        </p:nvCxnSpPr>
        <p:spPr>
          <a:xfrm flipV="1">
            <a:off x="1047299" y="2187019"/>
            <a:ext cx="0" cy="3583387"/>
          </a:xfrm>
          <a:prstGeom prst="line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EC21AEF-C54A-4E4F-8B9B-9D8DAB0E37E3}"/>
                  </a:ext>
                </a:extLst>
              </p:cNvPr>
              <p:cNvSpPr txBox="1"/>
              <p:nvPr/>
            </p:nvSpPr>
            <p:spPr>
              <a:xfrm>
                <a:off x="470067" y="2154451"/>
                <a:ext cx="5018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EC21AEF-C54A-4E4F-8B9B-9D8DAB0E3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067" y="2154451"/>
                <a:ext cx="501869" cy="276999"/>
              </a:xfrm>
              <a:prstGeom prst="rect">
                <a:avLst/>
              </a:prstGeom>
              <a:blipFill>
                <a:blip r:embed="rId4"/>
                <a:stretch>
                  <a:fillRect l="-17073" t="-2174" b="-326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B3F9C79-EAFB-40E9-A14C-1EAFA8F83F5F}"/>
                  </a:ext>
                </a:extLst>
              </p:cNvPr>
              <p:cNvSpPr txBox="1"/>
              <p:nvPr/>
            </p:nvSpPr>
            <p:spPr>
              <a:xfrm>
                <a:off x="1463548" y="5792769"/>
                <a:ext cx="6121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B3F9C79-EAFB-40E9-A14C-1EAFA8F83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548" y="5792769"/>
                <a:ext cx="612155" cy="276999"/>
              </a:xfrm>
              <a:prstGeom prst="rect">
                <a:avLst/>
              </a:prstGeom>
              <a:blipFill>
                <a:blip r:embed="rId5"/>
                <a:stretch>
                  <a:fillRect l="-5941" r="-39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ADE7C2F-CAA3-EA19-72FD-DE507EBDE3B7}"/>
                  </a:ext>
                </a:extLst>
              </p:cNvPr>
              <p:cNvSpPr txBox="1"/>
              <p:nvPr/>
            </p:nvSpPr>
            <p:spPr>
              <a:xfrm>
                <a:off x="4255453" y="5792769"/>
                <a:ext cx="6121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ADE7C2F-CAA3-EA19-72FD-DE507EBDE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453" y="5792769"/>
                <a:ext cx="612155" cy="276999"/>
              </a:xfrm>
              <a:prstGeom prst="rect">
                <a:avLst/>
              </a:prstGeom>
              <a:blipFill>
                <a:blip r:embed="rId6"/>
                <a:stretch>
                  <a:fillRect l="-6000" r="-9000" b="-6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A52D5D8-83CF-4862-D37F-F492380E03D7}"/>
              </a:ext>
            </a:extLst>
          </p:cNvPr>
          <p:cNvCxnSpPr>
            <a:cxnSpLocks/>
          </p:cNvCxnSpPr>
          <p:nvPr/>
        </p:nvCxnSpPr>
        <p:spPr>
          <a:xfrm>
            <a:off x="4557054" y="3460310"/>
            <a:ext cx="4476" cy="2031493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E331A3E-CA70-C0B1-54F9-105E788183D4}"/>
              </a:ext>
            </a:extLst>
          </p:cNvPr>
          <p:cNvCxnSpPr>
            <a:cxnSpLocks/>
          </p:cNvCxnSpPr>
          <p:nvPr/>
        </p:nvCxnSpPr>
        <p:spPr>
          <a:xfrm>
            <a:off x="1765149" y="3460310"/>
            <a:ext cx="4476" cy="2031493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C0FDC86-FD37-AB01-A27E-CBFBE07A6539}"/>
              </a:ext>
            </a:extLst>
          </p:cNvPr>
          <p:cNvCxnSpPr>
            <a:cxnSpLocks/>
          </p:cNvCxnSpPr>
          <p:nvPr/>
        </p:nvCxnSpPr>
        <p:spPr>
          <a:xfrm flipV="1">
            <a:off x="1765149" y="3429000"/>
            <a:ext cx="2791905" cy="3131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EA87BDC-D182-ADCB-DC0A-21BF79F4036F}"/>
                  </a:ext>
                </a:extLst>
              </p:cNvPr>
              <p:cNvSpPr txBox="1"/>
              <p:nvPr/>
            </p:nvSpPr>
            <p:spPr>
              <a:xfrm>
                <a:off x="308713" y="3333884"/>
                <a:ext cx="586186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EA87BDC-D182-ADCB-DC0A-21BF79F40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713" y="3333884"/>
                <a:ext cx="586186" cy="5203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EC71D17-C572-0F02-34C1-0A66BFF8A494}"/>
              </a:ext>
            </a:extLst>
          </p:cNvPr>
          <p:cNvCxnSpPr>
            <a:cxnSpLocks/>
          </p:cNvCxnSpPr>
          <p:nvPr/>
        </p:nvCxnSpPr>
        <p:spPr>
          <a:xfrm flipH="1">
            <a:off x="970262" y="3466849"/>
            <a:ext cx="794887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205345A-D0D3-699D-9127-9F248F81D920}"/>
                  </a:ext>
                </a:extLst>
              </p:cNvPr>
              <p:cNvSpPr txBox="1"/>
              <p:nvPr/>
            </p:nvSpPr>
            <p:spPr>
              <a:xfrm>
                <a:off x="721001" y="5681500"/>
                <a:ext cx="1747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205345A-D0D3-699D-9127-9F248F81D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001" y="5681500"/>
                <a:ext cx="174728" cy="276999"/>
              </a:xfrm>
              <a:prstGeom prst="rect">
                <a:avLst/>
              </a:prstGeom>
              <a:blipFill>
                <a:blip r:embed="rId8"/>
                <a:stretch>
                  <a:fillRect l="-31034" r="-34483" b="-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CEE4849-4059-1930-D55C-A479C6F3EDB2}"/>
              </a:ext>
            </a:extLst>
          </p:cNvPr>
          <p:cNvCxnSpPr/>
          <p:nvPr/>
        </p:nvCxnSpPr>
        <p:spPr>
          <a:xfrm>
            <a:off x="6682186" y="5618006"/>
            <a:ext cx="4410636" cy="0"/>
          </a:xfrm>
          <a:prstGeom prst="line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D6453C5-4224-011F-5170-3DE7F6BFB043}"/>
                  </a:ext>
                </a:extLst>
              </p:cNvPr>
              <p:cNvSpPr txBox="1"/>
              <p:nvPr/>
            </p:nvSpPr>
            <p:spPr>
              <a:xfrm>
                <a:off x="11004368" y="5792770"/>
                <a:ext cx="1769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D6453C5-4224-011F-5170-3DE7F6BFB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4368" y="5792770"/>
                <a:ext cx="176908" cy="276999"/>
              </a:xfrm>
              <a:prstGeom prst="rect">
                <a:avLst/>
              </a:prstGeom>
              <a:blipFill>
                <a:blip r:embed="rId9"/>
                <a:stretch>
                  <a:fillRect l="-20690" r="-17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F058882-952E-A5B0-6741-C9D8A352472E}"/>
              </a:ext>
            </a:extLst>
          </p:cNvPr>
          <p:cNvCxnSpPr>
            <a:cxnSpLocks/>
          </p:cNvCxnSpPr>
          <p:nvPr/>
        </p:nvCxnSpPr>
        <p:spPr>
          <a:xfrm flipV="1">
            <a:off x="6834586" y="2187019"/>
            <a:ext cx="0" cy="3583387"/>
          </a:xfrm>
          <a:prstGeom prst="line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4F174BA-0CEA-90AD-C564-F30EA364D987}"/>
                  </a:ext>
                </a:extLst>
              </p:cNvPr>
              <p:cNvSpPr txBox="1"/>
              <p:nvPr/>
            </p:nvSpPr>
            <p:spPr>
              <a:xfrm>
                <a:off x="6257354" y="2154451"/>
                <a:ext cx="5186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4F174BA-0CEA-90AD-C564-F30EA364D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7354" y="2154451"/>
                <a:ext cx="518604" cy="276999"/>
              </a:xfrm>
              <a:prstGeom prst="rect">
                <a:avLst/>
              </a:prstGeom>
              <a:blipFill>
                <a:blip r:embed="rId10"/>
                <a:stretch>
                  <a:fillRect l="-10465" b="-6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82585C-16BC-805B-E18F-F661F7CE0D7D}"/>
                  </a:ext>
                </a:extLst>
              </p:cNvPr>
              <p:cNvSpPr txBox="1"/>
              <p:nvPr/>
            </p:nvSpPr>
            <p:spPr>
              <a:xfrm>
                <a:off x="7250835" y="5792769"/>
                <a:ext cx="6121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82585C-16BC-805B-E18F-F661F7CE0D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0835" y="5792769"/>
                <a:ext cx="612155" cy="276999"/>
              </a:xfrm>
              <a:prstGeom prst="rect">
                <a:avLst/>
              </a:prstGeom>
              <a:blipFill>
                <a:blip r:embed="rId11"/>
                <a:stretch>
                  <a:fillRect l="-5941" r="-39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D505F03-F108-0D34-3546-96E7EC1848C2}"/>
                  </a:ext>
                </a:extLst>
              </p:cNvPr>
              <p:cNvSpPr txBox="1"/>
              <p:nvPr/>
            </p:nvSpPr>
            <p:spPr>
              <a:xfrm>
                <a:off x="10042740" y="5792769"/>
                <a:ext cx="6121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D505F03-F108-0D34-3546-96E7EC184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2740" y="5792769"/>
                <a:ext cx="612155" cy="276999"/>
              </a:xfrm>
              <a:prstGeom prst="rect">
                <a:avLst/>
              </a:prstGeom>
              <a:blipFill>
                <a:blip r:embed="rId12"/>
                <a:stretch>
                  <a:fillRect l="-5941" r="-7921" b="-6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733A664-C749-C7C5-90C1-EEE69F512F03}"/>
              </a:ext>
            </a:extLst>
          </p:cNvPr>
          <p:cNvCxnSpPr>
            <a:cxnSpLocks/>
          </p:cNvCxnSpPr>
          <p:nvPr/>
        </p:nvCxnSpPr>
        <p:spPr>
          <a:xfrm>
            <a:off x="10344341" y="3460310"/>
            <a:ext cx="0" cy="2157695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91E79EE-F9EC-3D1A-9FE3-4671C63B2ACF}"/>
              </a:ext>
            </a:extLst>
          </p:cNvPr>
          <p:cNvCxnSpPr>
            <a:cxnSpLocks/>
          </p:cNvCxnSpPr>
          <p:nvPr/>
        </p:nvCxnSpPr>
        <p:spPr>
          <a:xfrm flipV="1">
            <a:off x="7498966" y="3429000"/>
            <a:ext cx="2845375" cy="2243903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B26BAA7-72AD-2309-6476-B80D3F48E519}"/>
                  </a:ext>
                </a:extLst>
              </p:cNvPr>
              <p:cNvSpPr txBox="1"/>
              <p:nvPr/>
            </p:nvSpPr>
            <p:spPr>
              <a:xfrm>
                <a:off x="6516656" y="3328349"/>
                <a:ext cx="17472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B26BAA7-72AD-2309-6476-B80D3F48E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656" y="3328349"/>
                <a:ext cx="174728" cy="276999"/>
              </a:xfrm>
              <a:prstGeom prst="rect">
                <a:avLst/>
              </a:prstGeom>
              <a:blipFill>
                <a:blip r:embed="rId13"/>
                <a:stretch>
                  <a:fillRect l="-31034" r="-34483"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E073E42-A64D-C1F0-DB30-803A912C6C72}"/>
                  </a:ext>
                </a:extLst>
              </p:cNvPr>
              <p:cNvSpPr txBox="1"/>
              <p:nvPr/>
            </p:nvSpPr>
            <p:spPr>
              <a:xfrm>
                <a:off x="6508288" y="5681500"/>
                <a:ext cx="1747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E073E42-A64D-C1F0-DB30-803A912C6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288" y="5681500"/>
                <a:ext cx="174728" cy="276999"/>
              </a:xfrm>
              <a:prstGeom prst="rect">
                <a:avLst/>
              </a:prstGeom>
              <a:blipFill>
                <a:blip r:embed="rId14"/>
                <a:stretch>
                  <a:fillRect l="-35714" r="-35714" b="-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931ADF6-3480-8D74-1570-A62C08E3AC4E}"/>
              </a:ext>
            </a:extLst>
          </p:cNvPr>
          <p:cNvCxnSpPr>
            <a:cxnSpLocks/>
          </p:cNvCxnSpPr>
          <p:nvPr/>
        </p:nvCxnSpPr>
        <p:spPr>
          <a:xfrm>
            <a:off x="6775958" y="5611466"/>
            <a:ext cx="862906" cy="6539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CFC2D46-2F32-235B-489F-951031F7D33A}"/>
              </a:ext>
            </a:extLst>
          </p:cNvPr>
          <p:cNvCxnSpPr>
            <a:cxnSpLocks/>
          </p:cNvCxnSpPr>
          <p:nvPr/>
        </p:nvCxnSpPr>
        <p:spPr>
          <a:xfrm>
            <a:off x="10295928" y="3445303"/>
            <a:ext cx="862906" cy="6539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8523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4708C7-10F1-ADA7-B3F3-65D171C86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87804FA-1E59-8F76-622B-D4D4960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2A8CD662-99EC-205D-94E3-701C88677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A930E3-FFEA-FF11-8D6E-16C846EEE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dirty="0">
                <a:solidFill>
                  <a:srgbClr val="0070C0"/>
                </a:solidFill>
                <a:latin typeface="Segoe Script" panose="030B0504020000000003" pitchFamily="66" charset="0"/>
              </a:rPr>
              <a:t>Triangular</a:t>
            </a:r>
            <a:r>
              <a:rPr lang="en-US" sz="5000" dirty="0"/>
              <a:t> Distribution</a:t>
            </a:r>
            <a:endParaRPr lang="en-US" sz="5000" dirty="0">
              <a:solidFill>
                <a:srgbClr val="7030A0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0C361BE-2D89-4959-E338-DA9547F9DDE4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6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9DB2C9F9-3B9D-83AE-1496-D6B3384D2A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F083B0D-B857-C308-0584-71AC12E87A60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MATH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F483C77D-3187-0804-E9A8-13B83B1195DE}"/>
              </a:ext>
            </a:extLst>
          </p:cNvPr>
          <p:cNvSpPr txBox="1"/>
          <p:nvPr/>
        </p:nvSpPr>
        <p:spPr>
          <a:xfrm>
            <a:off x="572493" y="1992099"/>
            <a:ext cx="1097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Assigns higher probability to values near a peak, tapering off to zero at the boundaries of a specified range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7D1D39B-BA39-54EF-D8A2-02F34176419C}"/>
                  </a:ext>
                </a:extLst>
              </p:cNvPr>
              <p:cNvSpPr txBox="1"/>
              <p:nvPr/>
            </p:nvSpPr>
            <p:spPr>
              <a:xfrm>
                <a:off x="572493" y="2687466"/>
                <a:ext cx="10596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7D1D39B-BA39-54EF-D8A2-02F341764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93" y="2687466"/>
                <a:ext cx="1059649" cy="276999"/>
              </a:xfrm>
              <a:prstGeom prst="rect">
                <a:avLst/>
              </a:prstGeom>
              <a:blipFill>
                <a:blip r:embed="rId3"/>
                <a:stretch>
                  <a:fillRect l="-2874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2C0AF48-E6D2-27F6-DEA9-9C125839153E}"/>
                  </a:ext>
                </a:extLst>
              </p:cNvPr>
              <p:cNvSpPr txBox="1"/>
              <p:nvPr/>
            </p:nvSpPr>
            <p:spPr>
              <a:xfrm>
                <a:off x="2011827" y="2621783"/>
                <a:ext cx="47022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…triangular distribution with a peak at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2C0AF48-E6D2-27F6-DEA9-9C1258391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827" y="2621783"/>
                <a:ext cx="4702240" cy="369332"/>
              </a:xfrm>
              <a:prstGeom prst="rect">
                <a:avLst/>
              </a:prstGeom>
              <a:blipFill>
                <a:blip r:embed="rId4"/>
                <a:stretch>
                  <a:fillRect l="-1038" t="-6557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19D91417-934A-C711-25AA-2F87838BB736}"/>
              </a:ext>
            </a:extLst>
          </p:cNvPr>
          <p:cNvSpPr txBox="1"/>
          <p:nvPr/>
        </p:nvSpPr>
        <p:spPr>
          <a:xfrm>
            <a:off x="539699" y="3313188"/>
            <a:ext cx="3177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Probability Density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03188A-A4D1-04E3-0DBA-A7E5092C63E0}"/>
                  </a:ext>
                </a:extLst>
              </p:cNvPr>
              <p:cNvSpPr txBox="1"/>
              <p:nvPr/>
            </p:nvSpPr>
            <p:spPr>
              <a:xfrm>
                <a:off x="539699" y="3743828"/>
                <a:ext cx="513296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…piecewise linear, increasing linearly from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</m:oMath>
                </a14:m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to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</m:oMath>
                </a14:m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and decreasing linearly from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</m:oMath>
                </a14:m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to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03188A-A4D1-04E3-0DBA-A7E5092C63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99" y="3743828"/>
                <a:ext cx="5132968" cy="646331"/>
              </a:xfrm>
              <a:prstGeom prst="rect">
                <a:avLst/>
              </a:prstGeom>
              <a:blipFill>
                <a:blip r:embed="rId5"/>
                <a:stretch>
                  <a:fillRect l="-1069" t="-3774" b="-150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A3C216E-2ABD-1EC3-1D82-1D9591659EAA}"/>
                  </a:ext>
                </a:extLst>
              </p:cNvPr>
              <p:cNvSpPr txBox="1"/>
              <p:nvPr/>
            </p:nvSpPr>
            <p:spPr>
              <a:xfrm>
                <a:off x="569880" y="4451467"/>
                <a:ext cx="37539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Let height of the PDF at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</m:oMath>
                </a14:m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be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h</m:t>
                    </m:r>
                  </m:oMath>
                </a14:m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A3C216E-2ABD-1EC3-1D82-1D9591659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80" y="4451467"/>
                <a:ext cx="3753974" cy="369332"/>
              </a:xfrm>
              <a:prstGeom prst="rect">
                <a:avLst/>
              </a:prstGeom>
              <a:blipFill>
                <a:blip r:embed="rId6"/>
                <a:stretch>
                  <a:fillRect l="-1299" t="-6557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1FD8A9-757E-0E8C-D885-11A9D99261AC}"/>
                  </a:ext>
                </a:extLst>
              </p:cNvPr>
              <p:cNvSpPr txBox="1"/>
              <p:nvPr/>
            </p:nvSpPr>
            <p:spPr>
              <a:xfrm>
                <a:off x="572493" y="4925228"/>
                <a:ext cx="37539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The base of the triangle is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</m:oMath>
                </a14:m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1FD8A9-757E-0E8C-D885-11A9D9926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93" y="4925228"/>
                <a:ext cx="3753974" cy="369332"/>
              </a:xfrm>
              <a:prstGeom prst="rect">
                <a:avLst/>
              </a:prstGeom>
              <a:blipFill>
                <a:blip r:embed="rId7"/>
                <a:stretch>
                  <a:fillRect l="-1461" t="-8197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E3BE00-93AC-E146-E7CE-F8A993A8520C}"/>
                  </a:ext>
                </a:extLst>
              </p:cNvPr>
              <p:cNvSpPr txBox="1"/>
              <p:nvPr/>
            </p:nvSpPr>
            <p:spPr>
              <a:xfrm>
                <a:off x="569880" y="5442903"/>
                <a:ext cx="4786907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Area under the curve is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den>
                    </m:f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𝑏𝑎𝑠𝑒</m:t>
                    </m:r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h𝑒𝑖𝑔h𝑡</m:t>
                    </m:r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</m:oMath>
                </a14:m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1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E3BE00-93AC-E146-E7CE-F8A993A85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80" y="5442903"/>
                <a:ext cx="4786907" cy="483466"/>
              </a:xfrm>
              <a:prstGeom prst="rect">
                <a:avLst/>
              </a:prstGeom>
              <a:blipFill>
                <a:blip r:embed="rId8"/>
                <a:stretch>
                  <a:fillRect l="-1018" b="-101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267D99B-BBD9-D7BF-A7D3-61BCA6B3FB75}"/>
                  </a:ext>
                </a:extLst>
              </p:cNvPr>
              <p:cNvSpPr txBox="1"/>
              <p:nvPr/>
            </p:nvSpPr>
            <p:spPr>
              <a:xfrm>
                <a:off x="1102317" y="6078035"/>
                <a:ext cx="1506310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h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267D99B-BBD9-D7BF-A7D3-61BCA6B3F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317" y="6078035"/>
                <a:ext cx="1506310" cy="5186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Right 10">
            <a:extLst>
              <a:ext uri="{FF2B5EF4-FFF2-40B4-BE49-F238E27FC236}">
                <a16:creationId xmlns:a16="http://schemas.microsoft.com/office/drawing/2014/main" id="{6AB46433-A561-872D-6502-24FA5B5524AF}"/>
              </a:ext>
            </a:extLst>
          </p:cNvPr>
          <p:cNvSpPr/>
          <p:nvPr/>
        </p:nvSpPr>
        <p:spPr>
          <a:xfrm>
            <a:off x="679153" y="6337337"/>
            <a:ext cx="285253" cy="944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53C6728-FB93-1867-C3D9-7E20149CA794}"/>
                  </a:ext>
                </a:extLst>
              </p:cNvPr>
              <p:cNvSpPr txBox="1"/>
              <p:nvPr/>
            </p:nvSpPr>
            <p:spPr>
              <a:xfrm>
                <a:off x="3283521" y="6078035"/>
                <a:ext cx="1019766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h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num>
                        <m:den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53C6728-FB93-1867-C3D9-7E20149CA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3521" y="6078035"/>
                <a:ext cx="1019766" cy="5203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Right 12">
            <a:extLst>
              <a:ext uri="{FF2B5EF4-FFF2-40B4-BE49-F238E27FC236}">
                <a16:creationId xmlns:a16="http://schemas.microsoft.com/office/drawing/2014/main" id="{ECFE762D-B431-DFEB-2909-0D2508DD511A}"/>
              </a:ext>
            </a:extLst>
          </p:cNvPr>
          <p:cNvSpPr/>
          <p:nvPr/>
        </p:nvSpPr>
        <p:spPr>
          <a:xfrm>
            <a:off x="2860357" y="6337337"/>
            <a:ext cx="285253" cy="944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E7DD764-8B38-2BD2-1DC2-15B8B3B3CB6C}"/>
                  </a:ext>
                </a:extLst>
              </p:cNvPr>
              <p:cNvSpPr txBox="1"/>
              <p:nvPr/>
            </p:nvSpPr>
            <p:spPr>
              <a:xfrm>
                <a:off x="6189131" y="3401569"/>
                <a:ext cx="10445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≤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≤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E7DD764-8B38-2BD2-1DC2-15B8B3B3C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131" y="3401569"/>
                <a:ext cx="1044581" cy="276999"/>
              </a:xfrm>
              <a:prstGeom prst="rect">
                <a:avLst/>
              </a:prstGeom>
              <a:blipFill>
                <a:blip r:embed="rId11"/>
                <a:stretch>
                  <a:fillRect l="-2907" r="-4651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4C48B33-7154-A31A-4751-BBB690D343D0}"/>
                  </a:ext>
                </a:extLst>
              </p:cNvPr>
              <p:cNvSpPr txBox="1"/>
              <p:nvPr/>
            </p:nvSpPr>
            <p:spPr>
              <a:xfrm>
                <a:off x="7596172" y="3429000"/>
                <a:ext cx="5867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0</m:t>
                          </m:r>
                        </m:e>
                      </m:d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4C48B33-7154-A31A-4751-BBB690D34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6172" y="3429000"/>
                <a:ext cx="586764" cy="276999"/>
              </a:xfrm>
              <a:prstGeom prst="rect">
                <a:avLst/>
              </a:prstGeom>
              <a:blipFill>
                <a:blip r:embed="rId1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FBF334B-77E2-95F2-99C1-BB2CF2DD4BB6}"/>
                  </a:ext>
                </a:extLst>
              </p:cNvPr>
              <p:cNvSpPr txBox="1"/>
              <p:nvPr/>
            </p:nvSpPr>
            <p:spPr>
              <a:xfrm>
                <a:off x="10021565" y="3238499"/>
                <a:ext cx="1068626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f>
                            <m:f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num>
                            <m:den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FBF334B-77E2-95F2-99C1-BB2CF2DD4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1565" y="3238499"/>
                <a:ext cx="1068626" cy="62235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631DA60-277B-301F-4D6C-47EFD663AAE2}"/>
                  </a:ext>
                </a:extLst>
              </p:cNvPr>
              <p:cNvSpPr txBox="1"/>
              <p:nvPr/>
            </p:nvSpPr>
            <p:spPr>
              <a:xfrm>
                <a:off x="8639143" y="3393349"/>
                <a:ext cx="926215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631DA60-277B-301F-4D6C-47EFD663A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9143" y="3393349"/>
                <a:ext cx="926215" cy="312650"/>
              </a:xfrm>
              <a:prstGeom prst="rect">
                <a:avLst/>
              </a:prstGeom>
              <a:blipFill>
                <a:blip r:embed="rId14"/>
                <a:stretch>
                  <a:fillRect b="-274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10E93D8-4DB1-4F9E-D3EF-053B67D6A284}"/>
                  </a:ext>
                </a:extLst>
              </p:cNvPr>
              <p:cNvSpPr txBox="1"/>
              <p:nvPr/>
            </p:nvSpPr>
            <p:spPr>
              <a:xfrm>
                <a:off x="6852697" y="3968821"/>
                <a:ext cx="2150845" cy="7498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num>
                            <m:den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den>
                          </m:f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−0</m:t>
                          </m:r>
                        </m:num>
                        <m:den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den>
                      </m:f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−0</m:t>
                          </m:r>
                        </m:num>
                        <m:den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10E93D8-4DB1-4F9E-D3EF-053B67D6A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697" y="3968821"/>
                <a:ext cx="2150845" cy="74988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rrow: Right 20">
            <a:extLst>
              <a:ext uri="{FF2B5EF4-FFF2-40B4-BE49-F238E27FC236}">
                <a16:creationId xmlns:a16="http://schemas.microsoft.com/office/drawing/2014/main" id="{10708BEB-4CC6-494C-6E95-05D0B0ACC509}"/>
              </a:ext>
            </a:extLst>
          </p:cNvPr>
          <p:cNvSpPr/>
          <p:nvPr/>
        </p:nvSpPr>
        <p:spPr>
          <a:xfrm>
            <a:off x="6357302" y="4425587"/>
            <a:ext cx="285253" cy="944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C3E627A-24E7-AFBB-5C3D-03AC9E881FDA}"/>
                  </a:ext>
                </a:extLst>
              </p:cNvPr>
              <p:cNvSpPr txBox="1"/>
              <p:nvPr/>
            </p:nvSpPr>
            <p:spPr>
              <a:xfrm>
                <a:off x="9787934" y="4104276"/>
                <a:ext cx="2266774" cy="584199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</m:d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C3E627A-24E7-AFBB-5C3D-03AC9E881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7934" y="4104276"/>
                <a:ext cx="2266774" cy="5841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rrow: Right 22">
            <a:extLst>
              <a:ext uri="{FF2B5EF4-FFF2-40B4-BE49-F238E27FC236}">
                <a16:creationId xmlns:a16="http://schemas.microsoft.com/office/drawing/2014/main" id="{4D54911F-2E2B-DE59-FDA4-74F67EB0D395}"/>
              </a:ext>
            </a:extLst>
          </p:cNvPr>
          <p:cNvSpPr/>
          <p:nvPr/>
        </p:nvSpPr>
        <p:spPr>
          <a:xfrm>
            <a:off x="9261623" y="4353027"/>
            <a:ext cx="285253" cy="944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7FBAD-6090-28CD-B645-7389C61B204C}"/>
              </a:ext>
            </a:extLst>
          </p:cNvPr>
          <p:cNvCxnSpPr/>
          <p:nvPr/>
        </p:nvCxnSpPr>
        <p:spPr>
          <a:xfrm>
            <a:off x="5926667" y="3238499"/>
            <a:ext cx="0" cy="35179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99AB21C-78F0-DDFE-EF91-C55B7D5AC5E5}"/>
                  </a:ext>
                </a:extLst>
              </p:cNvPr>
              <p:cNvSpPr txBox="1"/>
              <p:nvPr/>
            </p:nvSpPr>
            <p:spPr>
              <a:xfrm>
                <a:off x="6147428" y="5174269"/>
                <a:ext cx="10407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&lt;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≤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99AB21C-78F0-DDFE-EF91-C55B7D5AC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7428" y="5174269"/>
                <a:ext cx="1040798" cy="276999"/>
              </a:xfrm>
              <a:prstGeom prst="rect">
                <a:avLst/>
              </a:prstGeom>
              <a:blipFill>
                <a:blip r:embed="rId17"/>
                <a:stretch>
                  <a:fillRect l="-5263" r="-4678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99010F9-C738-FF88-3F15-57B1202EFBEA}"/>
                  </a:ext>
                </a:extLst>
              </p:cNvPr>
              <p:cNvSpPr txBox="1"/>
              <p:nvPr/>
            </p:nvSpPr>
            <p:spPr>
              <a:xfrm>
                <a:off x="7419303" y="4981528"/>
                <a:ext cx="1068626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f>
                            <m:f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num>
                            <m:den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99010F9-C738-FF88-3F15-57B1202EF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9303" y="4981528"/>
                <a:ext cx="1068626" cy="62235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1554779-A206-DE3D-384E-A131B3BEA3D0}"/>
                  </a:ext>
                </a:extLst>
              </p:cNvPr>
              <p:cNvSpPr txBox="1"/>
              <p:nvPr/>
            </p:nvSpPr>
            <p:spPr>
              <a:xfrm>
                <a:off x="10046950" y="5173172"/>
                <a:ext cx="5829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,0</m:t>
                          </m:r>
                        </m:e>
                      </m:d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1554779-A206-DE3D-384E-A131B3BEA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6950" y="5173172"/>
                <a:ext cx="582980" cy="276999"/>
              </a:xfrm>
              <a:prstGeom prst="rect">
                <a:avLst/>
              </a:prstGeom>
              <a:blipFill>
                <a:blip r:embed="rId1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7B2DFBE-7908-3398-5E4F-FA69700C4280}"/>
                  </a:ext>
                </a:extLst>
              </p:cNvPr>
              <p:cNvSpPr txBox="1"/>
              <p:nvPr/>
            </p:nvSpPr>
            <p:spPr>
              <a:xfrm>
                <a:off x="8770788" y="5140089"/>
                <a:ext cx="926215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7B2DFBE-7908-3398-5E4F-FA69700C4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0788" y="5140089"/>
                <a:ext cx="926215" cy="312650"/>
              </a:xfrm>
              <a:prstGeom prst="rect">
                <a:avLst/>
              </a:prstGeom>
              <a:blipFill>
                <a:blip r:embed="rId20"/>
                <a:stretch>
                  <a:fillRect b="-274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3F047D8-AC07-E6DA-4E21-82CC9E111764}"/>
                  </a:ext>
                </a:extLst>
              </p:cNvPr>
              <p:cNvSpPr txBox="1"/>
              <p:nvPr/>
            </p:nvSpPr>
            <p:spPr>
              <a:xfrm>
                <a:off x="6810994" y="5741521"/>
                <a:ext cx="2150845" cy="7498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0−</m:t>
                          </m:r>
                          <m:f>
                            <m:fPr>
                              <m:ctrlP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num>
                            <m:den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den>
                          </m:f>
                        </m:num>
                        <m:den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den>
                      </m:f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0−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3F047D8-AC07-E6DA-4E21-82CC9E111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0994" y="5741521"/>
                <a:ext cx="2150845" cy="74988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Arrow: Right 33">
            <a:extLst>
              <a:ext uri="{FF2B5EF4-FFF2-40B4-BE49-F238E27FC236}">
                <a16:creationId xmlns:a16="http://schemas.microsoft.com/office/drawing/2014/main" id="{4613288F-AF50-DA7D-F4EF-9190FC49417F}"/>
              </a:ext>
            </a:extLst>
          </p:cNvPr>
          <p:cNvSpPr/>
          <p:nvPr/>
        </p:nvSpPr>
        <p:spPr>
          <a:xfrm>
            <a:off x="6315599" y="6198287"/>
            <a:ext cx="285253" cy="944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4228502-C9A2-9057-DBF5-7C72BBF6DE8E}"/>
                  </a:ext>
                </a:extLst>
              </p:cNvPr>
              <p:cNvSpPr txBox="1"/>
              <p:nvPr/>
            </p:nvSpPr>
            <p:spPr>
              <a:xfrm>
                <a:off x="9746231" y="5876976"/>
                <a:ext cx="2263953" cy="584199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</m:d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4228502-C9A2-9057-DBF5-7C72BBF6D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6231" y="5876976"/>
                <a:ext cx="2263953" cy="58419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Arrow: Right 35">
            <a:extLst>
              <a:ext uri="{FF2B5EF4-FFF2-40B4-BE49-F238E27FC236}">
                <a16:creationId xmlns:a16="http://schemas.microsoft.com/office/drawing/2014/main" id="{509EEF8D-3C3C-5C6E-8194-1FADED89E688}"/>
              </a:ext>
            </a:extLst>
          </p:cNvPr>
          <p:cNvSpPr/>
          <p:nvPr/>
        </p:nvSpPr>
        <p:spPr>
          <a:xfrm>
            <a:off x="9219920" y="6125727"/>
            <a:ext cx="285253" cy="944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020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9" grpId="0"/>
      <p:bldP spid="50" grpId="0"/>
      <p:bldP spid="61" grpId="0"/>
      <p:bldP spid="3" grpId="0"/>
      <p:bldP spid="4" grpId="0"/>
      <p:bldP spid="8" grpId="0"/>
      <p:bldP spid="9" grpId="0"/>
      <p:bldP spid="10" grpId="0"/>
      <p:bldP spid="11" grpId="0" animBg="1"/>
      <p:bldP spid="12" grpId="0"/>
      <p:bldP spid="13" grpId="0" animBg="1"/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 animBg="1"/>
      <p:bldP spid="26" grpId="0"/>
      <p:bldP spid="28" grpId="0"/>
      <p:bldP spid="29" grpId="0"/>
      <p:bldP spid="32" grpId="0"/>
      <p:bldP spid="33" grpId="0"/>
      <p:bldP spid="34" grpId="0" animBg="1"/>
      <p:bldP spid="35" grpId="0" animBg="1"/>
      <p:bldP spid="3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9180BF-AB57-9B54-820C-4B9C43E0A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6E07529-CD55-1E2F-2AF2-B5D111355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D0144856-5D19-53FD-0F2B-B5CCDF107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A068CD-F75F-1816-C7E2-E82BB9B37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dirty="0">
                <a:solidFill>
                  <a:srgbClr val="0070C0"/>
                </a:solidFill>
                <a:latin typeface="Segoe Script" panose="030B0504020000000003" pitchFamily="66" charset="0"/>
              </a:rPr>
              <a:t>Triangular</a:t>
            </a:r>
            <a:r>
              <a:rPr lang="en-US" sz="5000" dirty="0"/>
              <a:t> Distribution</a:t>
            </a:r>
            <a:endParaRPr lang="en-US" sz="5000" dirty="0">
              <a:solidFill>
                <a:srgbClr val="7030A0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8FB4BA3-AE65-A11B-6BC0-CD54F9328373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6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3CFA5269-B49B-9910-5B06-1E858A87A97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535B123-0383-F415-33DA-98FD411CE794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MATH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37F24E55-7C32-AB4D-0753-1F3102FAFA84}"/>
              </a:ext>
            </a:extLst>
          </p:cNvPr>
          <p:cNvSpPr txBox="1"/>
          <p:nvPr/>
        </p:nvSpPr>
        <p:spPr>
          <a:xfrm>
            <a:off x="572493" y="1797365"/>
            <a:ext cx="1097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Assigns higher probability to values near a peak, tapering off to zero at the boundaries of a specified range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C3FC54A-9949-CBAC-59DE-53861E5DEA22}"/>
                  </a:ext>
                </a:extLst>
              </p:cNvPr>
              <p:cNvSpPr txBox="1"/>
              <p:nvPr/>
            </p:nvSpPr>
            <p:spPr>
              <a:xfrm>
                <a:off x="572493" y="2331864"/>
                <a:ext cx="10596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C3FC54A-9949-CBAC-59DE-53861E5DE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93" y="2331864"/>
                <a:ext cx="1059649" cy="276999"/>
              </a:xfrm>
              <a:prstGeom prst="rect">
                <a:avLst/>
              </a:prstGeom>
              <a:blipFill>
                <a:blip r:embed="rId3"/>
                <a:stretch>
                  <a:fillRect l="-2874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50AD863-4BC2-753B-C713-C74ACD9D50A9}"/>
                  </a:ext>
                </a:extLst>
              </p:cNvPr>
              <p:cNvSpPr txBox="1"/>
              <p:nvPr/>
            </p:nvSpPr>
            <p:spPr>
              <a:xfrm>
                <a:off x="2011827" y="2266181"/>
                <a:ext cx="47022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…triangular distribution with a peak at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50AD863-4BC2-753B-C713-C74ACD9D5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827" y="2266181"/>
                <a:ext cx="4702240" cy="369332"/>
              </a:xfrm>
              <a:prstGeom prst="rect">
                <a:avLst/>
              </a:prstGeom>
              <a:blipFill>
                <a:blip r:embed="rId4"/>
                <a:stretch>
                  <a:fillRect l="-1038" t="-8333" b="-2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8C98D98E-5358-7F65-212B-A6FA92AC7D6C}"/>
              </a:ext>
            </a:extLst>
          </p:cNvPr>
          <p:cNvSpPr txBox="1"/>
          <p:nvPr/>
        </p:nvSpPr>
        <p:spPr>
          <a:xfrm>
            <a:off x="539698" y="2796722"/>
            <a:ext cx="3784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Cumulative Distribution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E971137-9A45-B0C6-50A1-79C2EC543407}"/>
                  </a:ext>
                </a:extLst>
              </p:cNvPr>
              <p:cNvSpPr txBox="1"/>
              <p:nvPr/>
            </p:nvSpPr>
            <p:spPr>
              <a:xfrm>
                <a:off x="621425" y="3805509"/>
                <a:ext cx="18866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unc>
                        <m:func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IN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≤</m:t>
                              </m:r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E971137-9A45-B0C6-50A1-79C2EC543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425" y="3805509"/>
                <a:ext cx="1886670" cy="276999"/>
              </a:xfrm>
              <a:prstGeom prst="rect">
                <a:avLst/>
              </a:prstGeom>
              <a:blipFill>
                <a:blip r:embed="rId5"/>
                <a:stretch>
                  <a:fillRect l="-2913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0A2739F-04AA-014C-4432-767C52455082}"/>
                  </a:ext>
                </a:extLst>
              </p:cNvPr>
              <p:cNvSpPr txBox="1"/>
              <p:nvPr/>
            </p:nvSpPr>
            <p:spPr>
              <a:xfrm>
                <a:off x="2657412" y="3645489"/>
                <a:ext cx="1225848" cy="599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sub>
                        <m:sup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sup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e>
                          </m:d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0A2739F-04AA-014C-4432-767C52455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7412" y="3645489"/>
                <a:ext cx="1225848" cy="599972"/>
              </a:xfrm>
              <a:prstGeom prst="rect">
                <a:avLst/>
              </a:prstGeom>
              <a:blipFill>
                <a:blip r:embed="rId6"/>
                <a:stretch>
                  <a:fillRect b="-10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0B8ED90-7B3C-D06C-9F7C-769166075C31}"/>
                  </a:ext>
                </a:extLst>
              </p:cNvPr>
              <p:cNvSpPr txBox="1"/>
              <p:nvPr/>
            </p:nvSpPr>
            <p:spPr>
              <a:xfrm>
                <a:off x="621425" y="3253497"/>
                <a:ext cx="10445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≤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≤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0B8ED90-7B3C-D06C-9F7C-769166075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425" y="3253497"/>
                <a:ext cx="1044581" cy="276999"/>
              </a:xfrm>
              <a:prstGeom prst="rect">
                <a:avLst/>
              </a:prstGeom>
              <a:blipFill>
                <a:blip r:embed="rId7"/>
                <a:stretch>
                  <a:fillRect l="-2924" r="-5263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111D887-CFB0-6ABE-824A-B1648365A54E}"/>
                  </a:ext>
                </a:extLst>
              </p:cNvPr>
              <p:cNvSpPr txBox="1"/>
              <p:nvPr/>
            </p:nvSpPr>
            <p:spPr>
              <a:xfrm>
                <a:off x="622699" y="4384952"/>
                <a:ext cx="2880597" cy="6012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sub>
                        <m:sup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sup>
                        <m:e>
                          <m:f>
                            <m:fPr>
                              <m:ctrlP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  <m:d>
                                <m:dPr>
                                  <m:ctrlP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𝑎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ctrlP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𝑎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</m:t>
                                  </m:r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𝑎</m:t>
                                  </m:r>
                                </m:e>
                              </m:d>
                            </m:den>
                          </m:f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111D887-CFB0-6ABE-824A-B1648365A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699" y="4384952"/>
                <a:ext cx="2880597" cy="60125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B13CE9E-96B0-9525-FB87-4F6AF59DB764}"/>
                  </a:ext>
                </a:extLst>
              </p:cNvPr>
              <p:cNvSpPr txBox="1"/>
              <p:nvPr/>
            </p:nvSpPr>
            <p:spPr>
              <a:xfrm>
                <a:off x="606357" y="5125698"/>
                <a:ext cx="3424207" cy="6946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Sup>
                        <m:sSubSup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f>
                            <m:fPr>
                              <m:ctrlP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𝑎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</m:t>
                                  </m:r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𝑎</m:t>
                                  </m:r>
                                </m:e>
                              </m:d>
                            </m:den>
                          </m:f>
                          <m:d>
                            <m:dPr>
                              <m:begChr m:val="["/>
                              <m:endChr m:val="]"/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kumimoji="0" lang="en-IN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kumimoji="0" lang="en-IN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0" lang="en-IN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𝑡</m:t>
                                          </m:r>
                                          <m:r>
                                            <a:rPr kumimoji="0" lang="en-IN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−</m:t>
                                          </m:r>
                                          <m:r>
                                            <a:rPr kumimoji="0" lang="en-IN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𝑎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kumimoji="0" lang="en-IN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sub>
                        <m:sup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sup>
                      </m:sSubSup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B13CE9E-96B0-9525-FB87-4F6AF59DB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357" y="5125698"/>
                <a:ext cx="3424207" cy="6946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F83FF3F-828D-DA9A-9AE8-569DA23C11B6}"/>
                  </a:ext>
                </a:extLst>
              </p:cNvPr>
              <p:cNvSpPr txBox="1"/>
              <p:nvPr/>
            </p:nvSpPr>
            <p:spPr>
              <a:xfrm>
                <a:off x="987672" y="6000964"/>
                <a:ext cx="2283510" cy="602473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</m:d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F83FF3F-828D-DA9A-9AE8-569DA23C1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672" y="6000964"/>
                <a:ext cx="2283510" cy="60247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EBF2F77-40BE-DDD9-EB1F-F5433E1FD720}"/>
                  </a:ext>
                </a:extLst>
              </p:cNvPr>
              <p:cNvSpPr txBox="1"/>
              <p:nvPr/>
            </p:nvSpPr>
            <p:spPr>
              <a:xfrm>
                <a:off x="6052577" y="3202506"/>
                <a:ext cx="10445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&lt;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≤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EBF2F77-40BE-DDD9-EB1F-F5433E1FD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577" y="3202506"/>
                <a:ext cx="1044581" cy="276999"/>
              </a:xfrm>
              <a:prstGeom prst="rect">
                <a:avLst/>
              </a:prstGeom>
              <a:blipFill>
                <a:blip r:embed="rId11"/>
                <a:stretch>
                  <a:fillRect l="-5263" r="-4678" b="-239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Arrow: Right 43">
            <a:extLst>
              <a:ext uri="{FF2B5EF4-FFF2-40B4-BE49-F238E27FC236}">
                <a16:creationId xmlns:a16="http://schemas.microsoft.com/office/drawing/2014/main" id="{8B913ED1-EB2C-5EA9-5944-E8E9759B4FF4}"/>
              </a:ext>
            </a:extLst>
          </p:cNvPr>
          <p:cNvSpPr/>
          <p:nvPr/>
        </p:nvSpPr>
        <p:spPr>
          <a:xfrm>
            <a:off x="621425" y="6279926"/>
            <a:ext cx="285253" cy="944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46C830B-425C-1137-191F-C68AD0D4476B}"/>
                  </a:ext>
                </a:extLst>
              </p:cNvPr>
              <p:cNvSpPr txBox="1"/>
              <p:nvPr/>
            </p:nvSpPr>
            <p:spPr>
              <a:xfrm>
                <a:off x="6027202" y="3739056"/>
                <a:ext cx="18866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unc>
                        <m:func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IN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≤</m:t>
                              </m:r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46C830B-425C-1137-191F-C68AD0D44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7202" y="3739056"/>
                <a:ext cx="1886670" cy="276999"/>
              </a:xfrm>
              <a:prstGeom prst="rect">
                <a:avLst/>
              </a:prstGeom>
              <a:blipFill>
                <a:blip r:embed="rId12"/>
                <a:stretch>
                  <a:fillRect l="-2913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3C3FA3E-364F-D4AD-D626-76CB6B785661}"/>
                  </a:ext>
                </a:extLst>
              </p:cNvPr>
              <p:cNvSpPr txBox="1"/>
              <p:nvPr/>
            </p:nvSpPr>
            <p:spPr>
              <a:xfrm>
                <a:off x="8063189" y="3579036"/>
                <a:ext cx="2443682" cy="630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sub>
                        <m:sup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sup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e>
                          </m:d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𝑑𝑡</m:t>
                          </m:r>
                        </m:e>
                      </m:nary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nary>
                        <m:naryPr>
                          <m:ctrlP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sub>
                        <m:sup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sup>
                        <m:e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e>
                          </m:d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3C3FA3E-364F-D4AD-D626-76CB6B785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3189" y="3579036"/>
                <a:ext cx="2443682" cy="63042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E6C5BF2-0649-1703-B28D-A0939BE2B88C}"/>
                  </a:ext>
                </a:extLst>
              </p:cNvPr>
              <p:cNvSpPr txBox="1"/>
              <p:nvPr/>
            </p:nvSpPr>
            <p:spPr>
              <a:xfrm>
                <a:off x="6028476" y="4318499"/>
                <a:ext cx="3696974" cy="631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num>
                        <m:den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den>
                      </m:f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nary>
                        <m:nary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sub>
                        <m:sup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sup>
                        <m:e>
                          <m:f>
                            <m:fPr>
                              <m:ctrlP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  <m:d>
                                <m:dPr>
                                  <m:ctrlP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ctrlP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𝑎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</m:t>
                                  </m:r>
                                </m:e>
                              </m:d>
                            </m:den>
                          </m:f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E6C5BF2-0649-1703-B28D-A0939BE2B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8476" y="4318499"/>
                <a:ext cx="3696974" cy="63171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F985914-2FA1-8703-07BE-079B4937AD49}"/>
                  </a:ext>
                </a:extLst>
              </p:cNvPr>
              <p:cNvSpPr txBox="1"/>
              <p:nvPr/>
            </p:nvSpPr>
            <p:spPr>
              <a:xfrm>
                <a:off x="6393449" y="5934511"/>
                <a:ext cx="5206169" cy="624979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num>
                        <m:den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den>
                      </m:f>
                      <m:r>
                        <a:rPr kumimoji="0" lang="en-I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f>
                        <m:fPr>
                          <m:ctrlP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num>
                        <m:den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</m:d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</m:t>
                              </m:r>
                            </m:e>
                          </m: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</m:t>
                              </m:r>
                            </m:e>
                          </m:d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f>
                            <m:fPr>
                              <m:ctrlP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F985914-2FA1-8703-07BE-079B4937A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449" y="5934511"/>
                <a:ext cx="5206169" cy="62497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Arrow: Right 57">
            <a:extLst>
              <a:ext uri="{FF2B5EF4-FFF2-40B4-BE49-F238E27FC236}">
                <a16:creationId xmlns:a16="http://schemas.microsoft.com/office/drawing/2014/main" id="{BF4F4FC2-7D41-59FE-7C73-155F3C1084C5}"/>
              </a:ext>
            </a:extLst>
          </p:cNvPr>
          <p:cNvSpPr/>
          <p:nvPr/>
        </p:nvSpPr>
        <p:spPr>
          <a:xfrm>
            <a:off x="6027202" y="6213473"/>
            <a:ext cx="285253" cy="944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726463A-037D-9CE0-DEF8-52DFC4AE15C7}"/>
                  </a:ext>
                </a:extLst>
              </p:cNvPr>
              <p:cNvSpPr txBox="1"/>
              <p:nvPr/>
            </p:nvSpPr>
            <p:spPr>
              <a:xfrm>
                <a:off x="6027202" y="5079305"/>
                <a:ext cx="4139979" cy="7251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num>
                        <m:den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den>
                      </m:f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f>
                        <m:f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num>
                        <m:den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</m:d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</m:t>
                              </m:r>
                            </m:e>
                          </m:d>
                        </m:den>
                      </m:f>
                      <m:sSubSup>
                        <m:sSubSup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𝑏𝑡</m:t>
                              </m:r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kumimoji="0" lang="en-IN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IN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kumimoji="0" lang="en-IN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sub>
                        <m:sup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sup>
                      </m:sSubSup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726463A-037D-9CE0-DEF8-52DFC4AE1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7202" y="5079305"/>
                <a:ext cx="4139979" cy="72513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3539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4" grpId="0"/>
      <p:bldP spid="37" grpId="0"/>
      <p:bldP spid="38" grpId="0"/>
      <p:bldP spid="39" grpId="0" animBg="1"/>
      <p:bldP spid="40" grpId="0"/>
      <p:bldP spid="44" grpId="0" animBg="1"/>
      <p:bldP spid="53" grpId="0"/>
      <p:bldP spid="54" grpId="0"/>
      <p:bldP spid="55" grpId="0"/>
      <p:bldP spid="57" grpId="0" animBg="1"/>
      <p:bldP spid="58" grpId="0" animBg="1"/>
      <p:bldP spid="5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C0A031-0F48-E6FD-B8ED-237491102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8227833E-FA9A-BEA8-3CF1-1765E3542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0419757F-F0B9-9991-C6A2-A2199641E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C370C1-9E1E-1988-461D-2D9B3C455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dirty="0">
                <a:solidFill>
                  <a:srgbClr val="0070C0"/>
                </a:solidFill>
                <a:latin typeface="Segoe Script" panose="030B0504020000000003" pitchFamily="66" charset="0"/>
              </a:rPr>
              <a:t>Triangular</a:t>
            </a:r>
            <a:r>
              <a:rPr lang="en-US" sz="5000" dirty="0"/>
              <a:t> Distribution</a:t>
            </a:r>
            <a:endParaRPr lang="en-US" sz="5000" dirty="0">
              <a:solidFill>
                <a:srgbClr val="7030A0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4C25F6A-1194-3202-E588-2169FAB79FDC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6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7B02BF57-D816-65F6-D39C-B140A29A3DA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82685A5-2CF3-9860-0D67-D796A0DE2BA8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MATH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1E71079-EF95-2400-E256-6B3D651EA211}"/>
                  </a:ext>
                </a:extLst>
              </p:cNvPr>
              <p:cNvSpPr txBox="1"/>
              <p:nvPr/>
            </p:nvSpPr>
            <p:spPr>
              <a:xfrm>
                <a:off x="597162" y="3971344"/>
                <a:ext cx="3870931" cy="1496628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  <m:d>
                                    <m:dPr>
                                      <m:ctrlP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  <m: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</m:t>
                                      </m:r>
                                      <m: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𝑎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ctrlP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𝑏</m:t>
                                      </m:r>
                                      <m: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</m:t>
                                      </m:r>
                                      <m: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𝑎</m:t>
                                      </m:r>
                                    </m:e>
                                  </m:d>
                                  <m:d>
                                    <m:dPr>
                                      <m:ctrlP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𝑝</m:t>
                                      </m:r>
                                      <m: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</m:t>
                                      </m:r>
                                      <m: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𝑎</m:t>
                                      </m:r>
                                    </m:e>
                                  </m: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  <m:d>
                                    <m:dPr>
                                      <m:ctrlP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𝑏</m:t>
                                      </m:r>
                                      <m: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</m:t>
                                      </m:r>
                                      <m: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ctrlP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𝑏</m:t>
                                      </m:r>
                                      <m: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</m:t>
                                      </m:r>
                                      <m: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𝑎</m:t>
                                      </m:r>
                                    </m:e>
                                  </m:d>
                                  <m:d>
                                    <m:dPr>
                                      <m:ctrlP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𝑏</m:t>
                                      </m:r>
                                      <m: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</m:t>
                                      </m:r>
                                      <m: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𝑝</m:t>
                                      </m:r>
                                    </m:e>
                                  </m:d>
                                </m:den>
                              </m:f>
                            </m:e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e>
                          </m:eqAr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    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IN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𝑎</m:t>
                                </m:r>
                                <m:r>
                                  <a:rPr kumimoji="0" lang="en-IN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≤</m:t>
                                </m:r>
                                <m:r>
                                  <a:rPr kumimoji="0" lang="en-IN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kumimoji="0" lang="en-IN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≤</m:t>
                                </m:r>
                                <m:r>
                                  <a:rPr kumimoji="0" lang="en-IN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0" lang="en-IN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eqArrPr>
                                  <m:e/>
                                  <m:e>
                                    <m:r>
                                      <a:rPr kumimoji="0" lang="en-IN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  <m:r>
                                      <a:rPr kumimoji="0" lang="en-IN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&lt;</m:t>
                                    </m:r>
                                    <m:r>
                                      <a:rPr kumimoji="0" lang="en-IN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  <m:r>
                                      <a:rPr kumimoji="0" lang="en-IN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≤</m:t>
                                    </m:r>
                                    <m:r>
                                      <a:rPr kumimoji="0" lang="en-IN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𝑏</m:t>
                                    </m:r>
                                  </m:e>
                                  <m:e/>
                                </m:eqArr>
                              </m:e>
                            </m:mr>
                            <m:mr>
                              <m:e>
                                <m:r>
                                  <a:rPr kumimoji="0" lang="en-IN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𝑜𝑡h𝑒𝑟𝑤𝑖𝑠𝑒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1E71079-EF95-2400-E256-6B3D651EA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62" y="3971344"/>
                <a:ext cx="3870931" cy="14966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BB19A0-5021-AA73-F1C7-9270A9EA4AF8}"/>
                  </a:ext>
                </a:extLst>
              </p:cNvPr>
              <p:cNvSpPr txBox="1"/>
              <p:nvPr/>
            </p:nvSpPr>
            <p:spPr>
              <a:xfrm>
                <a:off x="4854526" y="3921051"/>
                <a:ext cx="6772623" cy="180709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eqArrPr>
                            <m:e>
                              <m:eqArr>
                                <m:eqArrPr>
                                  <m:ctrlP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eqArrPr>
                                <m:e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kumimoji="0" lang="en-IN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kumimoji="0" lang="en-IN" sz="18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kumimoji="0" lang="en-IN" sz="18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𝑥</m:t>
                                              </m:r>
                                              <m:r>
                                                <a:rPr kumimoji="0" lang="en-IN" sz="18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kumimoji="0" lang="en-IN" sz="18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𝑎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kumimoji="0" lang="en-IN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d>
                                        <m:dPr>
                                          <m:ctrlPr>
                                            <a:rPr kumimoji="0" lang="en-IN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0" lang="en-IN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𝑏</m:t>
                                          </m:r>
                                          <m:r>
                                            <a:rPr kumimoji="0" lang="en-IN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−</m:t>
                                          </m:r>
                                          <m:r>
                                            <a:rPr kumimoji="0" lang="en-IN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𝑎</m:t>
                                          </m:r>
                                        </m:e>
                                      </m:d>
                                      <m:d>
                                        <m:dPr>
                                          <m:ctrlPr>
                                            <a:rPr kumimoji="0" lang="en-IN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0" lang="en-IN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𝑝</m:t>
                                          </m:r>
                                          <m:r>
                                            <a:rPr kumimoji="0" lang="en-IN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−</m:t>
                                          </m:r>
                                          <m:r>
                                            <a:rPr kumimoji="0" lang="en-IN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𝑎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eqArr>
                            </m:e>
                            <m:e>
                              <m:f>
                                <m:fPr>
                                  <m:ctrlP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</m:t>
                                  </m:r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num>
                                <m:den>
                                  <m:d>
                                    <m:dPr>
                                      <m:ctrlP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𝑏</m:t>
                                      </m:r>
                                      <m: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</m:t>
                                      </m:r>
                                      <m: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𝑎</m:t>
                                      </m:r>
                                    </m:e>
                                  </m:d>
                                  <m:d>
                                    <m:dPr>
                                      <m:ctrlP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𝑏</m:t>
                                      </m:r>
                                      <m: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</m:t>
                                      </m:r>
                                      <m: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𝑝</m:t>
                                      </m:r>
                                    </m:e>
                                  </m:d>
                                </m:den>
                              </m:f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d>
                                    <m:dPr>
                                      <m:ctrlP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  <m: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</m:t>
                                      </m:r>
                                      <m: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𝑝</m:t>
                                      </m:r>
                                    </m:e>
                                  </m:d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kumimoji="0" lang="en-IN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0" lang="en-IN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kumimoji="0" lang="en-IN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kumimoji="0" lang="en-IN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0" lang="en-IN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𝑝</m:t>
                                          </m:r>
                                        </m:e>
                                        <m:sup>
                                          <m:r>
                                            <a:rPr kumimoji="0" lang="en-IN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kumimoji="0" lang="en-I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e>
                          </m:eqAr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       </m:t>
                          </m:r>
                          <m:eqArr>
                            <m:eqArrPr>
                              <m:ctrl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7"/>
                                </m:rP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&lt;</m:t>
                              </m:r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e/>
                            <m:e>
                              <m:eqArr>
                                <m:eqArrPr>
                                  <m:ctrlP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eqArrPr>
                                <m:e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𝑎</m:t>
                                  </m:r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≤</m:t>
                                  </m:r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≤</m:t>
                                  </m:r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</m:t>
                                  </m:r>
                                </m:e>
                                <m:e/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eqArrPr>
                                <m:e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</m:t>
                                  </m:r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&lt;</m:t>
                                  </m:r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≤</m:t>
                                  </m:r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</m:e>
                                <m:e/>
                              </m:eqArr>
                            </m:e>
                            <m:e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&gt;</m:t>
                              </m:r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BB19A0-5021-AA73-F1C7-9270A9EA4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4526" y="3921051"/>
                <a:ext cx="6772623" cy="18070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C77783B-9622-1E12-1D76-452840372283}"/>
              </a:ext>
            </a:extLst>
          </p:cNvPr>
          <p:cNvSpPr txBox="1"/>
          <p:nvPr/>
        </p:nvSpPr>
        <p:spPr>
          <a:xfrm>
            <a:off x="539699" y="3313188"/>
            <a:ext cx="3177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Probability Density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CC23F8-833B-9CC8-8259-42C41E519C90}"/>
              </a:ext>
            </a:extLst>
          </p:cNvPr>
          <p:cNvSpPr txBox="1"/>
          <p:nvPr/>
        </p:nvSpPr>
        <p:spPr>
          <a:xfrm>
            <a:off x="7363831" y="3317082"/>
            <a:ext cx="3775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Cumulative Distribution 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FA7F6C-0D2D-0DCD-20F2-1D7FB38449EF}"/>
              </a:ext>
            </a:extLst>
          </p:cNvPr>
          <p:cNvSpPr txBox="1"/>
          <p:nvPr/>
        </p:nvSpPr>
        <p:spPr>
          <a:xfrm>
            <a:off x="572493" y="1992099"/>
            <a:ext cx="1097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Assigns higher probability to values near a peak, tapering off to zero at the boundaries of a specified range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7E971A-B1BA-A08D-8B09-59A4973A4CDB}"/>
                  </a:ext>
                </a:extLst>
              </p:cNvPr>
              <p:cNvSpPr txBox="1"/>
              <p:nvPr/>
            </p:nvSpPr>
            <p:spPr>
              <a:xfrm>
                <a:off x="572493" y="2687466"/>
                <a:ext cx="10596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7E971A-B1BA-A08D-8B09-59A4973A4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93" y="2687466"/>
                <a:ext cx="1059649" cy="276999"/>
              </a:xfrm>
              <a:prstGeom prst="rect">
                <a:avLst/>
              </a:prstGeom>
              <a:blipFill>
                <a:blip r:embed="rId5"/>
                <a:stretch>
                  <a:fillRect l="-2874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B663C2-6492-E4A2-0F8C-BB057AF77FEF}"/>
                  </a:ext>
                </a:extLst>
              </p:cNvPr>
              <p:cNvSpPr txBox="1"/>
              <p:nvPr/>
            </p:nvSpPr>
            <p:spPr>
              <a:xfrm>
                <a:off x="2011827" y="2621783"/>
                <a:ext cx="47022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…triangular distribution with a peak at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B663C2-6492-E4A2-0F8C-BB057AF77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827" y="2621783"/>
                <a:ext cx="4702240" cy="369332"/>
              </a:xfrm>
              <a:prstGeom prst="rect">
                <a:avLst/>
              </a:prstGeom>
              <a:blipFill>
                <a:blip r:embed="rId6"/>
                <a:stretch>
                  <a:fillRect l="-1038" t="-6557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67184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B34BE-5722-1191-586A-2C5B59EB2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7EF3E4AB-C7CE-263C-203B-56D77595832F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60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E42A9235-7EFE-0193-C566-8B34F0F78C6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3E329AC-BAD7-0DD2-8D73-F52C932BEBE8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MATH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931676B-05AF-656D-FBB0-A1D4221F6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Random Variables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88772B-DC8A-AE54-D636-A038CAEEA13E}"/>
              </a:ext>
            </a:extLst>
          </p:cNvPr>
          <p:cNvSpPr txBox="1"/>
          <p:nvPr/>
        </p:nvSpPr>
        <p:spPr>
          <a:xfrm>
            <a:off x="667512" y="1950265"/>
            <a:ext cx="10853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random variable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describes a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chance-determined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variable that can equal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one of many different values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each with an associated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probability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D2B5A0-FC06-B903-D057-84CEA69EB1B6}"/>
              </a:ext>
            </a:extLst>
          </p:cNvPr>
          <p:cNvSpPr txBox="1"/>
          <p:nvPr/>
        </p:nvSpPr>
        <p:spPr>
          <a:xfrm>
            <a:off x="667512" y="3303894"/>
            <a:ext cx="10853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function that describes the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relative frequency of the possible values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that can be realized by a random variable is called 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probability distribution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A0AD9A-5608-60E6-12B9-CB4B0E1D4E03}"/>
              </a:ext>
            </a:extLst>
          </p:cNvPr>
          <p:cNvSpPr txBox="1"/>
          <p:nvPr/>
        </p:nvSpPr>
        <p:spPr>
          <a:xfrm>
            <a:off x="667512" y="2765579"/>
            <a:ext cx="735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set of possible values is called the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sample space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 the distribution.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6B22927-ABF2-9E5D-549C-9C8CEDB5E88C}"/>
              </a:ext>
            </a:extLst>
          </p:cNvPr>
          <p:cNvSpPr/>
          <p:nvPr/>
        </p:nvSpPr>
        <p:spPr>
          <a:xfrm>
            <a:off x="133385" y="181800"/>
            <a:ext cx="1453367" cy="32004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adley Hand ITC" panose="03070402050302030203" pitchFamily="66" charset="0"/>
                <a:ea typeface="+mn-ea"/>
                <a:cs typeface="+mn-cs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831997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E7B48-E379-993A-3663-0ADA9D65B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D0C4D8B0-201A-37CE-8DB1-DF7E310B6FDC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60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535B8288-4D00-6457-5AB5-9C580CCF2AE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D2B1770-7DE3-3F25-E358-90C8CDE8E595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MATH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DE534A9-DD7F-A3C6-EF88-32C98437C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0070C0"/>
                </a:solidFill>
                <a:latin typeface="Segoe Script" panose="030B0504020000000003" pitchFamily="66" charset="0"/>
              </a:rPr>
              <a:t>Discrete</a:t>
            </a:r>
            <a:r>
              <a:rPr lang="en-US" sz="5400" dirty="0"/>
              <a:t> Random Variables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85F80D-F450-0B15-2D6D-6E1DDE52BD2B}"/>
              </a:ext>
            </a:extLst>
          </p:cNvPr>
          <p:cNvSpPr txBox="1"/>
          <p:nvPr/>
        </p:nvSpPr>
        <p:spPr>
          <a:xfrm>
            <a:off x="667512" y="2443398"/>
            <a:ext cx="10853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For discrete and finite random variables, the probability distribution associates each outcome in the sample space with a probability.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19FFAA-AC9F-F1EB-9E38-2422107619DC}"/>
              </a:ext>
            </a:extLst>
          </p:cNvPr>
          <p:cNvSpPr txBox="1"/>
          <p:nvPr/>
        </p:nvSpPr>
        <p:spPr>
          <a:xfrm>
            <a:off x="667512" y="1950265"/>
            <a:ext cx="10853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discrete random variable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can result in one of a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discrete set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 values.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0A3BC8-FD0E-2ED7-BC1C-A6C88176C7BC}"/>
              </a:ext>
            </a:extLst>
          </p:cNvPr>
          <p:cNvSpPr txBox="1"/>
          <p:nvPr/>
        </p:nvSpPr>
        <p:spPr>
          <a:xfrm>
            <a:off x="667512" y="3213530"/>
            <a:ext cx="10853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expected value of a discrete real-valued random variable is equal to the probability-weighted average of all the possible values that can be realized.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D3B87AA-C60C-5C5C-7DA5-041758995F8D}"/>
              </a:ext>
            </a:extLst>
          </p:cNvPr>
          <p:cNvSpPr/>
          <p:nvPr/>
        </p:nvSpPr>
        <p:spPr>
          <a:xfrm>
            <a:off x="133385" y="181800"/>
            <a:ext cx="1453367" cy="32004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adley Hand ITC" panose="03070402050302030203" pitchFamily="66" charset="0"/>
                <a:ea typeface="+mn-ea"/>
                <a:cs typeface="+mn-cs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406941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F45DE-B1EB-25B2-FF95-37E26E7FB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4F48C83B-7F5E-4A0D-C296-F82DFD619CD2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60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DCBA8F54-B4FE-2B71-6D37-03E47D71475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F538493-C013-351E-3582-1560CF70A310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MATH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B99D3F5-70C3-0F72-B6FA-02F068B4E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7030A0"/>
                </a:solidFill>
                <a:latin typeface="Segoe Script" panose="030B0504020000000003" pitchFamily="66" charset="0"/>
              </a:rPr>
              <a:t>Continuous</a:t>
            </a:r>
            <a:r>
              <a:rPr lang="en-US" sz="5400" dirty="0"/>
              <a:t> Random Variables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A95749-17CF-A336-DAE5-A7F2B87F0B22}"/>
              </a:ext>
            </a:extLst>
          </p:cNvPr>
          <p:cNvSpPr txBox="1"/>
          <p:nvPr/>
        </p:nvSpPr>
        <p:spPr>
          <a:xfrm>
            <a:off x="667511" y="2416661"/>
            <a:ext cx="10853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 continuous random variable cannot be represented by a probability distribution and instead is defined by its cumulative distribution function.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C4068B2-1D3E-CE2D-3924-DAA88438D034}"/>
                  </a:ext>
                </a:extLst>
              </p:cNvPr>
              <p:cNvSpPr txBox="1"/>
              <p:nvPr/>
            </p:nvSpPr>
            <p:spPr>
              <a:xfrm>
                <a:off x="667511" y="3123909"/>
                <a:ext cx="1085392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If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th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e CDF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𝐹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of a continuous distribution is differentiable then it has a derivative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= </m:t>
                    </m:r>
                    <m:sSup>
                      <m:sSupPr>
                        <m:ctrlPr>
                          <a:rPr kumimoji="0" lang="en-I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𝐹</m:t>
                        </m:r>
                      </m:e>
                      <m:sup>
                        <m:r>
                          <a:rPr kumimoji="0" lang="en-I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′</m:t>
                        </m:r>
                      </m:sup>
                    </m:sSup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, which is called the probability density function,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d>
                      <m:dPr>
                        <m:ctrlP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C4068B2-1D3E-CE2D-3924-DAA88438D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511" y="3123909"/>
                <a:ext cx="10853927" cy="646331"/>
              </a:xfrm>
              <a:prstGeom prst="rect">
                <a:avLst/>
              </a:prstGeom>
              <a:blipFill>
                <a:blip r:embed="rId3"/>
                <a:stretch>
                  <a:fillRect l="-449" t="-3774" b="-150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B458BD0-90B3-2D81-C6CF-ABBB5DCD53CB}"/>
              </a:ext>
            </a:extLst>
          </p:cNvPr>
          <p:cNvSpPr txBox="1"/>
          <p:nvPr/>
        </p:nvSpPr>
        <p:spPr>
          <a:xfrm>
            <a:off x="667512" y="1950265"/>
            <a:ext cx="10853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continuous random variable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can result in a value drawn from an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interval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or continuum of values.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168FEE2-03A9-B26D-C402-808A17868B26}"/>
              </a:ext>
            </a:extLst>
          </p:cNvPr>
          <p:cNvSpPr/>
          <p:nvPr/>
        </p:nvSpPr>
        <p:spPr>
          <a:xfrm>
            <a:off x="133385" y="181800"/>
            <a:ext cx="1453367" cy="32004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adley Hand ITC" panose="03070402050302030203" pitchFamily="66" charset="0"/>
                <a:ea typeface="+mn-ea"/>
                <a:cs typeface="+mn-cs"/>
              </a:rPr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1FF64B9-4D9B-F1E7-7F78-63E65AF69457}"/>
                  </a:ext>
                </a:extLst>
              </p:cNvPr>
              <p:cNvSpPr txBox="1"/>
              <p:nvPr/>
            </p:nvSpPr>
            <p:spPr>
              <a:xfrm>
                <a:off x="667511" y="3831157"/>
                <a:ext cx="10853926" cy="18625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For a continuous real-valued random variable we cannot compute a weighted average as for a discrete random variable.  The expected value is the continuous version of the weighted average of a discrete random variable.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−∞</m:t>
                          </m:r>
                        </m:sub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∞</m:t>
                          </m:r>
                        </m:sup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𝑥𝑓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1FF64B9-4D9B-F1E7-7F78-63E65AF69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511" y="3831157"/>
                <a:ext cx="10853926" cy="1862561"/>
              </a:xfrm>
              <a:prstGeom prst="rect">
                <a:avLst/>
              </a:prstGeom>
              <a:blipFill>
                <a:blip r:embed="rId4"/>
                <a:stretch>
                  <a:fillRect l="-449" t="-13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984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RetrospectVTI">
  <a:themeElements>
    <a:clrScheme name="AnalogousFromDarkSeedLeftStep">
      <a:dk1>
        <a:srgbClr val="000000"/>
      </a:dk1>
      <a:lt1>
        <a:srgbClr val="FFFFFF"/>
      </a:lt1>
      <a:dk2>
        <a:srgbClr val="31241B"/>
      </a:dk2>
      <a:lt2>
        <a:srgbClr val="F0F3F2"/>
      </a:lt2>
      <a:accent1>
        <a:srgbClr val="C34D6A"/>
      </a:accent1>
      <a:accent2>
        <a:srgbClr val="B13B8A"/>
      </a:accent2>
      <a:accent3>
        <a:srgbClr val="B94DC3"/>
      </a:accent3>
      <a:accent4>
        <a:srgbClr val="763BB1"/>
      </a:accent4>
      <a:accent5>
        <a:srgbClr val="564DC3"/>
      </a:accent5>
      <a:accent6>
        <a:srgbClr val="3B62B1"/>
      </a:accent6>
      <a:hlink>
        <a:srgbClr val="785DC9"/>
      </a:hlink>
      <a:folHlink>
        <a:srgbClr val="7F7F7F"/>
      </a:folHlink>
    </a:clrScheme>
    <a:fontScheme name="Retrospect">
      <a:majorFont>
        <a:latin typeface="Univers Condensed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nivers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15406</TotalTime>
  <Words>2612</Words>
  <Application>Microsoft Office PowerPoint</Application>
  <PresentationFormat>Widescreen</PresentationFormat>
  <Paragraphs>557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9" baseType="lpstr">
      <vt:lpstr>Aptos</vt:lpstr>
      <vt:lpstr>Aptos Display</vt:lpstr>
      <vt:lpstr>Arial</vt:lpstr>
      <vt:lpstr>Bahnschrift</vt:lpstr>
      <vt:lpstr>Bradley Hand ITC</vt:lpstr>
      <vt:lpstr>Calibri</vt:lpstr>
      <vt:lpstr>Cambria Math</vt:lpstr>
      <vt:lpstr>Segoe Script</vt:lpstr>
      <vt:lpstr>Univers</vt:lpstr>
      <vt:lpstr>Univers Condensed</vt:lpstr>
      <vt:lpstr>Wingdings</vt:lpstr>
      <vt:lpstr>Office Theme</vt:lpstr>
      <vt:lpstr>RetrospectVTI</vt:lpstr>
      <vt:lpstr>TOPIC 2  The Expected Utility Theory</vt:lpstr>
      <vt:lpstr>Expected Payoff</vt:lpstr>
      <vt:lpstr>MODULE 3 Continuous Outcome Spaces</vt:lpstr>
      <vt:lpstr>DECISION PROBLEM Exam Prep &amp; Grades</vt:lpstr>
      <vt:lpstr>DECISION PROBLEM Exam Prep &amp; Grades</vt:lpstr>
      <vt:lpstr>DECISION PROBLEM Exam Prep &amp; Grades</vt:lpstr>
      <vt:lpstr>DECISION PROBLEM Exam Prep &amp; Grades</vt:lpstr>
      <vt:lpstr>DECISION PROBLEM Exam Prep &amp; Grades</vt:lpstr>
      <vt:lpstr>Cumulative Distribution Function (CDF)</vt:lpstr>
      <vt:lpstr>Cumulative Distribution Function (CDF)</vt:lpstr>
      <vt:lpstr>Probability Density Function (PDF)</vt:lpstr>
      <vt:lpstr>A Simple Lottery Over Continuous Outcomes</vt:lpstr>
      <vt:lpstr>Expected Payoff for Continuous Outcomes</vt:lpstr>
      <vt:lpstr>Expected Payoff for Continuous Outcomes</vt:lpstr>
      <vt:lpstr>Expected Payoff for Continuous Outcomes</vt:lpstr>
      <vt:lpstr>Expected Payoff for Continuous Outcomes</vt:lpstr>
      <vt:lpstr>Continuous Probability Distributions</vt:lpstr>
      <vt:lpstr>Continuous Uniform Distribution</vt:lpstr>
      <vt:lpstr>Continuous Uniform Distribution</vt:lpstr>
      <vt:lpstr>Continuous Uniform Distribution</vt:lpstr>
      <vt:lpstr>Triangular Distribution</vt:lpstr>
      <vt:lpstr>Triangular Distribution</vt:lpstr>
      <vt:lpstr>Triangular Distribution</vt:lpstr>
      <vt:lpstr>Random Variables</vt:lpstr>
      <vt:lpstr>Discrete Random Variables</vt:lpstr>
      <vt:lpstr>Continuous Random Variables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Parag D. Pawar</dc:creator>
  <cp:lastModifiedBy>Dr Parag D. Pawar</cp:lastModifiedBy>
  <cp:revision>8</cp:revision>
  <dcterms:created xsi:type="dcterms:W3CDTF">2024-10-23T01:19:00Z</dcterms:created>
  <dcterms:modified xsi:type="dcterms:W3CDTF">2026-02-06T08:41:13Z</dcterms:modified>
</cp:coreProperties>
</file>